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11fb96f5-38c2-33b7-d6cb-ca3f559d3632}">
          <p14:sldIdLst>
            <p14:sldId id="256"/>
          </p14:sldIdLst>
        </p14:section>
        <p14:section name="Aufgabe 1 und 2" id="{e428a8e0-38ef-ccad-4a4e-d23cc326dc43}">
          <p14:sldIdLst>
            <p14:sldId id="257"/>
            <p14:sldId id="258"/>
          </p14:sldIdLst>
        </p14:section>
        <p14:section name="Aufgabe 3" id="{856bf8c6-b528-d19e-132b-ab9f5eef7edd}">
          <p14:sldIdLst>
            <p14:sldId id="259"/>
            <p14:sldId id="260"/>
          </p14:sldIdLst>
        </p14:section>
        <p14:section name="Fazit" id="{b8d67d33-41ed-a90e-56ef-3937a5726488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dieser KN geht es um die Grundlagen: welche Testformen es gibt, den Unterschied zwischen Fehler und Mangel und einen eigenen Testtreiber für eine Preisberechnung.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Aufgabe 1: Vier Testformen, die man in der Praxis antrifft. Unit-Tests schreibt der Entwickler, Integrationstests prüfen das Zusammenspiel mit der Datenbank, End-to-End-Tests klicken durch den Browser und der Abnahmetest wird vom Kunden gemacht.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Aufgabe 2: Ein Fehler ist eine Abweichung zwischen IST und SOLL. Ein Mangel heisst, die Funktion stimmt, aber die Erwartung wird nicht angemessen erfüllt. Als Beispiel für hohen Schaden die Ariane 5: ein Zahlenüberlauf hat die Rakete zerstört.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Aufgabe 3: Der Testtreiber ruft calculatePrice mit festen Werten auf und vergleicht mit dem erwarteten Preis. Beim Originalcode schlagen Test 2, 4 und 5 fehl. Mit dem korrigierten Code sind alle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Bonus: Erstens wird extras &gt;= 3 vor extras &gt;= 5 geprüft, deshalb gibt es nie 15 Prozent. Zweitens wird der Händlerrabatt auf das Zubehör angewendet, obwohl er nur für den Grundpreis gilt.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Fazit: Testen kann nie beweisen, dass Software fehlerfrei ist. Aber gut gewählte Testfälle, vor allem an den Grenzen, finden die Fehler schnell.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6858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Denis · M450 Applikationen testen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M450 · KN01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KN01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Grundlagen Testing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Testformen, Fehler vs. Mangel und ein eigener Testtreiber</a:t>
            </a:r>
            <a:endParaRPr lang="en-US" sz="1800" dirty="0"/>
          </a:p>
        </p:txBody>
      </p:sp>
      <p:sp>
        <p:nvSpPr>
          <p:cNvPr id="5" name="Status Kreis"/>
          <p:cNvSpPr/>
          <p:nvPr/>
        </p:nvSpPr>
        <p:spPr>
          <a:xfrm>
            <a:off x="7452360" y="141732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aken"/>
          <p:cNvSpPr txBox="1"/>
          <p:nvPr/>
        </p:nvSpPr>
        <p:spPr>
          <a:xfrm>
            <a:off x="745236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✓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Testformen aus der Praxis</a:t>
            </a:r>
            <a:endParaRPr lang="en-US" sz="2800" dirty="0"/>
          </a:p>
        </p:txBody>
      </p:sp>
      <p:sp>
        <p:nvSpPr>
          <p:cNvPr id="4" name="Karte Unit-Test"/>
          <p:cNvSpPr/>
          <p:nvPr/>
        </p:nvSpPr>
        <p:spPr>
          <a:xfrm>
            <a:off x="457200" y="109728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2527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Unit-Test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3611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Eine Methode mit festen Werten aufrufen und das Resultat prüfen, z.B. mit JUnit.</a:t>
            </a:r>
            <a:endParaRPr lang="en-US" sz="1400" dirty="0"/>
          </a:p>
        </p:txBody>
      </p:sp>
      <p:sp>
        <p:nvSpPr>
          <p:cNvPr id="9" name="Karte Integrationstest"/>
          <p:cNvSpPr/>
          <p:nvPr/>
        </p:nvSpPr>
        <p:spPr>
          <a:xfrm>
            <a:off x="4709160" y="109728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4892040" y="12801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12527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Integrationstest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828800"/>
            <a:ext cx="3611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API aufrufen und prüfen, ob die Daten wirklich in der Datenbank stehen.</a:t>
            </a:r>
            <a:endParaRPr lang="en-US" sz="1400" dirty="0"/>
          </a:p>
        </p:txBody>
      </p:sp>
      <p:sp>
        <p:nvSpPr>
          <p:cNvPr id="14" name="Karte End-to-End"/>
          <p:cNvSpPr/>
          <p:nvPr/>
        </p:nvSpPr>
        <p:spPr>
          <a:xfrm>
            <a:off x="457200" y="297180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12724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End-to-End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703320"/>
            <a:ext cx="3611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Tool wie Playwright klickt automatisch durch den Webshop.</a:t>
            </a:r>
            <a:endParaRPr lang="en-US" sz="1400" dirty="0"/>
          </a:p>
        </p:txBody>
      </p:sp>
      <p:sp>
        <p:nvSpPr>
          <p:cNvPr id="19" name="Karte Abnahmetest"/>
          <p:cNvSpPr/>
          <p:nvPr/>
        </p:nvSpPr>
        <p:spPr>
          <a:xfrm>
            <a:off x="4709160" y="297180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4892040" y="315468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920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312724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Abnahmetest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3703320"/>
            <a:ext cx="3611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Kunde arbeitet eine Checkliste ab und gibt die Software frei.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Fehler, Mangel und hoher Schaden</a:t>
            </a:r>
            <a:endParaRPr lang="en-US" sz="2800" dirty="0"/>
          </a:p>
        </p:txBody>
      </p:sp>
      <p:sp>
        <p:nvSpPr>
          <p:cNvPr id="4" name="Karte Fehler"/>
          <p:cNvSpPr/>
          <p:nvPr/>
        </p:nvSpPr>
        <p:spPr>
          <a:xfrm>
            <a:off x="457200" y="1097280"/>
            <a:ext cx="5120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 ✗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✗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25272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Fehler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4754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 Artikel à 10 CHF ergeben im Warenkorb 20 CHF statt 30 CHF.</a:t>
            </a:r>
            <a:endParaRPr lang="en-US" sz="1400" dirty="0"/>
          </a:p>
        </p:txBody>
      </p:sp>
      <p:sp>
        <p:nvSpPr>
          <p:cNvPr id="9" name="Karte Mangel"/>
          <p:cNvSpPr/>
          <p:nvPr/>
        </p:nvSpPr>
        <p:spPr>
          <a:xfrm>
            <a:off x="457200" y="2971800"/>
            <a:ext cx="5120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!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1272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Mangel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703320"/>
            <a:ext cx="4754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Preis ist richtig, wird aber als 30.000000001 angezeigt.</a:t>
            </a:r>
            <a:endParaRPr lang="en-US" sz="1400" dirty="0"/>
          </a:p>
        </p:txBody>
      </p:sp>
      <p:sp>
        <p:nvSpPr>
          <p:cNvPr id="14" name="Kennzahl Ariane 5 (1996): Überlauf 64-Bit → 16-Bit, Rakete explodiert"/>
          <p:cNvSpPr/>
          <p:nvPr/>
        </p:nvSpPr>
        <p:spPr>
          <a:xfrm>
            <a:off x="5852160" y="1097280"/>
            <a:ext cx="2834640" cy="347472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2240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370 Mio. $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Ariane 5 (1996): Überlauf 64-Bit → 16-Bit, Rakete explodiert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Testtreiber für die Preisberechnung</a:t>
            </a:r>
            <a:endParaRPr lang="en-US" sz="2800" dirty="0"/>
          </a:p>
        </p:txBody>
      </p:sp>
      <p:sp>
        <p:nvSpPr>
          <p:cNvPr id="4" name="Code Box"/>
          <p:cNvSpPr/>
          <p:nvPr/>
        </p:nvSpPr>
        <p:spPr>
          <a:xfrm>
            <a:off x="457200" y="1097280"/>
            <a:ext cx="384048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PriceCalculatorTest.java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640080" y="15087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calculator.calculatePrice(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10000, 0, 1000, 5, 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testOk &amp;= check("4: 5 Extras = 15%",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price, 10850);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javac *.java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java PriceCalculatorTest</a:t>
            </a:r>
            <a:endParaRPr lang="en-US" sz="1400" dirty="0"/>
          </a:p>
        </p:txBody>
      </p:sp>
      <p:graphicFrame>
        <p:nvGraphicFramePr>
          <p:cNvPr id="5" name="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Erwartet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Korrigiert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Grundpreis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Händlerrabatt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Extras 10 %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Extras 15 %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Rabatt 20 %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Die zwei Fehler im Code</a:t>
            </a:r>
            <a:endParaRPr lang="en-US" sz="2800" dirty="0"/>
          </a:p>
        </p:txBody>
      </p:sp>
      <p:sp>
        <p:nvSpPr>
          <p:cNvPr id="4" name="Code Box"/>
          <p:cNvSpPr/>
          <p:nvPr/>
        </p:nvSpPr>
        <p:spPr>
          <a:xfrm>
            <a:off x="457200" y="1097280"/>
            <a:ext cx="397764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07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Vorher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640080" y="150876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(extras &gt;= 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addon_discount = 10;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(extras &gt;= 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addon_discount = 15;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(discount &gt; addon_discount)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addon_discount = discount;</a:t>
            </a:r>
            <a:endParaRPr lang="en-US" sz="1300" dirty="0"/>
          </a:p>
        </p:txBody>
      </p:sp>
      <p:sp>
        <p:nvSpPr>
          <p:cNvPr id="7" name="Code Box"/>
          <p:cNvSpPr/>
          <p:nvPr/>
        </p:nvSpPr>
        <p:spPr>
          <a:xfrm>
            <a:off x="4709160" y="1097280"/>
            <a:ext cx="397764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207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Nachher</a:t>
            </a:r>
            <a:endParaRPr lang="en-US" sz="1100" dirty="0"/>
          </a:p>
        </p:txBody>
      </p:sp>
      <p:sp>
        <p:nvSpPr>
          <p:cNvPr id="9" name="Code"/>
          <p:cNvSpPr txBox="1"/>
          <p:nvPr/>
        </p:nvSpPr>
        <p:spPr>
          <a:xfrm>
            <a:off x="4892040" y="150876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(extras &gt;= 5)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addonDiscount = 15;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(extras &gt;= 3)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addonDiscount = 10;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addonDiscount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Badge 1"/>
          <p:cNvSpPr/>
          <p:nvPr/>
        </p:nvSpPr>
        <p:spPr>
          <a:xfrm>
            <a:off x="457200" y="4069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069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Reihenfolge falsch: 15 % wird nie erreicht</a:t>
            </a:r>
            <a:endParaRPr lang="en-US" sz="1400" dirty="0"/>
          </a:p>
        </p:txBody>
      </p:sp>
      <p:sp>
        <p:nvSpPr>
          <p:cNvPr id="13" name="Badge 2"/>
          <p:cNvSpPr/>
          <p:nvPr/>
        </p:nvSpPr>
        <p:spPr>
          <a:xfrm>
            <a:off x="4709160" y="4069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212080" y="4069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Händlerrabatt gehört nur zum Grundpreis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Fazit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Testen zeigt Fehler, nicht Fehlerfreiheit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Schon fünf gezielte Testfälle haben zwei Fehler im Code gefunden.</a:t>
            </a:r>
            <a:endParaRPr lang="en-US" sz="1800" dirty="0"/>
          </a:p>
        </p:txBody>
      </p:sp>
      <p:sp>
        <p:nvSpPr>
          <p:cNvPr id="5" name="Status Kreis"/>
          <p:cNvSpPr/>
          <p:nvPr/>
        </p:nvSpPr>
        <p:spPr>
          <a:xfrm>
            <a:off x="7452360" y="141732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aken"/>
          <p:cNvSpPr txBox="1"/>
          <p:nvPr/>
        </p:nvSpPr>
        <p:spPr>
          <a:xfrm>
            <a:off x="745236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✓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450 Testing">
  <a:themeElements>
    <a:clrScheme name="M450 Testing">
      <a:dk1>
        <a:srgbClr val="1B2A2F"/>
      </a:dk1>
      <a:lt1>
        <a:srgbClr val="FFFFFF"/>
      </a:lt1>
      <a:dk2>
        <a:srgbClr val="1F4A40"/>
      </a:dk2>
      <a:lt2>
        <a:srgbClr val="EDF4F1"/>
      </a:lt2>
      <a:accent1>
        <a:srgbClr val="2EA043"/>
      </a:accent1>
      <a:accent2>
        <a:srgbClr val="D73A49"/>
      </a:accent2>
      <a:accent3>
        <a:srgbClr val="0E7C66"/>
      </a:accent3>
      <a:accent4>
        <a:srgbClr val="E3A008"/>
      </a:accent4>
      <a:accent5>
        <a:srgbClr val="5B7B75"/>
      </a:accent5>
      <a:accent6>
        <a:srgbClr val="A8E0CC"/>
      </a:accent6>
      <a:hlink>
        <a:srgbClr val="0E7C66"/>
      </a:hlink>
      <a:folHlink>
        <a:srgbClr val="5B7B75"/>
      </a:folHlink>
    </a:clrScheme>
    <a:fontScheme name="M450 Test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KN01 – Grundlagen Testing</dc:title>
  <dc:subject>PptxGenJS Presentation</dc:subject>
  <dc:creator>Denis</dc:creator>
  <cp:lastModifiedBy>Denis</cp:lastModifiedBy>
  <cp:revision>1</cp:revision>
  <dcterms:created xsi:type="dcterms:W3CDTF">2026-10-16T09:32:11Z</dcterms:created>
  <dcterms:modified xsi:type="dcterms:W3CDTF">2026-10-16T09:32:11Z</dcterms:modified>
</cp:coreProperties>
</file>