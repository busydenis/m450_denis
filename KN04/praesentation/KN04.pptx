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9ed383bc-a23a-9d7d-d288-93a224494e77}">
          <p14:sldIdLst>
            <p14:sldId id="256"/>
          </p14:sldIdLst>
        </p14:section>
        <p14:section name="Theorie" id="{d8adc788-085d-61b4-a981-e1dbe4ff3e54}">
          <p14:sldIdLst>
            <p14:sldId id="257"/>
          </p14:sldIdLst>
        </p14:section>
        <p14:section name="Aufgabe 1" id="{8d3cb34a-30e3-40b4-264c-2f317ede673b}">
          <p14:sldIdLst>
            <p14:sldId id="258"/>
            <p14:sldId id="259"/>
            <p14:sldId id="260"/>
          </p14:sldIdLst>
        </p14:section>
        <p14:section name="Aufgabe 2" id="{8156a65e-2dcd-1912-3ff8-43969585c13e}">
          <p14:sldIdLst>
            <p14:sldId id="261"/>
          </p14:sldIdLst>
        </p14:section>
        <p14:section name="Fazit" id="{f3d852a6-1324-228d-fa4c-66894f047cc2}">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KN04 teste ich das Addressbook-Backend. Die Datenbank wird mit Mockito weggemockt, damit ich den Service isoliert testen kann. Ausserdem habe ich den Comparator korrigiert und erweitert.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Stub liefert feste Daten, damit prüfe ich den Zustand. Ein Mock prüft das Verhalten, also ob eine Methode wirklich aufgerufen wurde. In Mockito geht beides mit dem gleichen Objekt.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Für jede Klasse gibt es eine Testklasse. Ich habe mit den Adressen angefangen, dann der Comparator, der Service mit gemockter Datenbank, der Controller mit MockMvc und am Schluss ein Integrationstest mit der echten H2-Datenbank.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sieht ein Service-Test aus. Das Repository ist ein Mock. Ich sage ihm, was es zurückgeben soll, und prüfe dann, ob der Service die Liste richtig sortiert.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Vorher hat compare immer minus eins zurückgegeben, die Sortierung war also zufällig. Jetzt wird zuerst nach Nachname, dann Vorname und dann Registrierungsdatum sortiert. Leere Werte kommen ans Ende.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Für Aufgabe 2 gibt es ein neues Enum SortField. Man kann jetzt dem Comparator sagen, nach welchen Feldern und in welcher Reihenfolge sortiert wird. Das ist mit fünf zusätzlichen Tests abgedeckt.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Fazit: Mit Mockito kann man Abhängigkeiten wie die Datenbank ersetzen. Die Tests werden schneller und testen genau eine Sache. Für das Zusammenspiel braucht es trotzdem einen Integrationstest.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65760"/>
          </a:xfrm>
          <a:prstGeom prst="rect">
            <a:avLst/>
          </a:prstGeom>
          <a:noFill/>
          <a:ln/>
        </p:spPr>
        <p:txBody>
          <a:bodyPr wrap="square" rtlCol="0"/>
          <a:lstStyle>
            <a:lvl1pPr indent="0" marL="0">
              <a:buNone/>
              <a:defRPr lang="en-US" sz="1400" b="1"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548640" y="1371600"/>
            <a:ext cx="6949440" cy="13716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548640" y="2880360"/>
            <a:ext cx="6949440"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448056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Denis · M450 Applikationen testen</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1000" dirty="0">
                <a:solidFill>
                  <a:schemeClr val="accent5"/>
                </a:solidFill>
              </a:rPr>
              <a:t>M450 · KN04</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65760"/>
          </a:xfrm>
          <a:prstGeom prst="rect">
            <a:avLst/>
          </a:prstGeom>
          <a:noFill/>
          <a:ln/>
        </p:spPr>
        <p:txBody>
          <a:bodyPr wrap="square" lIns="0" tIns="0" rIns="0" bIns="0" rtlCol="0"/>
          <a:lstStyle/>
          <a:p>
            <a:pPr indent="0" marL="0">
              <a:buNone/>
            </a:pPr>
            <a:r>
              <a:rPr lang="en-US" sz="1400" b="1" dirty="0">
                <a:solidFill>
                  <a:schemeClr val="accent6"/>
                </a:solidFill>
              </a:rPr>
              <a:t>KN04</a:t>
            </a:r>
            <a:endParaRPr lang="en-US" sz="1400" dirty="0"/>
          </a:p>
        </p:txBody>
      </p:sp>
      <p:sp>
        <p:nvSpPr>
          <p:cNvPr id="3" name="Text 0"/>
          <p:cNvSpPr/>
          <p:nvPr>
            <p:ph idx="101" type="title" hasCustomPrompt="1"/>
          </p:nvPr>
        </p:nvSpPr>
        <p:spPr>
          <a:xfrm>
            <a:off x="548640" y="1371600"/>
            <a:ext cx="6949440"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Schnittstellen und Mocking</a:t>
            </a:r>
            <a:endParaRPr lang="en-US" sz="4000" dirty="0"/>
          </a:p>
        </p:txBody>
      </p:sp>
      <p:sp>
        <p:nvSpPr>
          <p:cNvPr id="4" name="Text 0"/>
          <p:cNvSpPr/>
          <p:nvPr>
            <p:ph idx="102" type="body" hasCustomPrompt="1"/>
          </p:nvPr>
        </p:nvSpPr>
        <p:spPr>
          <a:xfrm>
            <a:off x="548640" y="2880360"/>
            <a:ext cx="6949440" cy="1097280"/>
          </a:xfrm>
          <a:prstGeom prst="rect">
            <a:avLst/>
          </a:prstGeom>
          <a:noFill/>
          <a:ln/>
        </p:spPr>
        <p:txBody>
          <a:bodyPr wrap="square" lIns="0" tIns="0" rIns="0" bIns="0" rtlCol="0" anchor="t"/>
          <a:lstStyle/>
          <a:p>
            <a:pPr indent="0" marL="0">
              <a:buNone/>
            </a:pPr>
            <a:r>
              <a:rPr lang="en-US" sz="1800" dirty="0">
                <a:solidFill>
                  <a:schemeClr val="bg1"/>
                </a:solidFill>
              </a:rPr>
              <a:t>Addressbook-Backend testen, ohne echte Datenbank</a:t>
            </a:r>
            <a:endParaRPr lang="en-US" sz="1800" dirty="0"/>
          </a:p>
        </p:txBody>
      </p:sp>
      <p:sp>
        <p:nvSpPr>
          <p:cNvPr id="5" name="Status Kreis"/>
          <p:cNvSpPr/>
          <p:nvPr/>
        </p:nvSpPr>
        <p:spPr>
          <a:xfrm>
            <a:off x="7452360" y="1417320"/>
            <a:ext cx="1188720" cy="1188720"/>
          </a:xfrm>
          <a:prstGeom prst="ellipse">
            <a:avLst/>
          </a:prstGeom>
          <a:solidFill>
            <a:schemeClr val="accent1"/>
          </a:solidFill>
          <a:ln w="12700">
            <a:solidFill>
              <a:schemeClr val="accent1"/>
            </a:solidFill>
            <a:prstDash val="solid"/>
          </a:ln>
        </p:spPr>
      </p:sp>
      <p:sp>
        <p:nvSpPr>
          <p:cNvPr id="6" name="Haken"/>
          <p:cNvSpPr txBox="1"/>
          <p:nvPr/>
        </p:nvSpPr>
        <p:spPr>
          <a:xfrm>
            <a:off x="7452360" y="1417320"/>
            <a:ext cx="1188720" cy="1188720"/>
          </a:xfrm>
          <a:prstGeom prst="rect">
            <a:avLst/>
          </a:prstGeom>
          <a:noFill/>
          <a:ln/>
        </p:spPr>
        <p:txBody>
          <a:bodyPr wrap="square" lIns="0" tIns="0" rIns="0" bIns="0" rtlCol="0" anchor="ctr"/>
          <a:lstStyle/>
          <a:p>
            <a:pPr algn="ctr" indent="0" marL="0">
              <a:buNone/>
            </a:pPr>
            <a:r>
              <a:rPr lang="en-US" sz="4800" b="1" dirty="0">
                <a:solidFill>
                  <a:schemeClr val="bg1"/>
                </a:solidFill>
              </a:rPr>
              <a:t>✓</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Stub vs. Mock</a:t>
            </a:r>
            <a:endParaRPr lang="en-US" sz="2800" dirty="0"/>
          </a:p>
        </p:txBody>
      </p:sp>
      <p:sp>
        <p:nvSpPr>
          <p:cNvPr id="4" name="Karte Stub: liefert Daten"/>
          <p:cNvSpPr/>
          <p:nvPr/>
        </p:nvSpPr>
        <p:spPr>
          <a:xfrm>
            <a:off x="457200" y="1097280"/>
            <a:ext cx="3977640" cy="2194560"/>
          </a:xfrm>
          <a:prstGeom prst="roundRect">
            <a:avLst>
              <a:gd name="adj" fmla="val 3333"/>
            </a:avLst>
          </a:prstGeom>
          <a:solidFill>
            <a:schemeClr val="bg2"/>
          </a:solidFill>
          <a:ln w="12700">
            <a:solidFill>
              <a:schemeClr val="bg2"/>
            </a:solidFill>
            <a:prstDash val="solid"/>
          </a:ln>
        </p:spPr>
      </p:sp>
      <p:sp>
        <p:nvSpPr>
          <p:cNvPr id="5" name="Badge S"/>
          <p:cNvSpPr/>
          <p:nvPr/>
        </p:nvSpPr>
        <p:spPr>
          <a:xfrm>
            <a:off x="640080" y="1280160"/>
            <a:ext cx="384048" cy="384048"/>
          </a:xfrm>
          <a:prstGeom prst="ellipse">
            <a:avLst/>
          </a:prstGeom>
          <a:solidFill>
            <a:schemeClr val="accent3"/>
          </a:solidFill>
          <a:ln w="12700">
            <a:solidFill>
              <a:schemeClr val="accent3"/>
            </a:solidFill>
            <a:prstDash val="solid"/>
          </a:ln>
        </p:spPr>
      </p:sp>
      <p:sp>
        <p:nvSpPr>
          <p:cNvPr id="6" name="Text 3"/>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S</a:t>
            </a:r>
            <a:endParaRPr lang="en-US" sz="1400" dirty="0"/>
          </a:p>
        </p:txBody>
      </p:sp>
      <p:sp>
        <p:nvSpPr>
          <p:cNvPr id="7" name="Text 4"/>
          <p:cNvSpPr txBox="1"/>
          <p:nvPr/>
        </p:nvSpPr>
        <p:spPr>
          <a:xfrm>
            <a:off x="1143000" y="1252728"/>
            <a:ext cx="315468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Stub: liefert Daten</a:t>
            </a:r>
            <a:endParaRPr lang="en-US" sz="1600" dirty="0"/>
          </a:p>
        </p:txBody>
      </p:sp>
      <p:sp>
        <p:nvSpPr>
          <p:cNvPr id="8" name="Text 5"/>
          <p:cNvSpPr txBox="1"/>
          <p:nvPr/>
        </p:nvSpPr>
        <p:spPr>
          <a:xfrm>
            <a:off x="640080" y="1828800"/>
            <a:ext cx="3611880" cy="135331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when(repository.findAll())</a:t>
            </a:r>
            <a:endParaRPr lang="en-US" sz="1400" dirty="0"/>
          </a:p>
          <a:p>
            <a:pPr indent="0" marL="0">
              <a:spcAft>
                <a:spcPts val="400"/>
              </a:spcAft>
              <a:buNone/>
            </a:pPr>
            <a:r>
              <a:rPr lang="en-US" sz="1400" dirty="0">
                <a:solidFill>
                  <a:schemeClr val="tx1"/>
                </a:solidFill>
              </a:rPr>
              <a:t>    .thenReturn(List.of(max));</a:t>
            </a:r>
            <a:endParaRPr lang="en-US" sz="1400" dirty="0"/>
          </a:p>
        </p:txBody>
      </p:sp>
      <p:sp>
        <p:nvSpPr>
          <p:cNvPr id="9" name="Karte Mock: prüft Aufrufe"/>
          <p:cNvSpPr/>
          <p:nvPr/>
        </p:nvSpPr>
        <p:spPr>
          <a:xfrm>
            <a:off x="4709160" y="1097280"/>
            <a:ext cx="3977640" cy="2194560"/>
          </a:xfrm>
          <a:prstGeom prst="roundRect">
            <a:avLst>
              <a:gd name="adj" fmla="val 3333"/>
            </a:avLst>
          </a:prstGeom>
          <a:solidFill>
            <a:schemeClr val="bg2"/>
          </a:solidFill>
          <a:ln w="12700">
            <a:solidFill>
              <a:schemeClr val="bg2"/>
            </a:solidFill>
            <a:prstDash val="solid"/>
          </a:ln>
        </p:spPr>
      </p:sp>
      <p:sp>
        <p:nvSpPr>
          <p:cNvPr id="10" name="Badge M"/>
          <p:cNvSpPr/>
          <p:nvPr/>
        </p:nvSpPr>
        <p:spPr>
          <a:xfrm>
            <a:off x="4892040" y="1280160"/>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489204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M</a:t>
            </a:r>
            <a:endParaRPr lang="en-US" sz="1400" dirty="0"/>
          </a:p>
        </p:txBody>
      </p:sp>
      <p:sp>
        <p:nvSpPr>
          <p:cNvPr id="12" name="Text 9"/>
          <p:cNvSpPr txBox="1"/>
          <p:nvPr/>
        </p:nvSpPr>
        <p:spPr>
          <a:xfrm>
            <a:off x="5394960" y="1252728"/>
            <a:ext cx="315468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Mock: prüft Aufrufe</a:t>
            </a:r>
            <a:endParaRPr lang="en-US" sz="1600" dirty="0"/>
          </a:p>
        </p:txBody>
      </p:sp>
      <p:sp>
        <p:nvSpPr>
          <p:cNvPr id="13" name="Text 10"/>
          <p:cNvSpPr txBox="1"/>
          <p:nvPr/>
        </p:nvSpPr>
        <p:spPr>
          <a:xfrm>
            <a:off x="4892040" y="1828800"/>
            <a:ext cx="3611880" cy="135331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verify(repository)</a:t>
            </a:r>
            <a:endParaRPr lang="en-US" sz="1400" dirty="0"/>
          </a:p>
          <a:p>
            <a:pPr indent="0" marL="0">
              <a:spcAft>
                <a:spcPts val="400"/>
              </a:spcAft>
              <a:buNone/>
            </a:pPr>
            <a:r>
              <a:rPr lang="en-US" sz="1400" dirty="0">
                <a:solidFill>
                  <a:schemeClr val="tx1"/>
                </a:solidFill>
              </a:rPr>
              <a:t>    .save(max);</a:t>
            </a:r>
            <a:endParaRPr lang="en-US" sz="1400" dirty="0"/>
          </a:p>
        </p:txBody>
      </p:sp>
      <p:sp>
        <p:nvSpPr>
          <p:cNvPr id="14" name="Text 11"/>
          <p:cNvSpPr txBox="1"/>
          <p:nvPr/>
        </p:nvSpPr>
        <p:spPr>
          <a:xfrm>
            <a:off x="457200" y="3566160"/>
            <a:ext cx="8229600" cy="1005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State Testing: Ist das Resultat richtig?</a:t>
            </a:r>
            <a:endParaRPr lang="en-US" sz="1500" dirty="0"/>
          </a:p>
          <a:p>
            <a:pPr marL="342900" indent="-342900">
              <a:spcAft>
                <a:spcPts val="800"/>
              </a:spcAft>
              <a:buSzPct val="100000"/>
              <a:buChar char="•"/>
            </a:pPr>
            <a:r>
              <a:rPr lang="en-US" sz="1500" dirty="0">
                <a:solidFill>
                  <a:schemeClr val="tx1"/>
                </a:solidFill>
              </a:rPr>
              <a:t>Behavioral Testing: Wurde richtig aufgerufen?</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Aufgabe 1: Tests für alle Klassen</a:t>
            </a:r>
            <a:endParaRPr lang="en-US" sz="2800" dirty="0"/>
          </a:p>
        </p:txBody>
      </p:sp>
      <p:graphicFrame>
        <p:nvGraphicFramePr>
          <p:cNvPr id="4" name="Tabel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926080"/>
                <a:gridCol w="2743200"/>
                <a:gridCol w="2560320"/>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Testklasse</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Was</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Technik</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AddressTest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Adressen erstellen</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@BeforeEach</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AddressComparatorTest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Sortierung, null-Werte</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@BeforeEach</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AddressServiceTest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Service ohne Datenbank</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@Mock, when, verify</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AddressControllerTest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REST: 201, 200, 404</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@WebMvcTest, MockMvc</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AddressbookApplicationTest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Echte H2-Datenbank</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@SpringBootTest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Service testen: H2-Datenbank weggemockt</a:t>
            </a:r>
            <a:endParaRPr lang="en-US" sz="2800" dirty="0"/>
          </a:p>
        </p:txBody>
      </p:sp>
      <p:sp>
        <p:nvSpPr>
          <p:cNvPr id="4" name="Code Box"/>
          <p:cNvSpPr/>
          <p:nvPr/>
        </p:nvSpPr>
        <p:spPr>
          <a:xfrm>
            <a:off x="457200" y="1097280"/>
            <a:ext cx="8229600" cy="3429000"/>
          </a:xfrm>
          <a:prstGeom prst="roundRect">
            <a:avLst>
              <a:gd name="adj" fmla="val 2133"/>
            </a:avLst>
          </a:prstGeom>
          <a:solidFill>
            <a:schemeClr val="tx1"/>
          </a:solidFill>
          <a:ln w="12700">
            <a:solidFill>
              <a:schemeClr val="tx1"/>
            </a:solidFill>
            <a:prstDash val="solid"/>
          </a:ln>
        </p:spPr>
      </p:sp>
      <p:sp>
        <p:nvSpPr>
          <p:cNvPr id="5" name="Text 2"/>
          <p:cNvSpPr txBox="1"/>
          <p:nvPr/>
        </p:nvSpPr>
        <p:spPr>
          <a:xfrm>
            <a:off x="640080" y="1207008"/>
            <a:ext cx="7863840" cy="274320"/>
          </a:xfrm>
          <a:prstGeom prst="rect">
            <a:avLst/>
          </a:prstGeom>
          <a:noFill/>
          <a:ln/>
        </p:spPr>
        <p:txBody>
          <a:bodyPr wrap="square" lIns="0" tIns="0" rIns="0" bIns="0" rtlCol="0" anchor="ctr"/>
          <a:lstStyle/>
          <a:p>
            <a:pPr indent="0" marL="0">
              <a:buNone/>
            </a:pPr>
            <a:r>
              <a:rPr lang="en-US" sz="1100" b="1" dirty="0">
                <a:solidFill>
                  <a:schemeClr val="accent6"/>
                </a:solidFill>
              </a:rPr>
              <a:t>AddressServiceTest.java</a:t>
            </a:r>
            <a:endParaRPr lang="en-US" sz="1100" dirty="0"/>
          </a:p>
        </p:txBody>
      </p:sp>
      <p:sp>
        <p:nvSpPr>
          <p:cNvPr id="6" name="Code"/>
          <p:cNvSpPr txBox="1"/>
          <p:nvPr/>
        </p:nvSpPr>
        <p:spPr>
          <a:xfrm>
            <a:off x="640080" y="1508760"/>
            <a:ext cx="7863840" cy="288036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@Mock</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private AddressRepository addressRepository;</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@Test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void getAllReturnsSortedList()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when(addressRepository.findAll())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.thenReturn(List.of(maxMuster, paulAebi));</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List&lt;Address&gt; result = addressService.getAll();</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assertEquals(List.of(paulAebi, maxMuster), result);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verify(addressRepository, times(1)).findAll();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Comparator korrigiert</a:t>
            </a:r>
            <a:endParaRPr lang="en-US" sz="2800" dirty="0"/>
          </a:p>
        </p:txBody>
      </p:sp>
      <p:sp>
        <p:nvSpPr>
          <p:cNvPr id="4" name="Code Box"/>
          <p:cNvSpPr/>
          <p:nvPr/>
        </p:nvSpPr>
        <p:spPr>
          <a:xfrm>
            <a:off x="457200" y="1097280"/>
            <a:ext cx="3291840" cy="2011680"/>
          </a:xfrm>
          <a:prstGeom prst="roundRect">
            <a:avLst>
              <a:gd name="adj" fmla="val 3636"/>
            </a:avLst>
          </a:prstGeom>
          <a:solidFill>
            <a:schemeClr val="tx1"/>
          </a:solidFill>
          <a:ln w="12700">
            <a:solidFill>
              <a:schemeClr val="tx1"/>
            </a:solidFill>
            <a:prstDash val="solid"/>
          </a:ln>
        </p:spPr>
      </p:sp>
      <p:sp>
        <p:nvSpPr>
          <p:cNvPr id="5" name="Text 2"/>
          <p:cNvSpPr txBox="1"/>
          <p:nvPr/>
        </p:nvSpPr>
        <p:spPr>
          <a:xfrm>
            <a:off x="640080" y="1207008"/>
            <a:ext cx="2926080" cy="274320"/>
          </a:xfrm>
          <a:prstGeom prst="rect">
            <a:avLst/>
          </a:prstGeom>
          <a:noFill/>
          <a:ln/>
        </p:spPr>
        <p:txBody>
          <a:bodyPr wrap="square" lIns="0" tIns="0" rIns="0" bIns="0" rtlCol="0" anchor="ctr"/>
          <a:lstStyle/>
          <a:p>
            <a:pPr indent="0" marL="0">
              <a:buNone/>
            </a:pPr>
            <a:r>
              <a:rPr lang="en-US" sz="1100" b="1" dirty="0">
                <a:solidFill>
                  <a:schemeClr val="accent6"/>
                </a:solidFill>
              </a:rPr>
              <a:t>Vorher</a:t>
            </a:r>
            <a:endParaRPr lang="en-US" sz="1100" dirty="0"/>
          </a:p>
        </p:txBody>
      </p:sp>
      <p:sp>
        <p:nvSpPr>
          <p:cNvPr id="6" name="Code"/>
          <p:cNvSpPr txBox="1"/>
          <p:nvPr/>
        </p:nvSpPr>
        <p:spPr>
          <a:xfrm>
            <a:off x="640080" y="1508760"/>
            <a:ext cx="2926080" cy="146304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compare(a1, a2)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-1;</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7" name="Text 4"/>
          <p:cNvSpPr txBox="1"/>
          <p:nvPr/>
        </p:nvSpPr>
        <p:spPr>
          <a:xfrm>
            <a:off x="457200" y="4023360"/>
            <a:ext cx="8229600" cy="411480"/>
          </a:xfrm>
          <a:prstGeom prst="rect">
            <a:avLst/>
          </a:prstGeom>
          <a:noFill/>
          <a:ln/>
        </p:spPr>
        <p:txBody>
          <a:bodyPr wrap="square" lIns="0" tIns="0" rIns="0" bIns="0" rtlCol="0" anchor="ctr"/>
          <a:lstStyle/>
          <a:p>
            <a:pPr indent="0" marL="0">
              <a:buNone/>
            </a:pPr>
            <a:r>
              <a:rPr lang="en-US" sz="1400" i="1" dirty="0">
                <a:solidFill>
                  <a:schemeClr val="accent5"/>
                </a:solidFill>
              </a:rPr>
              <a:t>Nachher: Nachname → Vorname → Datum, leere Werte (null) kommen ans Ende</a:t>
            </a:r>
            <a:endParaRPr lang="en-US" sz="1400" dirty="0"/>
          </a:p>
        </p:txBody>
      </p:sp>
      <p:sp>
        <p:nvSpPr>
          <p:cNvPr id="8" name="Verbindung"/>
          <p:cNvSpPr/>
          <p:nvPr/>
        </p:nvSpPr>
        <p:spPr>
          <a:xfrm>
            <a:off x="4800600" y="1783080"/>
            <a:ext cx="3108960" cy="0"/>
          </a:xfrm>
          <a:prstGeom prst="line">
            <a:avLst/>
          </a:prstGeom>
          <a:noFill/>
          <a:ln w="38100">
            <a:solidFill>
              <a:schemeClr val="accent6"/>
            </a:solidFill>
            <a:prstDash val="solid"/>
          </a:ln>
        </p:spPr>
      </p:sp>
      <p:sp>
        <p:nvSpPr>
          <p:cNvPr id="9" name="Schritt Nachname"/>
          <p:cNvSpPr/>
          <p:nvPr/>
        </p:nvSpPr>
        <p:spPr>
          <a:xfrm>
            <a:off x="4480560" y="1463040"/>
            <a:ext cx="640080" cy="640080"/>
          </a:xfrm>
          <a:prstGeom prst="ellipse">
            <a:avLst/>
          </a:prstGeom>
          <a:solidFill>
            <a:schemeClr val="accent3"/>
          </a:solidFill>
          <a:ln w="38100">
            <a:solidFill>
              <a:schemeClr val="bg1"/>
            </a:solidFill>
            <a:prstDash val="solid"/>
          </a:ln>
        </p:spPr>
      </p:sp>
      <p:sp>
        <p:nvSpPr>
          <p:cNvPr id="10" name="Text 7"/>
          <p:cNvSpPr txBox="1"/>
          <p:nvPr/>
        </p:nvSpPr>
        <p:spPr>
          <a:xfrm>
            <a:off x="4480560" y="1463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1" name="Text 8"/>
          <p:cNvSpPr txBox="1"/>
          <p:nvPr/>
        </p:nvSpPr>
        <p:spPr>
          <a:xfrm>
            <a:off x="4069080" y="2240280"/>
            <a:ext cx="1463040" cy="411480"/>
          </a:xfrm>
          <a:prstGeom prst="rect">
            <a:avLst/>
          </a:prstGeom>
          <a:noFill/>
          <a:ln/>
        </p:spPr>
        <p:txBody>
          <a:bodyPr wrap="square" lIns="0" tIns="0" rIns="0" bIns="0" rtlCol="0" anchor="t"/>
          <a:lstStyle/>
          <a:p>
            <a:pPr algn="ctr" indent="0" marL="0">
              <a:buNone/>
            </a:pPr>
            <a:r>
              <a:rPr lang="en-US" sz="1500" b="1" dirty="0">
                <a:solidFill>
                  <a:schemeClr val="tx2"/>
                </a:solidFill>
              </a:rPr>
              <a:t>Nachname</a:t>
            </a:r>
            <a:endParaRPr lang="en-US" sz="1500" dirty="0"/>
          </a:p>
        </p:txBody>
      </p:sp>
      <p:sp>
        <p:nvSpPr>
          <p:cNvPr id="12" name="Text 9"/>
          <p:cNvSpPr txBox="1"/>
          <p:nvPr/>
        </p:nvSpPr>
        <p:spPr>
          <a:xfrm>
            <a:off x="4096512" y="2651760"/>
            <a:ext cx="1408176" cy="1737360"/>
          </a:xfrm>
          <a:prstGeom prst="rect">
            <a:avLst/>
          </a:prstGeom>
          <a:noFill/>
          <a:ln/>
        </p:spPr>
        <p:txBody>
          <a:bodyPr wrap="square" lIns="0" tIns="0" rIns="0" bIns="0" rtlCol="0" anchor="t"/>
          <a:lstStyle/>
          <a:p>
            <a:pPr algn="ctr" indent="0" marL="0">
              <a:buNone/>
            </a:pPr>
            <a:r>
              <a:rPr lang="en-US" sz="1300" dirty="0">
                <a:solidFill>
                  <a:schemeClr val="tx1"/>
                </a:solidFill>
              </a:rPr>
              <a:t>Aebi vor Muster</a:t>
            </a:r>
            <a:endParaRPr lang="en-US" sz="1300" dirty="0"/>
          </a:p>
        </p:txBody>
      </p:sp>
      <p:sp>
        <p:nvSpPr>
          <p:cNvPr id="13" name="Schritt Vorname"/>
          <p:cNvSpPr/>
          <p:nvPr/>
        </p:nvSpPr>
        <p:spPr>
          <a:xfrm>
            <a:off x="6035040" y="1463040"/>
            <a:ext cx="640080" cy="640080"/>
          </a:xfrm>
          <a:prstGeom prst="ellipse">
            <a:avLst/>
          </a:prstGeom>
          <a:solidFill>
            <a:schemeClr val="accent3"/>
          </a:solidFill>
          <a:ln w="38100">
            <a:solidFill>
              <a:schemeClr val="bg1"/>
            </a:solidFill>
            <a:prstDash val="solid"/>
          </a:ln>
        </p:spPr>
      </p:sp>
      <p:sp>
        <p:nvSpPr>
          <p:cNvPr id="14" name="Text 11"/>
          <p:cNvSpPr txBox="1"/>
          <p:nvPr/>
        </p:nvSpPr>
        <p:spPr>
          <a:xfrm>
            <a:off x="6035040" y="1463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5" name="Text 12"/>
          <p:cNvSpPr txBox="1"/>
          <p:nvPr/>
        </p:nvSpPr>
        <p:spPr>
          <a:xfrm>
            <a:off x="5623560" y="2240280"/>
            <a:ext cx="1463040" cy="411480"/>
          </a:xfrm>
          <a:prstGeom prst="rect">
            <a:avLst/>
          </a:prstGeom>
          <a:noFill/>
          <a:ln/>
        </p:spPr>
        <p:txBody>
          <a:bodyPr wrap="square" lIns="0" tIns="0" rIns="0" bIns="0" rtlCol="0" anchor="t"/>
          <a:lstStyle/>
          <a:p>
            <a:pPr algn="ctr" indent="0" marL="0">
              <a:buNone/>
            </a:pPr>
            <a:r>
              <a:rPr lang="en-US" sz="1500" b="1" dirty="0">
                <a:solidFill>
                  <a:schemeClr val="tx2"/>
                </a:solidFill>
              </a:rPr>
              <a:t>Vorname</a:t>
            </a:r>
            <a:endParaRPr lang="en-US" sz="1500" dirty="0"/>
          </a:p>
        </p:txBody>
      </p:sp>
      <p:sp>
        <p:nvSpPr>
          <p:cNvPr id="16" name="Text 13"/>
          <p:cNvSpPr txBox="1"/>
          <p:nvPr/>
        </p:nvSpPr>
        <p:spPr>
          <a:xfrm>
            <a:off x="5650992" y="2651760"/>
            <a:ext cx="1408176" cy="1737360"/>
          </a:xfrm>
          <a:prstGeom prst="rect">
            <a:avLst/>
          </a:prstGeom>
          <a:noFill/>
          <a:ln/>
        </p:spPr>
        <p:txBody>
          <a:bodyPr wrap="square" lIns="0" tIns="0" rIns="0" bIns="0" rtlCol="0" anchor="t"/>
          <a:lstStyle/>
          <a:p>
            <a:pPr algn="ctr" indent="0" marL="0">
              <a:buNone/>
            </a:pPr>
            <a:r>
              <a:rPr lang="en-US" sz="1300" dirty="0">
                <a:solidFill>
                  <a:schemeClr val="tx1"/>
                </a:solidFill>
              </a:rPr>
              <a:t>Anna vor Max</a:t>
            </a:r>
            <a:endParaRPr lang="en-US" sz="1300" dirty="0"/>
          </a:p>
        </p:txBody>
      </p:sp>
      <p:sp>
        <p:nvSpPr>
          <p:cNvPr id="17" name="Schritt Datum"/>
          <p:cNvSpPr/>
          <p:nvPr/>
        </p:nvSpPr>
        <p:spPr>
          <a:xfrm>
            <a:off x="7589520" y="1463040"/>
            <a:ext cx="640080" cy="640080"/>
          </a:xfrm>
          <a:prstGeom prst="ellipse">
            <a:avLst/>
          </a:prstGeom>
          <a:solidFill>
            <a:schemeClr val="accent1"/>
          </a:solidFill>
          <a:ln w="38100">
            <a:solidFill>
              <a:schemeClr val="bg1"/>
            </a:solidFill>
            <a:prstDash val="solid"/>
          </a:ln>
        </p:spPr>
      </p:sp>
      <p:sp>
        <p:nvSpPr>
          <p:cNvPr id="18" name="Text 15"/>
          <p:cNvSpPr txBox="1"/>
          <p:nvPr/>
        </p:nvSpPr>
        <p:spPr>
          <a:xfrm>
            <a:off x="7589520" y="1463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9" name="Text 16"/>
          <p:cNvSpPr txBox="1"/>
          <p:nvPr/>
        </p:nvSpPr>
        <p:spPr>
          <a:xfrm>
            <a:off x="7178040" y="2240280"/>
            <a:ext cx="1463040" cy="411480"/>
          </a:xfrm>
          <a:prstGeom prst="rect">
            <a:avLst/>
          </a:prstGeom>
          <a:noFill/>
          <a:ln/>
        </p:spPr>
        <p:txBody>
          <a:bodyPr wrap="square" lIns="0" tIns="0" rIns="0" bIns="0" rtlCol="0" anchor="t"/>
          <a:lstStyle/>
          <a:p>
            <a:pPr algn="ctr" indent="0" marL="0">
              <a:buNone/>
            </a:pPr>
            <a:r>
              <a:rPr lang="en-US" sz="1500" b="1" dirty="0">
                <a:solidFill>
                  <a:schemeClr val="tx2"/>
                </a:solidFill>
              </a:rPr>
              <a:t>Datum</a:t>
            </a:r>
            <a:endParaRPr lang="en-US" sz="1500" dirty="0"/>
          </a:p>
        </p:txBody>
      </p:sp>
      <p:sp>
        <p:nvSpPr>
          <p:cNvPr id="20" name="Text 17"/>
          <p:cNvSpPr txBox="1"/>
          <p:nvPr/>
        </p:nvSpPr>
        <p:spPr>
          <a:xfrm>
            <a:off x="7205472" y="2651760"/>
            <a:ext cx="1408176" cy="1737360"/>
          </a:xfrm>
          <a:prstGeom prst="rect">
            <a:avLst/>
          </a:prstGeom>
          <a:noFill/>
          <a:ln/>
        </p:spPr>
        <p:txBody>
          <a:bodyPr wrap="square" lIns="0" tIns="0" rIns="0" bIns="0" rtlCol="0" anchor="t"/>
          <a:lstStyle/>
          <a:p>
            <a:pPr algn="ctr" indent="0" marL="0">
              <a:buNone/>
            </a:pPr>
            <a:r>
              <a:rPr lang="en-US" sz="1300" dirty="0">
                <a:solidFill>
                  <a:schemeClr val="tx1"/>
                </a:solidFill>
              </a:rPr>
              <a:t>älter zuerst</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Aufgabe 2: Nach beliebigen Feldern sortieren</a:t>
            </a:r>
            <a:endParaRPr lang="en-US" sz="2800" dirty="0"/>
          </a:p>
        </p:txBody>
      </p:sp>
      <p:sp>
        <p:nvSpPr>
          <p:cNvPr id="4" name="Code Box"/>
          <p:cNvSpPr/>
          <p:nvPr/>
        </p:nvSpPr>
        <p:spPr>
          <a:xfrm>
            <a:off x="457200" y="1097280"/>
            <a:ext cx="5120640" cy="2743200"/>
          </a:xfrm>
          <a:prstGeom prst="roundRect">
            <a:avLst>
              <a:gd name="adj" fmla="val 2667"/>
            </a:avLst>
          </a:prstGeom>
          <a:solidFill>
            <a:schemeClr val="tx1"/>
          </a:solidFill>
          <a:ln w="12700">
            <a:solidFill>
              <a:schemeClr val="tx1"/>
            </a:solidFill>
            <a:prstDash val="solid"/>
          </a:ln>
        </p:spPr>
      </p:sp>
      <p:sp>
        <p:nvSpPr>
          <p:cNvPr id="5" name="Text 2"/>
          <p:cNvSpPr txBox="1"/>
          <p:nvPr/>
        </p:nvSpPr>
        <p:spPr>
          <a:xfrm>
            <a:off x="640080" y="1207008"/>
            <a:ext cx="4754880" cy="274320"/>
          </a:xfrm>
          <a:prstGeom prst="rect">
            <a:avLst/>
          </a:prstGeom>
          <a:noFill/>
          <a:ln/>
        </p:spPr>
        <p:txBody>
          <a:bodyPr wrap="square" lIns="0" tIns="0" rIns="0" bIns="0" rtlCol="0" anchor="ctr"/>
          <a:lstStyle/>
          <a:p>
            <a:pPr indent="0" marL="0">
              <a:buNone/>
            </a:pPr>
            <a:r>
              <a:rPr lang="en-US" sz="1100" b="1" dirty="0">
                <a:solidFill>
                  <a:schemeClr val="accent6"/>
                </a:solidFill>
              </a:rPr>
              <a:t>Verwendung</a:t>
            </a:r>
            <a:endParaRPr lang="en-US" sz="1100" dirty="0"/>
          </a:p>
        </p:txBody>
      </p:sp>
      <p:sp>
        <p:nvSpPr>
          <p:cNvPr id="6" name="Code"/>
          <p:cNvSpPr txBox="1"/>
          <p:nvPr/>
        </p:nvSpPr>
        <p:spPr>
          <a:xfrm>
            <a:off x="640080" y="1508760"/>
            <a:ext cx="4754880" cy="219456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new AddressComparator();</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new AddressComparator(SortField.PHONENUMBER);</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new AddressComparator(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SortField.FIRSTNAME,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SortField.LASTNAME);</a:t>
            </a:r>
            <a:endParaRPr lang="en-US" sz="1300" dirty="0"/>
          </a:p>
        </p:txBody>
      </p:sp>
      <p:sp>
        <p:nvSpPr>
          <p:cNvPr id="7" name="Kennzahl Tests grün in 5 Testklassen"/>
          <p:cNvSpPr/>
          <p:nvPr/>
        </p:nvSpPr>
        <p:spPr>
          <a:xfrm>
            <a:off x="5852160" y="1097280"/>
            <a:ext cx="2834640" cy="2743200"/>
          </a:xfrm>
          <a:prstGeom prst="roundRect">
            <a:avLst>
              <a:gd name="adj" fmla="val 2667"/>
            </a:avLst>
          </a:prstGeom>
          <a:solidFill>
            <a:schemeClr val="bg2"/>
          </a:solidFill>
          <a:ln w="12700">
            <a:solidFill>
              <a:schemeClr val="bg2"/>
            </a:solidFill>
            <a:prstDash val="solid"/>
          </a:ln>
        </p:spPr>
      </p:sp>
      <p:sp>
        <p:nvSpPr>
          <p:cNvPr id="8" name="Text 5"/>
          <p:cNvSpPr txBox="1"/>
          <p:nvPr/>
        </p:nvSpPr>
        <p:spPr>
          <a:xfrm>
            <a:off x="5852160" y="1874520"/>
            <a:ext cx="2834640" cy="7772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25</a:t>
            </a:r>
            <a:endParaRPr lang="en-US" sz="3600" dirty="0"/>
          </a:p>
        </p:txBody>
      </p:sp>
      <p:sp>
        <p:nvSpPr>
          <p:cNvPr id="9" name="Text 6"/>
          <p:cNvSpPr txBox="1"/>
          <p:nvPr/>
        </p:nvSpPr>
        <p:spPr>
          <a:xfrm>
            <a:off x="5943600" y="2651760"/>
            <a:ext cx="2651760" cy="457200"/>
          </a:xfrm>
          <a:prstGeom prst="rect">
            <a:avLst/>
          </a:prstGeom>
          <a:noFill/>
          <a:ln/>
        </p:spPr>
        <p:txBody>
          <a:bodyPr wrap="square" lIns="0" tIns="0" rIns="0" bIns="0" rtlCol="0" anchor="t"/>
          <a:lstStyle/>
          <a:p>
            <a:pPr algn="ctr" indent="0" marL="0">
              <a:buNone/>
            </a:pPr>
            <a:r>
              <a:rPr lang="en-US" sz="1200" dirty="0">
                <a:solidFill>
                  <a:schemeClr val="tx1"/>
                </a:solidFill>
              </a:rPr>
              <a:t>Tests grün in 5 Testklassen</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65760"/>
          </a:xfrm>
          <a:prstGeom prst="rect">
            <a:avLst/>
          </a:prstGeom>
          <a:noFill/>
          <a:ln/>
        </p:spPr>
        <p:txBody>
          <a:bodyPr wrap="square" lIns="0" tIns="0" rIns="0" bIns="0" rtlCol="0"/>
          <a:lstStyle/>
          <a:p>
            <a:pPr indent="0" marL="0">
              <a:buNone/>
            </a:pPr>
            <a:r>
              <a:rPr lang="en-US" sz="1400" b="1" dirty="0">
                <a:solidFill>
                  <a:schemeClr val="accent6"/>
                </a:solidFill>
              </a:rPr>
              <a:t>Fazit</a:t>
            </a:r>
            <a:endParaRPr lang="en-US" sz="1400" dirty="0"/>
          </a:p>
        </p:txBody>
      </p:sp>
      <p:sp>
        <p:nvSpPr>
          <p:cNvPr id="3" name="Text 0"/>
          <p:cNvSpPr/>
          <p:nvPr>
            <p:ph idx="101" type="title" hasCustomPrompt="1"/>
          </p:nvPr>
        </p:nvSpPr>
        <p:spPr>
          <a:xfrm>
            <a:off x="548640" y="1371600"/>
            <a:ext cx="6949440"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Mocks machen Tests schnell und unabhängig</a:t>
            </a:r>
            <a:endParaRPr lang="en-US" sz="4000" dirty="0"/>
          </a:p>
        </p:txBody>
      </p:sp>
      <p:sp>
        <p:nvSpPr>
          <p:cNvPr id="4" name="Text 0"/>
          <p:cNvSpPr/>
          <p:nvPr>
            <p:ph idx="102" type="body" hasCustomPrompt="1"/>
          </p:nvPr>
        </p:nvSpPr>
        <p:spPr>
          <a:xfrm>
            <a:off x="548640" y="2880360"/>
            <a:ext cx="6949440" cy="1097280"/>
          </a:xfrm>
          <a:prstGeom prst="rect">
            <a:avLst/>
          </a:prstGeom>
          <a:noFill/>
          <a:ln/>
        </p:spPr>
        <p:txBody>
          <a:bodyPr wrap="square" lIns="0" tIns="0" rIns="0" bIns="0" rtlCol="0" anchor="t"/>
          <a:lstStyle/>
          <a:p>
            <a:pPr indent="0" marL="0">
              <a:buNone/>
            </a:pPr>
            <a:r>
              <a:rPr lang="en-US" sz="1800" dirty="0">
                <a:solidFill>
                  <a:schemeClr val="bg1"/>
                </a:solidFill>
              </a:rPr>
              <a:t>Der Service wird getestet, ohne dass eine Datenbank laufen muss.</a:t>
            </a:r>
            <a:endParaRPr lang="en-US" sz="1800" dirty="0"/>
          </a:p>
        </p:txBody>
      </p:sp>
      <p:sp>
        <p:nvSpPr>
          <p:cNvPr id="5" name="Status Kreis"/>
          <p:cNvSpPr/>
          <p:nvPr/>
        </p:nvSpPr>
        <p:spPr>
          <a:xfrm>
            <a:off x="7452360" y="1417320"/>
            <a:ext cx="1188720" cy="1188720"/>
          </a:xfrm>
          <a:prstGeom prst="ellipse">
            <a:avLst/>
          </a:prstGeom>
          <a:solidFill>
            <a:schemeClr val="accent1"/>
          </a:solidFill>
          <a:ln w="12700">
            <a:solidFill>
              <a:schemeClr val="accent1"/>
            </a:solidFill>
            <a:prstDash val="solid"/>
          </a:ln>
        </p:spPr>
      </p:sp>
      <p:sp>
        <p:nvSpPr>
          <p:cNvPr id="6" name="Haken"/>
          <p:cNvSpPr txBox="1"/>
          <p:nvPr/>
        </p:nvSpPr>
        <p:spPr>
          <a:xfrm>
            <a:off x="7452360" y="1417320"/>
            <a:ext cx="1188720" cy="1188720"/>
          </a:xfrm>
          <a:prstGeom prst="rect">
            <a:avLst/>
          </a:prstGeom>
          <a:noFill/>
          <a:ln/>
        </p:spPr>
        <p:txBody>
          <a:bodyPr wrap="square" lIns="0" tIns="0" rIns="0" bIns="0" rtlCol="0" anchor="ctr"/>
          <a:lstStyle/>
          <a:p>
            <a:pPr algn="ctr" indent="0" marL="0">
              <a:buNone/>
            </a:pPr>
            <a:r>
              <a:rPr lang="en-US" sz="4800" b="1" dirty="0">
                <a:solidFill>
                  <a:schemeClr val="bg1"/>
                </a:solidFill>
              </a:rPr>
              <a:t>✓</a:t>
            </a:r>
            <a:endParaRPr lang="en-US" sz="4800" dirty="0"/>
          </a:p>
        </p:txBody>
      </p:sp>
    </p:spTree>
  </p:cSld>
  <p:clrMapOvr>
    <a:masterClrMapping/>
  </p:clrMapOvr>
</p:sld>
</file>

<file path=ppt/theme/theme1.xml><?xml version="1.0" encoding="utf-8"?>
<a:theme xmlns:a="http://schemas.openxmlformats.org/drawingml/2006/main" name="M450 Testing">
  <a:themeElements>
    <a:clrScheme name="M450 Testing">
      <a:dk1>
        <a:srgbClr val="1B2A2F"/>
      </a:dk1>
      <a:lt1>
        <a:srgbClr val="FFFFFF"/>
      </a:lt1>
      <a:dk2>
        <a:srgbClr val="1F4A40"/>
      </a:dk2>
      <a:lt2>
        <a:srgbClr val="EDF4F1"/>
      </a:lt2>
      <a:accent1>
        <a:srgbClr val="2EA043"/>
      </a:accent1>
      <a:accent2>
        <a:srgbClr val="D73A49"/>
      </a:accent2>
      <a:accent3>
        <a:srgbClr val="0E7C66"/>
      </a:accent3>
      <a:accent4>
        <a:srgbClr val="E3A008"/>
      </a:accent4>
      <a:accent5>
        <a:srgbClr val="5B7B75"/>
      </a:accent5>
      <a:accent6>
        <a:srgbClr val="A8E0CC"/>
      </a:accent6>
      <a:hlink>
        <a:srgbClr val="0E7C66"/>
      </a:hlink>
      <a:folHlink>
        <a:srgbClr val="5B7B75"/>
      </a:folHlink>
    </a:clrScheme>
    <a:fontScheme name="M450 Tes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KN04 – Schnittstellen und Mocking</dc:title>
  <dc:subject>PptxGenJS Presentation</dc:subject>
  <dc:creator>Denis</dc:creator>
  <cp:lastModifiedBy>Denis</cp:lastModifiedBy>
  <cp:revision>1</cp:revision>
  <dcterms:created xsi:type="dcterms:W3CDTF">2026-10-16T09:32:12Z</dcterms:created>
  <dcterms:modified xsi:type="dcterms:W3CDTF">2026-10-16T09:32:12Z</dcterms:modified>
</cp:coreProperties>
</file>