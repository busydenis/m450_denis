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d4800c4e-8283-40cb-169e-219112309197}">
          <p14:sldIdLst>
            <p14:sldId id="256"/>
            <p14:sldId id="257"/>
          </p14:sldIdLst>
        </p14:section>
        <p14:section name="Übung 1" id="{171014a6-27c1-b5a1-f9cf-a20798caa6d4}">
          <p14:sldIdLst>
            <p14:sldId id="258"/>
          </p14:sldIdLst>
        </p14:section>
        <p14:section name="Übung 2" id="{41ad504e-c6b7-7cc3-374d-3e6fbdb75602}">
          <p14:sldIdLst>
            <p14:sldId id="259"/>
          </p14:sldIdLst>
        </p14:section>
        <p14:section name="Übung 3" id="{0d3c67b4-ac22-0e65-08c8-691de811de35}">
          <p14:sldIdLst>
            <p14:sldId id="260"/>
          </p14:sldIdLst>
        </p14:section>
        <p14:section name="Bonus" id="{366165e5-ba44-858c-770f-a21b5b8797a9}">
          <p14:sldIdLst>
            <p14:sldId id="261"/>
          </p14:sldIdLst>
        </p14:section>
        <p14:section name="Fazit" id="{9c164737-9519-6723-b27a-6cb6a3024090}">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4A40"/>
                </a:solidFill>
                <a:latin typeface="+mn-lt"/>
              </a:defRPr>
            </a:pPr>
            <a:r>
              <a:rPr sz="1400" b="0" i="0" u="none" strike="noStrike">
                <a:solidFill>
                  <a:srgbClr val="1F4A40"/>
                </a:solidFill>
                <a:latin typeface="+mn-lt"/>
              </a:rPr>
              <a:t>Antwortzeiten in ms</a:t>
            </a:r>
          </a:p>
        </c:rich>
      </c:tx>
      <c:layout/>
      <c:overlay val="0"/>
    </c:title>
    <c:autoTitleDeleted val="0"/>
    <c:plotArea>
      <c:layout/>
      <c:barChart>
        <c:barDir val="col"/>
        <c:grouping val="clustered"/>
        <c:varyColors val="0"/>
        <c:ser>
          <c:idx val="0"/>
          <c:order val="0"/>
          <c:tx>
            <c:strRef>
              <c:f>Sheet1!$B$1</c:f>
              <c:strCache>
                <c:ptCount val="1"/>
                <c:pt idx="0">
                  <c:v>Durchschnitt (ms)</c:v>
                </c:pt>
              </c:strCache>
            </c:strRef>
          </c:tx>
          <c:spPr>
            <a:solidFill>
              <a:srgbClr val="0E7C66"/>
            </a:solidFill>
            <a:effectLst/>
          </c:spPr>
          <c:invertIfNegative val="0"/>
          <c:dLbls>
            <c:numFmt formatCode="General"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Sheet1!$A$2:$A$3</c:f>
              <c:multiLvlStrCache>
                <c:ptCount val="2"/>
                <c:lvl>
                  <c:pt idx="0">
                    <c:v>GET /students</c:v>
                  </c:pt>
                  <c:pt idx="1">
                    <c:v>POST /students</c:v>
                  </c:pt>
                </c:lvl>
              </c:multiLvlStrCache>
            </c:multiLvlStrRef>
          </c:cat>
          <c:val>
            <c:numRef>
              <c:f>Sheet1!$B$2:$B$3</c:f>
              <c:numCache>
                <c:formatCode>General</c:formatCode>
                <c:ptCount val="2"/>
                <c:pt idx="0">
                  <c:v>3.9</c:v>
                </c:pt>
                <c:pt idx="1">
                  <c:v>2</c:v>
                </c:pt>
              </c:numCache>
            </c:numRef>
          </c:val>
        </c:ser>
        <c:ser>
          <c:idx val="1"/>
          <c:order val="1"/>
          <c:tx>
            <c:strRef>
              <c:f>Sheet1!$C$1</c:f>
              <c:strCache>
                <c:ptCount val="1"/>
                <c:pt idx="0">
                  <c:v>95 % unter (ms)</c:v>
                </c:pt>
              </c:strCache>
            </c:strRef>
          </c:tx>
          <c:spPr>
            <a:solidFill>
              <a:srgbClr val="A8E0CC"/>
            </a:solidFill>
            <a:effectLst/>
          </c:spPr>
          <c:invertIfNegative val="0"/>
          <c:dLbls>
            <c:numFmt formatCode="General"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Sheet1!$A$2:$A$3</c:f>
              <c:multiLvlStrCache>
                <c:ptCount val="2"/>
                <c:lvl>
                  <c:pt idx="0">
                    <c:v>GET /students</c:v>
                  </c:pt>
                  <c:pt idx="1">
                    <c:v>POST /students</c:v>
                  </c:pt>
                </c:lvl>
              </c:multiLvlStrCache>
            </c:multiLvlStrRef>
          </c:cat>
          <c:val>
            <c:numRef>
              <c:f>Sheet1!$C$2:$C$3</c:f>
              <c:numCache>
                <c:formatCode>General</c:formatCode>
                <c:ptCount val="2"/>
                <c:pt idx="0">
                  <c:v>7</c:v>
                </c:pt>
                <c:pt idx="1">
                  <c:v>4</c:v>
                </c:pt>
              </c:numCache>
            </c:numRef>
          </c:val>
        </c:ser>
        <c:dLbls>
          <c:numFmt formatCode="General"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7B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C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7B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4A40"/>
                </a:solidFill>
                <a:latin typeface="+mn-lt"/>
              </a:defRPr>
            </a:pPr>
            <a:r>
              <a:rPr sz="1400" b="0" i="0" u="none" strike="noStrike">
                <a:solidFill>
                  <a:srgbClr val="1F4A40"/>
                </a:solidFill>
                <a:latin typeface="+mn-lt"/>
              </a:rPr>
              <a:t>Minuten: geschätzt vs. tatsächlich</a:t>
            </a:r>
          </a:p>
        </c:rich>
      </c:tx>
      <c:layout/>
      <c:overlay val="0"/>
    </c:title>
    <c:autoTitleDeleted val="0"/>
    <c:plotArea>
      <c:layout/>
      <c:barChart>
        <c:barDir val="col"/>
        <c:grouping val="clustered"/>
        <c:varyColors val="0"/>
        <c:ser>
          <c:idx val="0"/>
          <c:order val="0"/>
          <c:tx>
            <c:strRef>
              <c:f>Sheet1!$B$1</c:f>
              <c:strCache>
                <c:ptCount val="1"/>
                <c:pt idx="0">
                  <c:v>Geschätzt</c:v>
                </c:pt>
              </c:strCache>
            </c:strRef>
          </c:tx>
          <c:spPr>
            <a:solidFill>
              <a:srgbClr val="A8E0CC"/>
            </a:solidFill>
            <a:effectLst/>
          </c:spPr>
          <c:invertIfNegative val="0"/>
          <c:dLbls>
            <c:numFmt formatCode="General"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Backend</c:v>
                  </c:pt>
                  <c:pt idx="1">
                    <c:v>Frontend</c:v>
                  </c:pt>
                  <c:pt idx="2">
                    <c:v>Tests</c:v>
                  </c:pt>
                  <c:pt idx="3">
                    <c:v>Doku</c:v>
                  </c:pt>
                </c:lvl>
              </c:multiLvlStrCache>
            </c:multiLvlStrRef>
          </c:cat>
          <c:val>
            <c:numRef>
              <c:f>Sheet1!$B$2:$B$5</c:f>
              <c:numCache>
                <c:formatCode>General</c:formatCode>
                <c:ptCount val="4"/>
                <c:pt idx="0">
                  <c:v>10</c:v>
                </c:pt>
                <c:pt idx="1">
                  <c:v>15</c:v>
                </c:pt>
                <c:pt idx="2">
                  <c:v>15</c:v>
                </c:pt>
                <c:pt idx="3">
                  <c:v>5</c:v>
                </c:pt>
              </c:numCache>
            </c:numRef>
          </c:val>
        </c:ser>
        <c:ser>
          <c:idx val="1"/>
          <c:order val="1"/>
          <c:tx>
            <c:strRef>
              <c:f>Sheet1!$C$1</c:f>
              <c:strCache>
                <c:ptCount val="1"/>
                <c:pt idx="0">
                  <c:v>Tatsächlich</c:v>
                </c:pt>
              </c:strCache>
            </c:strRef>
          </c:tx>
          <c:spPr>
            <a:solidFill>
              <a:srgbClr val="0E7C66"/>
            </a:solidFill>
            <a:effectLst/>
          </c:spPr>
          <c:invertIfNegative val="0"/>
          <c:dLbls>
            <c:numFmt formatCode="General"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cat>
            <c:multiLvlStrRef>
              <c:f>Sheet1!$A$2:$A$5</c:f>
              <c:multiLvlStrCache>
                <c:ptCount val="4"/>
                <c:lvl>
                  <c:pt idx="0">
                    <c:v>Backend</c:v>
                  </c:pt>
                  <c:pt idx="1">
                    <c:v>Frontend</c:v>
                  </c:pt>
                  <c:pt idx="2">
                    <c:v>Tests</c:v>
                  </c:pt>
                  <c:pt idx="3">
                    <c:v>Doku</c:v>
                  </c:pt>
                </c:lvl>
              </c:multiLvlStrCache>
            </c:multiLvlStrRef>
          </c:cat>
          <c:val>
            <c:numRef>
              <c:f>Sheet1!$C$2:$C$5</c:f>
              <c:numCache>
                <c:formatCode>General</c:formatCode>
                <c:ptCount val="4"/>
                <c:pt idx="0">
                  <c:v>10</c:v>
                </c:pt>
                <c:pt idx="1">
                  <c:v>15</c:v>
                </c:pt>
                <c:pt idx="2">
                  <c:v>25</c:v>
                </c:pt>
                <c:pt idx="3">
                  <c:v>10</c:v>
                </c:pt>
              </c:numCache>
            </c:numRef>
          </c:val>
        </c:ser>
        <c:dLbls>
          <c:numFmt formatCode="General" sourceLinked="0"/>
          <c:txPr>
            <a:bodyPr/>
            <a:lstStyle/>
            <a:p>
              <a:pPr>
                <a:defRPr b="0" i="0" strike="noStrike" sz="1100" u="none">
                  <a:solidFill>
                    <a:srgbClr val="1B2A2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7B75"/>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C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7B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A2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KN05 teste ich die Student-App automatisch auf drei Arten: die REST-Schnittstelle mit Newman, das GUI mit Playwright im Browser und die Last mit JMeter. Als Bonus habe ich eine Validierung eingebaut.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die Übersicht. Newman testet nur die API, Playwright klickt sich wie ein Benutzer durch die Angular-App und JMeter schickt sehr viele Anfragen gleichzeitig ans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Übung 1: Ich habe eine Postman-Collection mit fünf Requests geschrieben. Newman führt sie auf der Kommandozeile aus, mit npm test. Alle neun Prüfungen sind grün und es gibt zusätzlich einen HTML-Report.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Übung 2: Playwright öffnet Chrome und klickt sich durch die App. Hier der Test, der einen neuen Studenten hinzufügt und dann prüft, ob er in der Liste steht. Der Browser läuft langsam, damit man im Video sieht, was passiert.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Übung 3: 100 Benutzer machen je 20 Mal einen GET und einen POST. Das sind 4000 Requests in 10 Sekunden, ohne einen einzigen Fehler. GET wird etwas langsamer, weil die Liste durch die vielen POSTs wächst.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Leerer Name oder falsche E-Mail gibt jetzt 400 im Backend, und das Frontend zeigt eine Fehlermeldung. Geschätzt waren 45 Minuten, gebraucht habe ich etwa 60. Am meisten unterschätzt habe ich die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Fazit: Für jede Ebene gibt es ein passendes Tool. Einmal aufgesetzt, laufen die Tests mit einem Befehl und liefern immer das gleiche Resultat.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rtlCol="0"/>
          <a:lstStyle>
            <a:lvl1pPr indent="0" marL="0">
              <a:buNone/>
              <a:defRPr lang="en-US" sz="1400" b="1"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
        <p:nvSpPr>
          <p:cNvPr id="5" name="Text 0"/>
          <p:cNvSpPr/>
          <p:nvPr/>
        </p:nvSpPr>
        <p:spPr>
          <a:xfrm>
            <a:off x="548640" y="4480560"/>
            <a:ext cx="5486400" cy="274320"/>
          </a:xfrm>
          <a:prstGeom prst="rect">
            <a:avLst/>
          </a:prstGeom>
          <a:noFill/>
          <a:ln/>
        </p:spPr>
        <p:txBody>
          <a:bodyPr wrap="square" lIns="0" tIns="0" rIns="0" bIns="0" rtlCol="0" anchor="ctr"/>
          <a:lstStyle/>
          <a:p>
            <a:pPr indent="0" marL="0">
              <a:buNone/>
            </a:pPr>
            <a:r>
              <a:rPr lang="en-US" sz="1100" dirty="0">
                <a:solidFill>
                  <a:schemeClr val="accent6"/>
                </a:solidFill>
              </a:rPr>
              <a:t>Denis · M450 Applikationen testen</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754880"/>
            <a:ext cx="3657600" cy="228600"/>
          </a:xfrm>
          <a:prstGeom prst="rect">
            <a:avLst/>
          </a:prstGeom>
          <a:noFill/>
          <a:ln/>
        </p:spPr>
        <p:txBody>
          <a:bodyPr wrap="square" lIns="0" tIns="0" rIns="0" bIns="0" rtlCol="0" anchor="ctr"/>
          <a:lstStyle/>
          <a:p>
            <a:pPr indent="0" marL="0">
              <a:buNone/>
            </a:pPr>
            <a:r>
              <a:rPr lang="en-US" sz="1000" dirty="0">
                <a:solidFill>
                  <a:schemeClr val="accent5"/>
                </a:solidFill>
              </a:rPr>
              <a:t>M450 · KN05</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lIns="0" tIns="0" rIns="0" bIns="0" rtlCol="0"/>
          <a:lstStyle/>
          <a:p>
            <a:pPr indent="0" marL="0">
              <a:buNone/>
            </a:pPr>
            <a:r>
              <a:rPr lang="en-US" sz="1400" b="1" dirty="0">
                <a:solidFill>
                  <a:schemeClr val="accent6"/>
                </a:solidFill>
              </a:rPr>
              <a:t>KN05</a:t>
            </a: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Automation Testing</a:t>
            </a: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lIns="0" tIns="0" rIns="0" bIns="0" rtlCol="0" anchor="t"/>
          <a:lstStyle/>
          <a:p>
            <a:pPr indent="0" marL="0">
              <a:buNone/>
            </a:pPr>
            <a:r>
              <a:rPr lang="en-US" sz="1800" dirty="0">
                <a:solidFill>
                  <a:schemeClr val="bg1"/>
                </a:solidFill>
              </a:rPr>
              <a:t>REST-Tests, End-to-End im Browser, Lasttest und ein eigenes Feature</a:t>
            </a:r>
            <a:endParaRPr lang="en-US" sz="1800" dirty="0"/>
          </a:p>
        </p:txBody>
      </p:sp>
      <p:sp>
        <p:nvSpPr>
          <p:cNvPr id="5" name="Status Kreis"/>
          <p:cNvSpPr/>
          <p:nvPr/>
        </p:nvSpPr>
        <p:spPr>
          <a:xfrm>
            <a:off x="7452360" y="1417320"/>
            <a:ext cx="1188720" cy="1188720"/>
          </a:xfrm>
          <a:prstGeom prst="ellipse">
            <a:avLst/>
          </a:prstGeom>
          <a:solidFill>
            <a:schemeClr val="accent1"/>
          </a:solidFill>
          <a:ln w="12700">
            <a:solidFill>
              <a:schemeClr val="accent1"/>
            </a:solidFill>
            <a:prstDash val="solid"/>
          </a:ln>
        </p:spPr>
      </p:sp>
      <p:sp>
        <p:nvSpPr>
          <p:cNvPr id="6" name="Haken"/>
          <p:cNvSpPr txBox="1"/>
          <p:nvPr/>
        </p:nvSpPr>
        <p:spPr>
          <a:xfrm>
            <a:off x="7452360" y="1417320"/>
            <a:ext cx="1188720" cy="1188720"/>
          </a:xfrm>
          <a:prstGeom prst="rect">
            <a:avLst/>
          </a:prstGeom>
          <a:noFill/>
          <a:ln/>
        </p:spPr>
        <p:txBody>
          <a:bodyPr wrap="square" lIns="0" tIns="0" rIns="0" bIns="0" rtlCol="0" anchor="ctr"/>
          <a:lstStyle/>
          <a:p>
            <a:pPr algn="ctr" indent="0" marL="0">
              <a:buNone/>
            </a:pPr>
            <a:r>
              <a:rPr lang="en-US" sz="4800" b="1" dirty="0">
                <a:solidFill>
                  <a:schemeClr val="bg1"/>
                </a:solidFill>
              </a:rPr>
              <a:t>✓</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Übersicht: Drei Tools, drei Ebenen</a:t>
            </a:r>
            <a:endParaRPr lang="en-US" sz="2800" dirty="0"/>
          </a:p>
        </p:txBody>
      </p:sp>
      <p:sp>
        <p:nvSpPr>
          <p:cNvPr id="4" name="Verbindung"/>
          <p:cNvSpPr/>
          <p:nvPr/>
        </p:nvSpPr>
        <p:spPr>
          <a:xfrm>
            <a:off x="1485900" y="1783080"/>
            <a:ext cx="6172200" cy="0"/>
          </a:xfrm>
          <a:prstGeom prst="line">
            <a:avLst/>
          </a:prstGeom>
          <a:noFill/>
          <a:ln w="38100">
            <a:solidFill>
              <a:schemeClr val="accent6"/>
            </a:solidFill>
            <a:prstDash val="solid"/>
          </a:ln>
        </p:spPr>
      </p:sp>
      <p:sp>
        <p:nvSpPr>
          <p:cNvPr id="5" name="Schritt Newman"/>
          <p:cNvSpPr/>
          <p:nvPr/>
        </p:nvSpPr>
        <p:spPr>
          <a:xfrm>
            <a:off x="1165860" y="1463040"/>
            <a:ext cx="640080" cy="640080"/>
          </a:xfrm>
          <a:prstGeom prst="ellipse">
            <a:avLst/>
          </a:prstGeom>
          <a:solidFill>
            <a:schemeClr val="accent3"/>
          </a:solidFill>
          <a:ln w="38100">
            <a:solidFill>
              <a:schemeClr val="bg1"/>
            </a:solidFill>
            <a:prstDash val="solid"/>
          </a:ln>
        </p:spPr>
      </p:sp>
      <p:sp>
        <p:nvSpPr>
          <p:cNvPr id="6" name="Text 3"/>
          <p:cNvSpPr txBox="1"/>
          <p:nvPr/>
        </p:nvSpPr>
        <p:spPr>
          <a:xfrm>
            <a:off x="1165860" y="1463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502920" y="2240280"/>
            <a:ext cx="1965960" cy="411480"/>
          </a:xfrm>
          <a:prstGeom prst="rect">
            <a:avLst/>
          </a:prstGeom>
          <a:noFill/>
          <a:ln/>
        </p:spPr>
        <p:txBody>
          <a:bodyPr wrap="square" lIns="0" tIns="0" rIns="0" bIns="0" rtlCol="0" anchor="t"/>
          <a:lstStyle/>
          <a:p>
            <a:pPr algn="ctr" indent="0" marL="0">
              <a:buNone/>
            </a:pPr>
            <a:r>
              <a:rPr lang="en-US" sz="1500" b="1" dirty="0">
                <a:solidFill>
                  <a:schemeClr val="tx2"/>
                </a:solidFill>
              </a:rPr>
              <a:t>Newman</a:t>
            </a:r>
            <a:endParaRPr lang="en-US" sz="1500" dirty="0"/>
          </a:p>
        </p:txBody>
      </p:sp>
      <p:sp>
        <p:nvSpPr>
          <p:cNvPr id="8" name="Text 5"/>
          <p:cNvSpPr txBox="1"/>
          <p:nvPr/>
        </p:nvSpPr>
        <p:spPr>
          <a:xfrm>
            <a:off x="530352" y="2651760"/>
            <a:ext cx="1911096" cy="1737360"/>
          </a:xfrm>
          <a:prstGeom prst="rect">
            <a:avLst/>
          </a:prstGeom>
          <a:noFill/>
          <a:ln/>
        </p:spPr>
        <p:txBody>
          <a:bodyPr wrap="square" lIns="0" tIns="0" rIns="0" bIns="0" rtlCol="0" anchor="t"/>
          <a:lstStyle/>
          <a:p>
            <a:pPr algn="ctr" indent="0" marL="0">
              <a:buNone/>
            </a:pPr>
            <a:r>
              <a:rPr lang="en-US" sz="1300" dirty="0">
                <a:solidFill>
                  <a:schemeClr val="tx1"/>
                </a:solidFill>
              </a:rPr>
              <a:t>REST-API automatisch testen (Postman)</a:t>
            </a:r>
            <a:endParaRPr lang="en-US" sz="1300" dirty="0"/>
          </a:p>
        </p:txBody>
      </p:sp>
      <p:sp>
        <p:nvSpPr>
          <p:cNvPr id="9" name="Schritt Playwright"/>
          <p:cNvSpPr/>
          <p:nvPr/>
        </p:nvSpPr>
        <p:spPr>
          <a:xfrm>
            <a:off x="3223260" y="1463040"/>
            <a:ext cx="640080" cy="640080"/>
          </a:xfrm>
          <a:prstGeom prst="ellipse">
            <a:avLst/>
          </a:prstGeom>
          <a:solidFill>
            <a:schemeClr val="accent3"/>
          </a:solidFill>
          <a:ln w="38100">
            <a:solidFill>
              <a:schemeClr val="bg1"/>
            </a:solidFill>
            <a:prstDash val="solid"/>
          </a:ln>
        </p:spPr>
      </p:sp>
      <p:sp>
        <p:nvSpPr>
          <p:cNvPr id="10" name="Text 7"/>
          <p:cNvSpPr txBox="1"/>
          <p:nvPr/>
        </p:nvSpPr>
        <p:spPr>
          <a:xfrm>
            <a:off x="3223260" y="1463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8"/>
          <p:cNvSpPr txBox="1"/>
          <p:nvPr/>
        </p:nvSpPr>
        <p:spPr>
          <a:xfrm>
            <a:off x="2560320" y="2240280"/>
            <a:ext cx="1965960" cy="411480"/>
          </a:xfrm>
          <a:prstGeom prst="rect">
            <a:avLst/>
          </a:prstGeom>
          <a:noFill/>
          <a:ln/>
        </p:spPr>
        <p:txBody>
          <a:bodyPr wrap="square" lIns="0" tIns="0" rIns="0" bIns="0" rtlCol="0" anchor="t"/>
          <a:lstStyle/>
          <a:p>
            <a:pPr algn="ctr" indent="0" marL="0">
              <a:buNone/>
            </a:pPr>
            <a:r>
              <a:rPr lang="en-US" sz="1500" b="1" dirty="0">
                <a:solidFill>
                  <a:schemeClr val="tx2"/>
                </a:solidFill>
              </a:rPr>
              <a:t>Playwright</a:t>
            </a:r>
            <a:endParaRPr lang="en-US" sz="1500" dirty="0"/>
          </a:p>
        </p:txBody>
      </p:sp>
      <p:sp>
        <p:nvSpPr>
          <p:cNvPr id="12" name="Text 9"/>
          <p:cNvSpPr txBox="1"/>
          <p:nvPr/>
        </p:nvSpPr>
        <p:spPr>
          <a:xfrm>
            <a:off x="2587752" y="2651760"/>
            <a:ext cx="1911096" cy="1737360"/>
          </a:xfrm>
          <a:prstGeom prst="rect">
            <a:avLst/>
          </a:prstGeom>
          <a:noFill/>
          <a:ln/>
        </p:spPr>
        <p:txBody>
          <a:bodyPr wrap="square" lIns="0" tIns="0" rIns="0" bIns="0" rtlCol="0" anchor="t"/>
          <a:lstStyle/>
          <a:p>
            <a:pPr algn="ctr" indent="0" marL="0">
              <a:buNone/>
            </a:pPr>
            <a:r>
              <a:rPr lang="en-US" sz="1300" dirty="0">
                <a:solidFill>
                  <a:schemeClr val="tx1"/>
                </a:solidFill>
              </a:rPr>
              <a:t>GUI im echten Chrome testen</a:t>
            </a:r>
            <a:endParaRPr lang="en-US" sz="1300" dirty="0"/>
          </a:p>
        </p:txBody>
      </p:sp>
      <p:sp>
        <p:nvSpPr>
          <p:cNvPr id="13" name="Schritt JMeter"/>
          <p:cNvSpPr/>
          <p:nvPr/>
        </p:nvSpPr>
        <p:spPr>
          <a:xfrm>
            <a:off x="5280660" y="1463040"/>
            <a:ext cx="640080" cy="640080"/>
          </a:xfrm>
          <a:prstGeom prst="ellipse">
            <a:avLst/>
          </a:prstGeom>
          <a:solidFill>
            <a:schemeClr val="accent3"/>
          </a:solidFill>
          <a:ln w="38100">
            <a:solidFill>
              <a:schemeClr val="bg1"/>
            </a:solidFill>
            <a:prstDash val="solid"/>
          </a:ln>
        </p:spPr>
      </p:sp>
      <p:sp>
        <p:nvSpPr>
          <p:cNvPr id="14" name="Text 11"/>
          <p:cNvSpPr txBox="1"/>
          <p:nvPr/>
        </p:nvSpPr>
        <p:spPr>
          <a:xfrm>
            <a:off x="5280660" y="1463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2"/>
          <p:cNvSpPr txBox="1"/>
          <p:nvPr/>
        </p:nvSpPr>
        <p:spPr>
          <a:xfrm>
            <a:off x="4617720" y="2240280"/>
            <a:ext cx="1965960" cy="411480"/>
          </a:xfrm>
          <a:prstGeom prst="rect">
            <a:avLst/>
          </a:prstGeom>
          <a:noFill/>
          <a:ln/>
        </p:spPr>
        <p:txBody>
          <a:bodyPr wrap="square" lIns="0" tIns="0" rIns="0" bIns="0" rtlCol="0" anchor="t"/>
          <a:lstStyle/>
          <a:p>
            <a:pPr algn="ctr" indent="0" marL="0">
              <a:buNone/>
            </a:pPr>
            <a:r>
              <a:rPr lang="en-US" sz="1500" b="1" dirty="0">
                <a:solidFill>
                  <a:schemeClr val="tx2"/>
                </a:solidFill>
              </a:rPr>
              <a:t>JMeter</a:t>
            </a:r>
            <a:endParaRPr lang="en-US" sz="1500" dirty="0"/>
          </a:p>
        </p:txBody>
      </p:sp>
      <p:sp>
        <p:nvSpPr>
          <p:cNvPr id="16" name="Text 13"/>
          <p:cNvSpPr txBox="1"/>
          <p:nvPr/>
        </p:nvSpPr>
        <p:spPr>
          <a:xfrm>
            <a:off x="4645152" y="2651760"/>
            <a:ext cx="1911096" cy="1737360"/>
          </a:xfrm>
          <a:prstGeom prst="rect">
            <a:avLst/>
          </a:prstGeom>
          <a:noFill/>
          <a:ln/>
        </p:spPr>
        <p:txBody>
          <a:bodyPr wrap="square" lIns="0" tIns="0" rIns="0" bIns="0" rtlCol="0" anchor="t"/>
          <a:lstStyle/>
          <a:p>
            <a:pPr algn="ctr" indent="0" marL="0">
              <a:buNone/>
            </a:pPr>
            <a:r>
              <a:rPr lang="en-US" sz="1300" dirty="0">
                <a:solidFill>
                  <a:schemeClr val="tx1"/>
                </a:solidFill>
              </a:rPr>
              <a:t>Backend mit 100 Benutzern belasten</a:t>
            </a:r>
            <a:endParaRPr lang="en-US" sz="1300" dirty="0"/>
          </a:p>
        </p:txBody>
      </p:sp>
      <p:sp>
        <p:nvSpPr>
          <p:cNvPr id="17" name="Schritt Bonus"/>
          <p:cNvSpPr/>
          <p:nvPr/>
        </p:nvSpPr>
        <p:spPr>
          <a:xfrm>
            <a:off x="7338060" y="1463040"/>
            <a:ext cx="640080" cy="640080"/>
          </a:xfrm>
          <a:prstGeom prst="ellipse">
            <a:avLst/>
          </a:prstGeom>
          <a:solidFill>
            <a:schemeClr val="accent1"/>
          </a:solidFill>
          <a:ln w="38100">
            <a:solidFill>
              <a:schemeClr val="bg1"/>
            </a:solidFill>
            <a:prstDash val="solid"/>
          </a:ln>
        </p:spPr>
      </p:sp>
      <p:sp>
        <p:nvSpPr>
          <p:cNvPr id="18" name="Text 15"/>
          <p:cNvSpPr txBox="1"/>
          <p:nvPr/>
        </p:nvSpPr>
        <p:spPr>
          <a:xfrm>
            <a:off x="7338060" y="146304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6"/>
          <p:cNvSpPr txBox="1"/>
          <p:nvPr/>
        </p:nvSpPr>
        <p:spPr>
          <a:xfrm>
            <a:off x="6675120" y="2240280"/>
            <a:ext cx="1965960" cy="411480"/>
          </a:xfrm>
          <a:prstGeom prst="rect">
            <a:avLst/>
          </a:prstGeom>
          <a:noFill/>
          <a:ln/>
        </p:spPr>
        <p:txBody>
          <a:bodyPr wrap="square" lIns="0" tIns="0" rIns="0" bIns="0" rtlCol="0" anchor="t"/>
          <a:lstStyle/>
          <a:p>
            <a:pPr algn="ctr" indent="0" marL="0">
              <a:buNone/>
            </a:pPr>
            <a:r>
              <a:rPr lang="en-US" sz="1500" b="1" dirty="0">
                <a:solidFill>
                  <a:schemeClr val="tx2"/>
                </a:solidFill>
              </a:rPr>
              <a:t>Bonus</a:t>
            </a:r>
            <a:endParaRPr lang="en-US" sz="1500" dirty="0"/>
          </a:p>
        </p:txBody>
      </p:sp>
      <p:sp>
        <p:nvSpPr>
          <p:cNvPr id="20" name="Text 17"/>
          <p:cNvSpPr txBox="1"/>
          <p:nvPr/>
        </p:nvSpPr>
        <p:spPr>
          <a:xfrm>
            <a:off x="6702552" y="2651760"/>
            <a:ext cx="1911096" cy="1737360"/>
          </a:xfrm>
          <a:prstGeom prst="rect">
            <a:avLst/>
          </a:prstGeom>
          <a:noFill/>
          <a:ln/>
        </p:spPr>
        <p:txBody>
          <a:bodyPr wrap="square" lIns="0" tIns="0" rIns="0" bIns="0" rtlCol="0" anchor="t"/>
          <a:lstStyle/>
          <a:p>
            <a:pPr algn="ctr" indent="0" marL="0">
              <a:buNone/>
            </a:pPr>
            <a:r>
              <a:rPr lang="en-US" sz="1300" dirty="0">
                <a:solidFill>
                  <a:schemeClr val="tx1"/>
                </a:solidFill>
              </a:rPr>
              <a:t>Validierung + Zeitschätzung</a:t>
            </a:r>
            <a:endParaRPr lang="en-US" sz="1300" dirty="0"/>
          </a:p>
        </p:txBody>
      </p:sp>
      <p:sp>
        <p:nvSpPr>
          <p:cNvPr id="21" name="Text 18"/>
          <p:cNvSpPr txBox="1"/>
          <p:nvPr/>
        </p:nvSpPr>
        <p:spPr>
          <a:xfrm>
            <a:off x="457200" y="4023360"/>
            <a:ext cx="8229600" cy="411480"/>
          </a:xfrm>
          <a:prstGeom prst="rect">
            <a:avLst/>
          </a:prstGeom>
          <a:noFill/>
          <a:ln/>
        </p:spPr>
        <p:txBody>
          <a:bodyPr wrap="square" lIns="0" tIns="0" rIns="0" bIns="0" rtlCol="0" anchor="ctr"/>
          <a:lstStyle/>
          <a:p>
            <a:pPr indent="0" marL="0">
              <a:buNone/>
            </a:pPr>
            <a:r>
              <a:rPr lang="en-US" sz="1400" i="1" dirty="0">
                <a:solidFill>
                  <a:schemeClr val="accent5"/>
                </a:solidFill>
              </a:rPr>
              <a:t>Jedes Tool startet mit einem Befehl und erstellt einen HTML-Report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Übung 1: REST-Tests mit Newman</a:t>
            </a:r>
            <a:endParaRPr lang="en-US" sz="2800" dirty="0"/>
          </a:p>
        </p:txBody>
      </p:sp>
      <p:graphicFrame>
        <p:nvGraphicFramePr>
          <p:cNvPr id="4" name="Tabelle"/>
          <p:cNvGraphicFramePr>
            <a:graphicFrameLocks noGrp="1"/>
          </p:cNvGraphicFramePr>
          <p:nvPr>
            <p:extLst>
              <p:ext uri="{D42A27DB-BD31-4B8C-83A1-F6EECF244321}">
                <p14:modId xmlns:p14="http://schemas.microsoft.com/office/powerpoint/2010/main" val="1579011935"/>
              </p:ext>
            </p:extLst>
          </p:nvPr>
        </p:nvGraphicFramePr>
        <p:xfrm>
          <a:off x="457200" y="1097280"/>
          <a:ext cx="5303520" cy="914400"/>
        </p:xfrm>
        <a:graphic>
          <a:graphicData uri="http://schemas.openxmlformats.org/drawingml/2006/table">
            <a:tbl>
              <a:tblPr/>
              <a:tblGrid>
                <a:gridCol w="2011680"/>
                <a:gridCol w="3291840"/>
              </a:tblGrid>
              <a:tr h="457200">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Request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Prüfung</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tx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 /students</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200, Liste, Jonas drin, &lt; 500 ms</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POST /students</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 /students</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Ein Eintrag mehr, E-Mail stimmt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POST falsche E-Mail</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400</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1"/>
                    </a:solidFill>
                  </a:tcPr>
                </a:tc>
              </a:tr>
              <a:tr h="457200">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GET /gibtsnicht</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404</a:t>
                      </a:r>
                      <a:endParaRPr lang="en-US" sz="1400" dirty="0">
                        <a:latin typeface="Calibri" charset="0"/>
                        <a:ea typeface="Calibri" charset="0"/>
                        <a:cs typeface="Calibri" charset="0"/>
                      </a:endParaRPr>
                    </a:p>
                  </a:txBody>
                  <a:tcPr marL="54864" marR="54864" marT="54864" marB="54864" anchor="ctr">
                    <a:lnL w="9525" cap="flat" cmpd="sng" algn="ctr">
                      <a:solidFill>
                        <a:srgbClr val="D3E0DB"/>
                      </a:solidFill>
                      <a:prstDash val="solid"/>
                      <a:round/>
                      <a:headEnd type="none" w="med" len="med"/>
                      <a:tailEnd type="none" w="med" len="med"/>
                    </a:lnL>
                    <a:lnR w="9525" cap="flat" cmpd="sng" algn="ctr">
                      <a:solidFill>
                        <a:srgbClr val="D3E0DB"/>
                      </a:solidFill>
                      <a:prstDash val="solid"/>
                      <a:round/>
                      <a:headEnd type="none" w="med" len="med"/>
                      <a:tailEnd type="none" w="med" len="med"/>
                    </a:lnR>
                    <a:lnT w="9525" cap="flat" cmpd="sng" algn="ctr">
                      <a:solidFill>
                        <a:srgbClr val="D3E0DB"/>
                      </a:solidFill>
                      <a:prstDash val="solid"/>
                      <a:round/>
                      <a:headEnd type="none" w="med" len="med"/>
                      <a:tailEnd type="none" w="med" len="med"/>
                    </a:lnT>
                    <a:lnB w="9525" cap="flat" cmpd="sng" algn="ctr">
                      <a:solidFill>
                        <a:srgbClr val="D3E0DB"/>
                      </a:solidFill>
                      <a:prstDash val="solid"/>
                      <a:round/>
                      <a:headEnd type="none" w="med" len="med"/>
                      <a:tailEnd type="none" w="med" len="med"/>
                    </a:lnB>
                    <a:solidFill>
                      <a:schemeClr val="bg2"/>
                    </a:solidFill>
                  </a:tcPr>
                </a:tc>
              </a:tr>
            </a:tbl>
          </a:graphicData>
        </a:graphic>
      </p:graphicFrame>
      <p:sp>
        <p:nvSpPr>
          <p:cNvPr id="5" name="Kennzahl Assertions grün"/>
          <p:cNvSpPr/>
          <p:nvPr/>
        </p:nvSpPr>
        <p:spPr>
          <a:xfrm>
            <a:off x="6035040" y="1097280"/>
            <a:ext cx="2651760" cy="1463040"/>
          </a:xfrm>
          <a:prstGeom prst="roundRect">
            <a:avLst>
              <a:gd name="adj" fmla="val 5000"/>
            </a:avLst>
          </a:prstGeom>
          <a:solidFill>
            <a:schemeClr val="bg2"/>
          </a:solidFill>
          <a:ln w="12700">
            <a:solidFill>
              <a:schemeClr val="bg2"/>
            </a:solidFill>
            <a:prstDash val="solid"/>
          </a:ln>
        </p:spPr>
      </p:sp>
      <p:sp>
        <p:nvSpPr>
          <p:cNvPr id="6" name="Text 2"/>
          <p:cNvSpPr txBox="1"/>
          <p:nvPr/>
        </p:nvSpPr>
        <p:spPr>
          <a:xfrm>
            <a:off x="6035040" y="1234440"/>
            <a:ext cx="2651760" cy="7772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9 / 9</a:t>
            </a:r>
            <a:endParaRPr lang="en-US" sz="3600" dirty="0"/>
          </a:p>
        </p:txBody>
      </p:sp>
      <p:sp>
        <p:nvSpPr>
          <p:cNvPr id="7" name="Text 3"/>
          <p:cNvSpPr txBox="1"/>
          <p:nvPr/>
        </p:nvSpPr>
        <p:spPr>
          <a:xfrm>
            <a:off x="6126480" y="2011680"/>
            <a:ext cx="2468880" cy="457200"/>
          </a:xfrm>
          <a:prstGeom prst="rect">
            <a:avLst/>
          </a:prstGeom>
          <a:noFill/>
          <a:ln/>
        </p:spPr>
        <p:txBody>
          <a:bodyPr wrap="square" lIns="0" tIns="0" rIns="0" bIns="0" rtlCol="0" anchor="t"/>
          <a:lstStyle/>
          <a:p>
            <a:pPr algn="ctr" indent="0" marL="0">
              <a:buNone/>
            </a:pPr>
            <a:r>
              <a:rPr lang="en-US" sz="1200" dirty="0">
                <a:solidFill>
                  <a:schemeClr val="tx1"/>
                </a:solidFill>
              </a:rPr>
              <a:t>Assertions grün</a:t>
            </a:r>
            <a:endParaRPr lang="en-US" sz="1200" dirty="0"/>
          </a:p>
        </p:txBody>
      </p:sp>
      <p:sp>
        <p:nvSpPr>
          <p:cNvPr id="8" name="Code Box"/>
          <p:cNvSpPr/>
          <p:nvPr/>
        </p:nvSpPr>
        <p:spPr>
          <a:xfrm>
            <a:off x="6035040" y="2834640"/>
            <a:ext cx="2651760" cy="914400"/>
          </a:xfrm>
          <a:prstGeom prst="roundRect">
            <a:avLst>
              <a:gd name="adj" fmla="val 8000"/>
            </a:avLst>
          </a:prstGeom>
          <a:solidFill>
            <a:schemeClr val="tx1"/>
          </a:solidFill>
          <a:ln w="12700">
            <a:solidFill>
              <a:schemeClr val="tx1"/>
            </a:solidFill>
            <a:prstDash val="solid"/>
          </a:ln>
        </p:spPr>
      </p:sp>
      <p:sp>
        <p:nvSpPr>
          <p:cNvPr id="9" name="Code"/>
          <p:cNvSpPr txBox="1"/>
          <p:nvPr/>
        </p:nvSpPr>
        <p:spPr>
          <a:xfrm>
            <a:off x="6217920" y="3017520"/>
            <a:ext cx="2286000" cy="59436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cd rest-tests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npm test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Übung 2: End-to-End mit Playwright</a:t>
            </a:r>
            <a:endParaRPr lang="en-US" sz="2800" dirty="0"/>
          </a:p>
        </p:txBody>
      </p:sp>
      <p:sp>
        <p:nvSpPr>
          <p:cNvPr id="4" name="Code Box"/>
          <p:cNvSpPr/>
          <p:nvPr/>
        </p:nvSpPr>
        <p:spPr>
          <a:xfrm>
            <a:off x="457200" y="1097280"/>
            <a:ext cx="5394960" cy="3429000"/>
          </a:xfrm>
          <a:prstGeom prst="roundRect">
            <a:avLst>
              <a:gd name="adj" fmla="val 2133"/>
            </a:avLst>
          </a:prstGeom>
          <a:solidFill>
            <a:schemeClr val="tx1"/>
          </a:solidFill>
          <a:ln w="12700">
            <a:solidFill>
              <a:schemeClr val="tx1"/>
            </a:solidFill>
            <a:prstDash val="solid"/>
          </a:ln>
        </p:spPr>
      </p:sp>
      <p:sp>
        <p:nvSpPr>
          <p:cNvPr id="5" name="Text 2"/>
          <p:cNvSpPr txBox="1"/>
          <p:nvPr/>
        </p:nvSpPr>
        <p:spPr>
          <a:xfrm>
            <a:off x="640080" y="1207008"/>
            <a:ext cx="5029200" cy="274320"/>
          </a:xfrm>
          <a:prstGeom prst="rect">
            <a:avLst/>
          </a:prstGeom>
          <a:noFill/>
          <a:ln/>
        </p:spPr>
        <p:txBody>
          <a:bodyPr wrap="square" lIns="0" tIns="0" rIns="0" bIns="0" rtlCol="0" anchor="ctr"/>
          <a:lstStyle/>
          <a:p>
            <a:pPr indent="0" marL="0">
              <a:buNone/>
            </a:pPr>
            <a:r>
              <a:rPr lang="en-US" sz="1100" b="1" dirty="0">
                <a:solidFill>
                  <a:schemeClr val="accent6"/>
                </a:solidFill>
              </a:rPr>
              <a:t>students.spec.js</a:t>
            </a:r>
            <a:endParaRPr lang="en-US" sz="1100" dirty="0"/>
          </a:p>
        </p:txBody>
      </p:sp>
      <p:sp>
        <p:nvSpPr>
          <p:cNvPr id="6" name="Code"/>
          <p:cNvSpPr txBox="1"/>
          <p:nvPr/>
        </p:nvSpPr>
        <p:spPr>
          <a:xfrm>
            <a:off x="640080" y="1508760"/>
            <a:ext cx="5029200" cy="288036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await page.getByText('Add Students').click();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await page.getByLabel('Name').fill(name);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await page.getByLabel('Email').fill(email);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await page.getByRole('button',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name: 'Submit' }).click();</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await expect(page).toHaveURL(/students/);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await expect(page.getByRole('cell',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name, exact: true })).toBeVisible();</a:t>
            </a:r>
            <a:endParaRPr lang="en-US" sz="1200" dirty="0"/>
          </a:p>
        </p:txBody>
      </p:sp>
      <p:sp>
        <p:nvSpPr>
          <p:cNvPr id="7" name="Kennzahl E2E-Tests grün"/>
          <p:cNvSpPr/>
          <p:nvPr/>
        </p:nvSpPr>
        <p:spPr>
          <a:xfrm>
            <a:off x="6126480" y="1097280"/>
            <a:ext cx="2560320" cy="1463040"/>
          </a:xfrm>
          <a:prstGeom prst="roundRect">
            <a:avLst>
              <a:gd name="adj" fmla="val 5000"/>
            </a:avLst>
          </a:prstGeom>
          <a:solidFill>
            <a:schemeClr val="bg2"/>
          </a:solidFill>
          <a:ln w="12700">
            <a:solidFill>
              <a:schemeClr val="bg2"/>
            </a:solidFill>
            <a:prstDash val="solid"/>
          </a:ln>
        </p:spPr>
      </p:sp>
      <p:sp>
        <p:nvSpPr>
          <p:cNvPr id="8" name="Text 5"/>
          <p:cNvSpPr txBox="1"/>
          <p:nvPr/>
        </p:nvSpPr>
        <p:spPr>
          <a:xfrm>
            <a:off x="6126480" y="1234440"/>
            <a:ext cx="2560320" cy="777240"/>
          </a:xfrm>
          <a:prstGeom prst="rect">
            <a:avLst/>
          </a:prstGeom>
          <a:noFill/>
          <a:ln/>
        </p:spPr>
        <p:txBody>
          <a:bodyPr wrap="square" lIns="0" tIns="0" rIns="0" bIns="0" rtlCol="0" anchor="ctr"/>
          <a:lstStyle/>
          <a:p>
            <a:pPr algn="ctr" indent="0" marL="0">
              <a:buNone/>
            </a:pPr>
            <a:r>
              <a:rPr lang="en-US" sz="3600" b="1" dirty="0">
                <a:solidFill>
                  <a:schemeClr val="accent1"/>
                </a:solidFill>
                <a:latin typeface="Cambria" pitchFamily="34" charset="0"/>
                <a:ea typeface="Cambria" pitchFamily="34" charset="-122"/>
                <a:cs typeface="Cambria" pitchFamily="34" charset="-120"/>
              </a:rPr>
              <a:t>5 / 5</a:t>
            </a:r>
            <a:endParaRPr lang="en-US" sz="3600" dirty="0"/>
          </a:p>
        </p:txBody>
      </p:sp>
      <p:sp>
        <p:nvSpPr>
          <p:cNvPr id="9" name="Text 6"/>
          <p:cNvSpPr txBox="1"/>
          <p:nvPr/>
        </p:nvSpPr>
        <p:spPr>
          <a:xfrm>
            <a:off x="6217920" y="2011680"/>
            <a:ext cx="2377440" cy="457200"/>
          </a:xfrm>
          <a:prstGeom prst="rect">
            <a:avLst/>
          </a:prstGeom>
          <a:noFill/>
          <a:ln/>
        </p:spPr>
        <p:txBody>
          <a:bodyPr wrap="square" lIns="0" tIns="0" rIns="0" bIns="0" rtlCol="0" anchor="t"/>
          <a:lstStyle/>
          <a:p>
            <a:pPr algn="ctr" indent="0" marL="0">
              <a:buNone/>
            </a:pPr>
            <a:r>
              <a:rPr lang="en-US" sz="1200" dirty="0">
                <a:solidFill>
                  <a:schemeClr val="tx1"/>
                </a:solidFill>
              </a:rPr>
              <a:t>E2E-Tests grün</a:t>
            </a:r>
            <a:endParaRPr lang="en-US" sz="1200" dirty="0"/>
          </a:p>
        </p:txBody>
      </p:sp>
      <p:sp>
        <p:nvSpPr>
          <p:cNvPr id="10" name="Text 7"/>
          <p:cNvSpPr txBox="1"/>
          <p:nvPr/>
        </p:nvSpPr>
        <p:spPr>
          <a:xfrm>
            <a:off x="6217920" y="2834640"/>
            <a:ext cx="2468880" cy="12801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Screenshot + Video pro Test</a:t>
            </a:r>
            <a:endParaRPr lang="en-US" sz="1400" dirty="0"/>
          </a:p>
          <a:p>
            <a:pPr marL="342900" indent="-342900">
              <a:spcAft>
                <a:spcPts val="800"/>
              </a:spcAft>
              <a:buSzPct val="100000"/>
              <a:buChar char="•"/>
            </a:pPr>
            <a:r>
              <a:rPr lang="en-US" sz="1400" dirty="0">
                <a:solidFill>
                  <a:schemeClr val="tx1"/>
                </a:solidFill>
              </a:rPr>
              <a:t>HTML-Report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Übung 3: Lasttest mit JMeter</a:t>
            </a:r>
            <a:endParaRPr lang="en-US" sz="2800" dirty="0"/>
          </a:p>
        </p:txBody>
      </p:sp>
      <p:sp>
        <p:nvSpPr>
          <p:cNvPr id="4" name="Kennzahl Requests"/>
          <p:cNvSpPr/>
          <p:nvPr/>
        </p:nvSpPr>
        <p:spPr>
          <a:xfrm>
            <a:off x="457200" y="1097280"/>
            <a:ext cx="1097280" cy="1463040"/>
          </a:xfrm>
          <a:prstGeom prst="roundRect">
            <a:avLst>
              <a:gd name="adj" fmla="val 6667"/>
            </a:avLst>
          </a:prstGeom>
          <a:solidFill>
            <a:schemeClr val="bg2"/>
          </a:solidFill>
          <a:ln w="12700">
            <a:solidFill>
              <a:schemeClr val="bg2"/>
            </a:solidFill>
            <a:prstDash val="solid"/>
          </a:ln>
        </p:spPr>
      </p:sp>
      <p:sp>
        <p:nvSpPr>
          <p:cNvPr id="5" name="Text 2"/>
          <p:cNvSpPr txBox="1"/>
          <p:nvPr/>
        </p:nvSpPr>
        <p:spPr>
          <a:xfrm>
            <a:off x="457200" y="1234440"/>
            <a:ext cx="1097280" cy="77724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4000</a:t>
            </a:r>
            <a:endParaRPr lang="en-US" sz="2600" dirty="0"/>
          </a:p>
        </p:txBody>
      </p:sp>
      <p:sp>
        <p:nvSpPr>
          <p:cNvPr id="6" name="Text 3"/>
          <p:cNvSpPr txBox="1"/>
          <p:nvPr/>
        </p:nvSpPr>
        <p:spPr>
          <a:xfrm>
            <a:off x="548640" y="2011680"/>
            <a:ext cx="914400" cy="457200"/>
          </a:xfrm>
          <a:prstGeom prst="rect">
            <a:avLst/>
          </a:prstGeom>
          <a:noFill/>
          <a:ln/>
        </p:spPr>
        <p:txBody>
          <a:bodyPr wrap="square" lIns="0" tIns="0" rIns="0" bIns="0" rtlCol="0" anchor="t"/>
          <a:lstStyle/>
          <a:p>
            <a:pPr algn="ctr" indent="0" marL="0">
              <a:buNone/>
            </a:pPr>
            <a:r>
              <a:rPr lang="en-US" sz="1200" dirty="0">
                <a:solidFill>
                  <a:schemeClr val="tx1"/>
                </a:solidFill>
              </a:rPr>
              <a:t>Requests</a:t>
            </a:r>
            <a:endParaRPr lang="en-US" sz="1200" dirty="0"/>
          </a:p>
        </p:txBody>
      </p:sp>
      <p:sp>
        <p:nvSpPr>
          <p:cNvPr id="7" name="Kennzahl Fehler"/>
          <p:cNvSpPr/>
          <p:nvPr/>
        </p:nvSpPr>
        <p:spPr>
          <a:xfrm>
            <a:off x="1828800" y="1097280"/>
            <a:ext cx="1097280" cy="1463040"/>
          </a:xfrm>
          <a:prstGeom prst="roundRect">
            <a:avLst>
              <a:gd name="adj" fmla="val 6667"/>
            </a:avLst>
          </a:prstGeom>
          <a:solidFill>
            <a:schemeClr val="bg2"/>
          </a:solidFill>
          <a:ln w="12700">
            <a:solidFill>
              <a:schemeClr val="bg2"/>
            </a:solidFill>
            <a:prstDash val="solid"/>
          </a:ln>
        </p:spPr>
      </p:sp>
      <p:sp>
        <p:nvSpPr>
          <p:cNvPr id="8" name="Text 5"/>
          <p:cNvSpPr txBox="1"/>
          <p:nvPr/>
        </p:nvSpPr>
        <p:spPr>
          <a:xfrm>
            <a:off x="1828800" y="1234440"/>
            <a:ext cx="1097280" cy="77724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0 %</a:t>
            </a:r>
            <a:endParaRPr lang="en-US" sz="2600" dirty="0"/>
          </a:p>
        </p:txBody>
      </p:sp>
      <p:sp>
        <p:nvSpPr>
          <p:cNvPr id="9" name="Text 6"/>
          <p:cNvSpPr txBox="1"/>
          <p:nvPr/>
        </p:nvSpPr>
        <p:spPr>
          <a:xfrm>
            <a:off x="1920240" y="2011680"/>
            <a:ext cx="914400" cy="457200"/>
          </a:xfrm>
          <a:prstGeom prst="rect">
            <a:avLst/>
          </a:prstGeom>
          <a:noFill/>
          <a:ln/>
        </p:spPr>
        <p:txBody>
          <a:bodyPr wrap="square" lIns="0" tIns="0" rIns="0" bIns="0" rtlCol="0" anchor="t"/>
          <a:lstStyle/>
          <a:p>
            <a:pPr algn="ctr" indent="0" marL="0">
              <a:buNone/>
            </a:pPr>
            <a:r>
              <a:rPr lang="en-US" sz="1200" dirty="0">
                <a:solidFill>
                  <a:schemeClr val="tx1"/>
                </a:solidFill>
              </a:rPr>
              <a:t>Fehler</a:t>
            </a:r>
            <a:endParaRPr lang="en-US" sz="1200" dirty="0"/>
          </a:p>
        </p:txBody>
      </p:sp>
      <p:sp>
        <p:nvSpPr>
          <p:cNvPr id="10" name="Kennzahl Durchsatz"/>
          <p:cNvSpPr/>
          <p:nvPr/>
        </p:nvSpPr>
        <p:spPr>
          <a:xfrm>
            <a:off x="3200400" y="1097280"/>
            <a:ext cx="1097280" cy="1463040"/>
          </a:xfrm>
          <a:prstGeom prst="roundRect">
            <a:avLst>
              <a:gd name="adj" fmla="val 6667"/>
            </a:avLst>
          </a:prstGeom>
          <a:solidFill>
            <a:schemeClr val="bg2"/>
          </a:solidFill>
          <a:ln w="12700">
            <a:solidFill>
              <a:schemeClr val="bg2"/>
            </a:solidFill>
            <a:prstDash val="solid"/>
          </a:ln>
        </p:spPr>
      </p:sp>
      <p:sp>
        <p:nvSpPr>
          <p:cNvPr id="11" name="Text 8"/>
          <p:cNvSpPr txBox="1"/>
          <p:nvPr/>
        </p:nvSpPr>
        <p:spPr>
          <a:xfrm>
            <a:off x="3200400" y="1234440"/>
            <a:ext cx="1097280" cy="777240"/>
          </a:xfrm>
          <a:prstGeom prst="rect">
            <a:avLst/>
          </a:prstGeom>
          <a:noFill/>
          <a:ln/>
        </p:spPr>
        <p:txBody>
          <a:bodyPr wrap="square" lIns="0" tIns="0" rIns="0" bIns="0" rtlCol="0" anchor="ctr"/>
          <a:lstStyle/>
          <a:p>
            <a:pPr algn="ctr" indent="0" marL="0">
              <a:buNone/>
            </a:pPr>
            <a:r>
              <a:rPr lang="en-US" sz="2600" b="1" dirty="0">
                <a:solidFill>
                  <a:schemeClr val="accent1"/>
                </a:solidFill>
                <a:latin typeface="Cambria" pitchFamily="34" charset="0"/>
                <a:ea typeface="Cambria" pitchFamily="34" charset="-122"/>
                <a:cs typeface="Cambria" pitchFamily="34" charset="-120"/>
              </a:rPr>
              <a:t>409/s</a:t>
            </a:r>
            <a:endParaRPr lang="en-US" sz="2600" dirty="0"/>
          </a:p>
        </p:txBody>
      </p:sp>
      <p:sp>
        <p:nvSpPr>
          <p:cNvPr id="12" name="Text 9"/>
          <p:cNvSpPr txBox="1"/>
          <p:nvPr/>
        </p:nvSpPr>
        <p:spPr>
          <a:xfrm>
            <a:off x="3291840" y="2011680"/>
            <a:ext cx="914400" cy="457200"/>
          </a:xfrm>
          <a:prstGeom prst="rect">
            <a:avLst/>
          </a:prstGeom>
          <a:noFill/>
          <a:ln/>
        </p:spPr>
        <p:txBody>
          <a:bodyPr wrap="square" lIns="0" tIns="0" rIns="0" bIns="0" rtlCol="0" anchor="t"/>
          <a:lstStyle/>
          <a:p>
            <a:pPr algn="ctr" indent="0" marL="0">
              <a:buNone/>
            </a:pPr>
            <a:r>
              <a:rPr lang="en-US" sz="1200" dirty="0">
                <a:solidFill>
                  <a:schemeClr val="tx1"/>
                </a:solidFill>
              </a:rPr>
              <a:t>Durchsatz</a:t>
            </a:r>
            <a:endParaRPr lang="en-US" sz="1200" dirty="0"/>
          </a:p>
        </p:txBody>
      </p:sp>
      <p:sp>
        <p:nvSpPr>
          <p:cNvPr id="13" name="Text 10"/>
          <p:cNvSpPr txBox="1"/>
          <p:nvPr/>
        </p:nvSpPr>
        <p:spPr>
          <a:xfrm>
            <a:off x="457200" y="2834640"/>
            <a:ext cx="3840480" cy="1645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100 Benutzer, Ramp-Up 10 s</a:t>
            </a:r>
            <a:endParaRPr lang="en-US" sz="1400" dirty="0"/>
          </a:p>
          <a:p>
            <a:pPr marL="342900" indent="-342900">
              <a:spcAft>
                <a:spcPts val="800"/>
              </a:spcAft>
              <a:buSzPct val="100000"/>
              <a:buChar char="•"/>
            </a:pPr>
            <a:r>
              <a:rPr lang="en-US" sz="1400" dirty="0">
                <a:solidFill>
                  <a:schemeClr val="tx1"/>
                </a:solidFill>
              </a:rPr>
              <a:t>HTML-Dashboard mit -e -o report</a:t>
            </a:r>
            <a:endParaRPr lang="en-US" sz="1400" dirty="0"/>
          </a:p>
          <a:p>
            <a:pPr marL="342900" indent="-342900">
              <a:spcAft>
                <a:spcPts val="800"/>
              </a:spcAft>
              <a:buSzPct val="100000"/>
              <a:buChar char="•"/>
            </a:pPr>
            <a:r>
              <a:rPr lang="en-US" sz="1400" dirty="0">
                <a:solidFill>
                  <a:schemeClr val="tx1"/>
                </a:solidFill>
              </a:rPr>
              <a:t>Kein Paging: GET wird langsamer</a:t>
            </a:r>
            <a:endParaRPr lang="en-US" sz="1400" dirty="0"/>
          </a:p>
        </p:txBody>
      </p:sp>
      <p:graphicFrame>
        <p:nvGraphicFramePr>
          <p:cNvPr id="14" name="Antwortzeiten in ms" descr=""/>
          <p:cNvGraphicFramePr/>
          <p:nvPr/>
        </p:nvGraphicFramePr>
        <p:xfrm>
          <a:off x="4572000" y="1051560"/>
          <a:ext cx="4114800" cy="34747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Bonus: Validierung und Zeitschätzung</a:t>
            </a:r>
            <a:endParaRPr lang="en-US" sz="2800" dirty="0"/>
          </a:p>
        </p:txBody>
      </p:sp>
      <p:sp>
        <p:nvSpPr>
          <p:cNvPr id="4" name="Karte Backend"/>
          <p:cNvSpPr/>
          <p:nvPr/>
        </p:nvSpPr>
        <p:spPr>
          <a:xfrm>
            <a:off x="457200" y="1097280"/>
            <a:ext cx="3840480" cy="1577340"/>
          </a:xfrm>
          <a:prstGeom prst="roundRect">
            <a:avLst>
              <a:gd name="adj" fmla="val 4638"/>
            </a:avLst>
          </a:prstGeom>
          <a:solidFill>
            <a:schemeClr val="bg2"/>
          </a:solidFill>
          <a:ln w="12700">
            <a:solidFill>
              <a:schemeClr val="bg2"/>
            </a:solidFill>
            <a:prstDash val="solid"/>
          </a:ln>
        </p:spPr>
      </p:sp>
      <p:sp>
        <p:nvSpPr>
          <p:cNvPr id="5" name="Badge 1"/>
          <p:cNvSpPr/>
          <p:nvPr/>
        </p:nvSpPr>
        <p:spPr>
          <a:xfrm>
            <a:off x="640080" y="1280160"/>
            <a:ext cx="384048" cy="384048"/>
          </a:xfrm>
          <a:prstGeom prst="ellipse">
            <a:avLst/>
          </a:prstGeom>
          <a:solidFill>
            <a:schemeClr val="accent3"/>
          </a:solidFill>
          <a:ln w="12700">
            <a:solidFill>
              <a:schemeClr val="accent3"/>
            </a:solidFill>
            <a:prstDash val="solid"/>
          </a:ln>
        </p:spPr>
      </p:sp>
      <p:sp>
        <p:nvSpPr>
          <p:cNvPr id="6" name="Text 3"/>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143000" y="1252728"/>
            <a:ext cx="301752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Backend</a:t>
            </a:r>
            <a:endParaRPr lang="en-US" sz="1600" dirty="0"/>
          </a:p>
        </p:txBody>
      </p:sp>
      <p:sp>
        <p:nvSpPr>
          <p:cNvPr id="8" name="Text 5"/>
          <p:cNvSpPr txBox="1"/>
          <p:nvPr/>
        </p:nvSpPr>
        <p:spPr>
          <a:xfrm>
            <a:off x="640080" y="1828800"/>
            <a:ext cx="3474720" cy="73609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@NotBlank, @Email, @Valid → 400</a:t>
            </a:r>
            <a:endParaRPr lang="en-US" sz="1400" dirty="0"/>
          </a:p>
        </p:txBody>
      </p:sp>
      <p:sp>
        <p:nvSpPr>
          <p:cNvPr id="9" name="Karte Frontend"/>
          <p:cNvSpPr/>
          <p:nvPr/>
        </p:nvSpPr>
        <p:spPr>
          <a:xfrm>
            <a:off x="457200" y="2948940"/>
            <a:ext cx="3840480" cy="1577340"/>
          </a:xfrm>
          <a:prstGeom prst="roundRect">
            <a:avLst>
              <a:gd name="adj" fmla="val 4638"/>
            </a:avLst>
          </a:prstGeom>
          <a:solidFill>
            <a:schemeClr val="bg2"/>
          </a:solidFill>
          <a:ln w="12700">
            <a:solidFill>
              <a:schemeClr val="bg2"/>
            </a:solidFill>
            <a:prstDash val="solid"/>
          </a:ln>
        </p:spPr>
      </p:sp>
      <p:sp>
        <p:nvSpPr>
          <p:cNvPr id="10" name="Badge 2"/>
          <p:cNvSpPr/>
          <p:nvPr/>
        </p:nvSpPr>
        <p:spPr>
          <a:xfrm>
            <a:off x="640080" y="3131820"/>
            <a:ext cx="384048" cy="384048"/>
          </a:xfrm>
          <a:prstGeom prst="ellipse">
            <a:avLst/>
          </a:prstGeom>
          <a:solidFill>
            <a:schemeClr val="accent3"/>
          </a:solidFill>
          <a:ln w="12700">
            <a:solidFill>
              <a:schemeClr val="accent3"/>
            </a:solidFill>
            <a:prstDash val="solid"/>
          </a:ln>
        </p:spPr>
      </p:sp>
      <p:sp>
        <p:nvSpPr>
          <p:cNvPr id="11" name="Text 8"/>
          <p:cNvSpPr txBox="1"/>
          <p:nvPr/>
        </p:nvSpPr>
        <p:spPr>
          <a:xfrm>
            <a:off x="640080" y="31318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1143000" y="3104388"/>
            <a:ext cx="3017520" cy="438912"/>
          </a:xfrm>
          <a:prstGeom prst="rect">
            <a:avLst/>
          </a:prstGeom>
          <a:noFill/>
          <a:ln/>
        </p:spPr>
        <p:txBody>
          <a:bodyPr wrap="square" lIns="0" tIns="0" rIns="0" bIns="0" rtlCol="0" anchor="ctr">
            <a:normAutofit/>
          </a:bodyPr>
          <a:lstStyle/>
          <a:p>
            <a:pPr indent="0" marL="0">
              <a:buNone/>
            </a:pPr>
            <a:r>
              <a:rPr lang="en-US" sz="1600" b="1" dirty="0">
                <a:solidFill>
                  <a:schemeClr val="tx2"/>
                </a:solidFill>
              </a:rPr>
              <a:t>Frontend</a:t>
            </a:r>
            <a:endParaRPr lang="en-US" sz="1600" dirty="0"/>
          </a:p>
        </p:txBody>
      </p:sp>
      <p:sp>
        <p:nvSpPr>
          <p:cNvPr id="13" name="Text 10"/>
          <p:cNvSpPr txBox="1"/>
          <p:nvPr/>
        </p:nvSpPr>
        <p:spPr>
          <a:xfrm>
            <a:off x="640080" y="3680460"/>
            <a:ext cx="3474720" cy="736092"/>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E-Mail-Validator, Fehlermeldung</a:t>
            </a:r>
            <a:endParaRPr lang="en-US" sz="1400" dirty="0"/>
          </a:p>
        </p:txBody>
      </p:sp>
      <p:graphicFrame>
        <p:nvGraphicFramePr>
          <p:cNvPr id="14" name="Minuten: geschätzt vs. tatsächlich" descr=""/>
          <p:cNvGraphicFramePr/>
          <p:nvPr/>
        </p:nvGraphicFramePr>
        <p:xfrm>
          <a:off x="4572000" y="1051560"/>
          <a:ext cx="4114800" cy="34747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960120"/>
            <a:ext cx="6858000" cy="365760"/>
          </a:xfrm>
          <a:prstGeom prst="rect">
            <a:avLst/>
          </a:prstGeom>
          <a:noFill/>
          <a:ln/>
        </p:spPr>
        <p:txBody>
          <a:bodyPr wrap="square" lIns="0" tIns="0" rIns="0" bIns="0" rtlCol="0"/>
          <a:lstStyle/>
          <a:p>
            <a:pPr indent="0" marL="0">
              <a:buNone/>
            </a:pPr>
            <a:r>
              <a:rPr lang="en-US" sz="1400" b="1" dirty="0">
                <a:solidFill>
                  <a:schemeClr val="accent6"/>
                </a:solidFill>
              </a:rPr>
              <a:t>Fazit</a:t>
            </a:r>
            <a:endParaRPr lang="en-US" sz="1400" dirty="0"/>
          </a:p>
        </p:txBody>
      </p:sp>
      <p:sp>
        <p:nvSpPr>
          <p:cNvPr id="3" name="Text 0"/>
          <p:cNvSpPr/>
          <p:nvPr>
            <p:ph idx="101" type="title" hasCustomPrompt="1"/>
          </p:nvPr>
        </p:nvSpPr>
        <p:spPr>
          <a:xfrm>
            <a:off x="548640" y="1371600"/>
            <a:ext cx="6949440" cy="137160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Automatisch testen auf jeder Ebene</a:t>
            </a:r>
            <a:endParaRPr lang="en-US" sz="4000" dirty="0"/>
          </a:p>
        </p:txBody>
      </p:sp>
      <p:sp>
        <p:nvSpPr>
          <p:cNvPr id="4" name="Text 0"/>
          <p:cNvSpPr/>
          <p:nvPr>
            <p:ph idx="102" type="body" hasCustomPrompt="1"/>
          </p:nvPr>
        </p:nvSpPr>
        <p:spPr>
          <a:xfrm>
            <a:off x="548640" y="2880360"/>
            <a:ext cx="6949440" cy="1097280"/>
          </a:xfrm>
          <a:prstGeom prst="rect">
            <a:avLst/>
          </a:prstGeom>
          <a:noFill/>
          <a:ln/>
        </p:spPr>
        <p:txBody>
          <a:bodyPr wrap="square" lIns="0" tIns="0" rIns="0" bIns="0" rtlCol="0" anchor="t"/>
          <a:lstStyle/>
          <a:p>
            <a:pPr indent="0" marL="0">
              <a:buNone/>
            </a:pPr>
            <a:r>
              <a:rPr lang="en-US" sz="1800" dirty="0">
                <a:solidFill>
                  <a:schemeClr val="bg1"/>
                </a:solidFill>
              </a:rPr>
              <a:t>Ein Befehl startet die Tests, ein Report zeigt das Resultat.</a:t>
            </a:r>
            <a:endParaRPr lang="en-US" sz="1800" dirty="0"/>
          </a:p>
        </p:txBody>
      </p:sp>
      <p:sp>
        <p:nvSpPr>
          <p:cNvPr id="5" name="Status Kreis"/>
          <p:cNvSpPr/>
          <p:nvPr/>
        </p:nvSpPr>
        <p:spPr>
          <a:xfrm>
            <a:off x="7452360" y="1417320"/>
            <a:ext cx="1188720" cy="1188720"/>
          </a:xfrm>
          <a:prstGeom prst="ellipse">
            <a:avLst/>
          </a:prstGeom>
          <a:solidFill>
            <a:schemeClr val="accent1"/>
          </a:solidFill>
          <a:ln w="12700">
            <a:solidFill>
              <a:schemeClr val="accent1"/>
            </a:solidFill>
            <a:prstDash val="solid"/>
          </a:ln>
        </p:spPr>
      </p:sp>
      <p:sp>
        <p:nvSpPr>
          <p:cNvPr id="6" name="Haken"/>
          <p:cNvSpPr txBox="1"/>
          <p:nvPr/>
        </p:nvSpPr>
        <p:spPr>
          <a:xfrm>
            <a:off x="7452360" y="1417320"/>
            <a:ext cx="1188720" cy="1188720"/>
          </a:xfrm>
          <a:prstGeom prst="rect">
            <a:avLst/>
          </a:prstGeom>
          <a:noFill/>
          <a:ln/>
        </p:spPr>
        <p:txBody>
          <a:bodyPr wrap="square" lIns="0" tIns="0" rIns="0" bIns="0" rtlCol="0" anchor="ctr"/>
          <a:lstStyle/>
          <a:p>
            <a:pPr algn="ctr" indent="0" marL="0">
              <a:buNone/>
            </a:pPr>
            <a:r>
              <a:rPr lang="en-US" sz="4800" b="1" dirty="0">
                <a:solidFill>
                  <a:schemeClr val="bg1"/>
                </a:solidFill>
              </a:rPr>
              <a:t>✓</a:t>
            </a:r>
            <a:endParaRPr lang="en-US" sz="4800" dirty="0"/>
          </a:p>
        </p:txBody>
      </p:sp>
    </p:spTree>
  </p:cSld>
  <p:clrMapOvr>
    <a:masterClrMapping/>
  </p:clrMapOvr>
</p:sld>
</file>

<file path=ppt/theme/theme1.xml><?xml version="1.0" encoding="utf-8"?>
<a:theme xmlns:a="http://schemas.openxmlformats.org/drawingml/2006/main" name="M450 Testing">
  <a:themeElements>
    <a:clrScheme name="M450 Testing">
      <a:dk1>
        <a:srgbClr val="1B2A2F"/>
      </a:dk1>
      <a:lt1>
        <a:srgbClr val="FFFFFF"/>
      </a:lt1>
      <a:dk2>
        <a:srgbClr val="1F4A40"/>
      </a:dk2>
      <a:lt2>
        <a:srgbClr val="EDF4F1"/>
      </a:lt2>
      <a:accent1>
        <a:srgbClr val="2EA043"/>
      </a:accent1>
      <a:accent2>
        <a:srgbClr val="D73A49"/>
      </a:accent2>
      <a:accent3>
        <a:srgbClr val="0E7C66"/>
      </a:accent3>
      <a:accent4>
        <a:srgbClr val="E3A008"/>
      </a:accent4>
      <a:accent5>
        <a:srgbClr val="5B7B75"/>
      </a:accent5>
      <a:accent6>
        <a:srgbClr val="A8E0CC"/>
      </a:accent6>
      <a:hlink>
        <a:srgbClr val="0E7C66"/>
      </a:hlink>
      <a:folHlink>
        <a:srgbClr val="5B7B75"/>
      </a:folHlink>
    </a:clrScheme>
    <a:fontScheme name="M450 Tes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KN05 – Automation Testing</dc:title>
  <dc:subject>PptxGenJS Presentation</dc:subject>
  <dc:creator>Denis</dc:creator>
  <cp:lastModifiedBy>Denis</cp:lastModifiedBy>
  <cp:revision>1</cp:revision>
  <dcterms:created xsi:type="dcterms:W3CDTF">2026-10-16T09:33:07Z</dcterms:created>
  <dcterms:modified xsi:type="dcterms:W3CDTF">2026-10-16T09:33:07Z</dcterms:modified>
</cp:coreProperties>
</file>