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1aa8fab2-2faa-6a55-ece4-634d3937729e}">
          <p14:sldIdLst>
            <p14:sldId id="256"/>
          </p14:sldIdLst>
        </p14:section>
        <p14:section name="Unit Testing" id="{e3831544-24d0-3eb6-ae50-b3c770faebf9}">
          <p14:sldIdLst>
            <p14:sldId id="257"/>
            <p14:sldId id="258"/>
            <p14:sldId id="259"/>
            <p14:sldId id="260"/>
          </p14:sldIdLst>
        </p14:section>
        <p14:section name="Fazit" id="{a9ebb01f-604a-30cd-e9b9-9967d81f9d4f}">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KN03 geht es um Unit Testing mit JUnit 5. Ich habe einen Rechner getestet, die JUnit-Features zusammengefasst und Tests für die Bank-Simulation geschrieben.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den Calculator habe ich 14 Tests geschrieben. BeforeEach erstellt vor jedem Test einen neuen Rechner. Mit assertThrows prüfe ich die Division durch null und mit einem parametrisierten Test mehrere Werte auf einmal. Ausführen geht in IntelliJ oder mit mvn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wichtigsten Annotations und Assertions im Überblick. Die ausführliche Zusammenfassung ist im Markdown-Dokument im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Bank speichert alle Konten in einer TreeMap. Es gibt drei Kontoarten: das Sparkonto darf nicht ins Minus, das Jugendsparkonto gibt 1 Prozent Bonus und das Lohnkonto hat eine Kreditlimite. Beträge sind in Millirappen, damit es keine Rundungsfehler gibt.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Bank habe ich 40 Tests geschrieben. Alle Klassen ausser Main haben über 90 Prozent Abdeckung. Bei den print-Methoden leite ich System.out in einen Stream um, damit ich prüfen kann, was gedruckt wurde.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Unit-Tests sind die Basis der Testpyramide. Sie laufen in Sekunden, und mit dem JaCoCo-Report sieht man genau, welcher Code noch nicht getestet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KN03</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KN03</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Testlevels und Unit Testing</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JUnit 5, ein Rechner und Tests für die Bank-Simulation</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1: Calculator mit JUnit 5</a:t>
            </a:r>
            <a:endParaRPr lang="en-US" sz="2800" dirty="0"/>
          </a:p>
        </p:txBody>
      </p:sp>
      <p:sp>
        <p:nvSpPr>
          <p:cNvPr id="4" name="Code Box"/>
          <p:cNvSpPr/>
          <p:nvPr/>
        </p:nvSpPr>
        <p:spPr>
          <a:xfrm>
            <a:off x="457200" y="1097280"/>
            <a:ext cx="5120640" cy="3383280"/>
          </a:xfrm>
          <a:prstGeom prst="roundRect">
            <a:avLst>
              <a:gd name="adj" fmla="val 2162"/>
            </a:avLst>
          </a:prstGeom>
          <a:solidFill>
            <a:schemeClr val="tx1"/>
          </a:solidFill>
          <a:ln w="12700">
            <a:solidFill>
              <a:schemeClr val="tx1"/>
            </a:solidFill>
            <a:prstDash val="solid"/>
          </a:ln>
        </p:spPr>
      </p:sp>
      <p:sp>
        <p:nvSpPr>
          <p:cNvPr id="5" name="Text 2"/>
          <p:cNvSpPr txBox="1"/>
          <p:nvPr/>
        </p:nvSpPr>
        <p:spPr>
          <a:xfrm>
            <a:off x="640080" y="1207008"/>
            <a:ext cx="4754880" cy="274320"/>
          </a:xfrm>
          <a:prstGeom prst="rect">
            <a:avLst/>
          </a:prstGeom>
          <a:noFill/>
          <a:ln/>
        </p:spPr>
        <p:txBody>
          <a:bodyPr wrap="square" lIns="0" tIns="0" rIns="0" bIns="0" rtlCol="0" anchor="ctr"/>
          <a:lstStyle/>
          <a:p>
            <a:pPr indent="0" marL="0">
              <a:buNone/>
            </a:pPr>
            <a:r>
              <a:rPr lang="en-US" sz="1100" b="1" dirty="0">
                <a:solidFill>
                  <a:schemeClr val="accent6"/>
                </a:solidFill>
              </a:rPr>
              <a:t>CalculatorTest.java</a:t>
            </a:r>
            <a:endParaRPr lang="en-US" sz="1100" dirty="0"/>
          </a:p>
        </p:txBody>
      </p:sp>
      <p:sp>
        <p:nvSpPr>
          <p:cNvPr id="6" name="Code"/>
          <p:cNvSpPr txBox="1"/>
          <p:nvPr/>
        </p:nvSpPr>
        <p:spPr>
          <a:xfrm>
            <a:off x="640080" y="1508760"/>
            <a:ext cx="4754880" cy="283464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@BeforeEach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void setUp()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calculator = new Calculator();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@Test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void divideByZeroThrowsException()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assertThrows(ArithmeticException.class,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-&gt; calculator.divide(5,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7" name="Kennzahl Tests grün"/>
          <p:cNvSpPr/>
          <p:nvPr/>
        </p:nvSpPr>
        <p:spPr>
          <a:xfrm>
            <a:off x="5852160" y="1097280"/>
            <a:ext cx="2834640" cy="1554480"/>
          </a:xfrm>
          <a:prstGeom prst="roundRect">
            <a:avLst>
              <a:gd name="adj" fmla="val 4706"/>
            </a:avLst>
          </a:prstGeom>
          <a:solidFill>
            <a:schemeClr val="bg2"/>
          </a:solidFill>
          <a:ln w="12700">
            <a:solidFill>
              <a:schemeClr val="bg2"/>
            </a:solidFill>
            <a:prstDash val="solid"/>
          </a:ln>
        </p:spPr>
      </p:sp>
      <p:sp>
        <p:nvSpPr>
          <p:cNvPr id="8" name="Text 5"/>
          <p:cNvSpPr txBox="1"/>
          <p:nvPr/>
        </p:nvSpPr>
        <p:spPr>
          <a:xfrm>
            <a:off x="5852160" y="1280160"/>
            <a:ext cx="283464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14</a:t>
            </a:r>
            <a:endParaRPr lang="en-US" sz="3600" dirty="0"/>
          </a:p>
        </p:txBody>
      </p:sp>
      <p:sp>
        <p:nvSpPr>
          <p:cNvPr id="9" name="Text 6"/>
          <p:cNvSpPr txBox="1"/>
          <p:nvPr/>
        </p:nvSpPr>
        <p:spPr>
          <a:xfrm>
            <a:off x="5943600" y="2057400"/>
            <a:ext cx="2651760" cy="457200"/>
          </a:xfrm>
          <a:prstGeom prst="rect">
            <a:avLst/>
          </a:prstGeom>
          <a:noFill/>
          <a:ln/>
        </p:spPr>
        <p:txBody>
          <a:bodyPr wrap="square" lIns="0" tIns="0" rIns="0" bIns="0" rtlCol="0" anchor="t"/>
          <a:lstStyle/>
          <a:p>
            <a:pPr algn="ctr" indent="0" marL="0">
              <a:buNone/>
            </a:pPr>
            <a:r>
              <a:rPr lang="en-US" sz="1200" dirty="0">
                <a:solidFill>
                  <a:schemeClr val="tx1"/>
                </a:solidFill>
              </a:rPr>
              <a:t>Tests grün</a:t>
            </a:r>
            <a:endParaRPr lang="en-US" sz="1200" dirty="0"/>
          </a:p>
        </p:txBody>
      </p:sp>
      <p:sp>
        <p:nvSpPr>
          <p:cNvPr id="10" name="Text 7"/>
          <p:cNvSpPr txBox="1"/>
          <p:nvPr/>
        </p:nvSpPr>
        <p:spPr>
          <a:xfrm>
            <a:off x="5943600" y="2926080"/>
            <a:ext cx="2743200"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IntelliJ: Run</a:t>
            </a:r>
            <a:endParaRPr lang="en-US" sz="1500" dirty="0"/>
          </a:p>
          <a:p>
            <a:pPr marL="342900" indent="-342900">
              <a:spcAft>
                <a:spcPts val="800"/>
              </a:spcAft>
              <a:buSzPct val="100000"/>
              <a:buChar char="•"/>
            </a:pPr>
            <a:r>
              <a:rPr lang="en-US" sz="1500" dirty="0">
                <a:solidFill>
                  <a:schemeClr val="tx1"/>
                </a:solidFill>
              </a:rPr>
              <a:t>Konsole: mvn test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2: Die wichtigsten JUnit Features</a:t>
            </a:r>
            <a:endParaRPr lang="en-US" sz="2800" dirty="0"/>
          </a:p>
        </p:txBody>
      </p:sp>
      <p:graphicFrame>
        <p:nvGraphicFramePr>
          <p:cNvPr id="4"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926080"/>
                <a:gridCol w="5303520"/>
              </a:tblGrid>
              <a:tr h="43891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Wofür</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Methode ist ein 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@BeforeEach / @AfterEach</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Vor / nach jedem Test, z.B. Objekt neu erstellen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@BeforeAll / @AfterAll</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Einmal vor / nach allen Tests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@ParameterizedTest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Gleicher Test mit vielen Werten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assertEquals / assertTrue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Wert bzw. Bedingung prüfen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assertThrows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Prüft, ob eine Exception kommt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assertAll</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Mehrere Prüfungen, alle werden ausgeführt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3: Aufbau der Bank-Simulation</a:t>
            </a:r>
            <a:endParaRPr lang="en-US" sz="2800" dirty="0"/>
          </a:p>
        </p:txBody>
      </p:sp>
      <p:sp>
        <p:nvSpPr>
          <p:cNvPr id="4" name="Karte SavingsAccount"/>
          <p:cNvSpPr/>
          <p:nvPr/>
        </p:nvSpPr>
        <p:spPr>
          <a:xfrm>
            <a:off x="457200" y="1097280"/>
            <a:ext cx="2560320" cy="1828800"/>
          </a:xfrm>
          <a:prstGeom prst="roundRect">
            <a:avLst>
              <a:gd name="adj" fmla="val 4000"/>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SavingsAccount</a:t>
            </a:r>
            <a:endParaRPr lang="en-US" sz="1600" dirty="0"/>
          </a:p>
        </p:txBody>
      </p:sp>
      <p:sp>
        <p:nvSpPr>
          <p:cNvPr id="8" name="Text 5"/>
          <p:cNvSpPr txBox="1"/>
          <p:nvPr/>
        </p:nvSpPr>
        <p:spPr>
          <a:xfrm>
            <a:off x="640080" y="1828800"/>
            <a:ext cx="2194560" cy="9875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Kontostand nie unter 0</a:t>
            </a:r>
            <a:endParaRPr lang="en-US" sz="1400" dirty="0"/>
          </a:p>
        </p:txBody>
      </p:sp>
      <p:sp>
        <p:nvSpPr>
          <p:cNvPr id="9" name="Karte PromoYouthSavings"/>
          <p:cNvSpPr/>
          <p:nvPr/>
        </p:nvSpPr>
        <p:spPr>
          <a:xfrm>
            <a:off x="3291840" y="1097280"/>
            <a:ext cx="2560320" cy="1828800"/>
          </a:xfrm>
          <a:prstGeom prst="roundRect">
            <a:avLst>
              <a:gd name="adj" fmla="val 4000"/>
            </a:avLst>
          </a:prstGeom>
          <a:solidFill>
            <a:schemeClr val="bg2"/>
          </a:solidFill>
          <a:ln w="12700">
            <a:solidFill>
              <a:schemeClr val="bg2"/>
            </a:solidFill>
            <a:prstDash val="solid"/>
          </a:ln>
        </p:spPr>
      </p:sp>
      <p:sp>
        <p:nvSpPr>
          <p:cNvPr id="10" name="Badge 2"/>
          <p:cNvSpPr/>
          <p:nvPr/>
        </p:nvSpPr>
        <p:spPr>
          <a:xfrm>
            <a:off x="3474720" y="1280160"/>
            <a:ext cx="384048" cy="384048"/>
          </a:xfrm>
          <a:prstGeom prst="ellipse">
            <a:avLst/>
          </a:prstGeom>
          <a:solidFill>
            <a:schemeClr val="accent3"/>
          </a:solidFill>
          <a:ln w="12700">
            <a:solidFill>
              <a:schemeClr val="accent3"/>
            </a:solidFill>
            <a:prstDash val="solid"/>
          </a:ln>
        </p:spPr>
      </p:sp>
      <p:sp>
        <p:nvSpPr>
          <p:cNvPr id="11" name="Text 8"/>
          <p:cNvSpPr txBox="1"/>
          <p:nvPr/>
        </p:nvSpPr>
        <p:spPr>
          <a:xfrm>
            <a:off x="34747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97764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PromoYouthSavings</a:t>
            </a:r>
            <a:endParaRPr lang="en-US" sz="1600" dirty="0"/>
          </a:p>
        </p:txBody>
      </p:sp>
      <p:sp>
        <p:nvSpPr>
          <p:cNvPr id="13" name="Text 10"/>
          <p:cNvSpPr txBox="1"/>
          <p:nvPr/>
        </p:nvSpPr>
        <p:spPr>
          <a:xfrm>
            <a:off x="3474720" y="1828800"/>
            <a:ext cx="2194560" cy="9875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+1 % Bonus bei jeder Einzahlung</a:t>
            </a:r>
            <a:endParaRPr lang="en-US" sz="1400" dirty="0"/>
          </a:p>
        </p:txBody>
      </p:sp>
      <p:sp>
        <p:nvSpPr>
          <p:cNvPr id="14" name="Karte SalaryAccount"/>
          <p:cNvSpPr/>
          <p:nvPr/>
        </p:nvSpPr>
        <p:spPr>
          <a:xfrm>
            <a:off x="6126480" y="1097280"/>
            <a:ext cx="2560320" cy="1828800"/>
          </a:xfrm>
          <a:prstGeom prst="roundRect">
            <a:avLst>
              <a:gd name="adj" fmla="val 4000"/>
            </a:avLst>
          </a:prstGeom>
          <a:solidFill>
            <a:schemeClr val="bg2"/>
          </a:solidFill>
          <a:ln w="12700">
            <a:solidFill>
              <a:schemeClr val="bg2"/>
            </a:solidFill>
            <a:prstDash val="solid"/>
          </a:ln>
        </p:spPr>
      </p:sp>
      <p:sp>
        <p:nvSpPr>
          <p:cNvPr id="15" name="Badge 3"/>
          <p:cNvSpPr/>
          <p:nvPr/>
        </p:nvSpPr>
        <p:spPr>
          <a:xfrm>
            <a:off x="6309360" y="1280160"/>
            <a:ext cx="384048" cy="384048"/>
          </a:xfrm>
          <a:prstGeom prst="ellipse">
            <a:avLst/>
          </a:prstGeom>
          <a:solidFill>
            <a:schemeClr val="accent3"/>
          </a:solidFill>
          <a:ln w="12700">
            <a:solidFill>
              <a:schemeClr val="accent3"/>
            </a:solidFill>
            <a:prstDash val="solid"/>
          </a:ln>
        </p:spPr>
      </p:sp>
      <p:sp>
        <p:nvSpPr>
          <p:cNvPr id="16" name="Text 13"/>
          <p:cNvSpPr txBox="1"/>
          <p:nvPr/>
        </p:nvSpPr>
        <p:spPr>
          <a:xfrm>
            <a:off x="63093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681228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SalaryAccount</a:t>
            </a:r>
            <a:endParaRPr lang="en-US" sz="1600" dirty="0"/>
          </a:p>
        </p:txBody>
      </p:sp>
      <p:sp>
        <p:nvSpPr>
          <p:cNvPr id="18" name="Text 15"/>
          <p:cNvSpPr txBox="1"/>
          <p:nvPr/>
        </p:nvSpPr>
        <p:spPr>
          <a:xfrm>
            <a:off x="6309360" y="1828800"/>
            <a:ext cx="2194560" cy="9875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Darf bis zur Kreditlimite ins Minus</a:t>
            </a:r>
            <a:endParaRPr lang="en-US" sz="1400" dirty="0"/>
          </a:p>
        </p:txBody>
      </p:sp>
      <p:sp>
        <p:nvSpPr>
          <p:cNvPr id="19" name="Karte Bank"/>
          <p:cNvSpPr/>
          <p:nvPr/>
        </p:nvSpPr>
        <p:spPr>
          <a:xfrm>
            <a:off x="457200" y="3200400"/>
            <a:ext cx="3977640" cy="1325880"/>
          </a:xfrm>
          <a:prstGeom prst="roundRect">
            <a:avLst>
              <a:gd name="adj" fmla="val 5517"/>
            </a:avLst>
          </a:prstGeom>
          <a:solidFill>
            <a:schemeClr val="bg2"/>
          </a:solidFill>
          <a:ln w="12700">
            <a:solidFill>
              <a:schemeClr val="bg2"/>
            </a:solidFill>
            <a:prstDash val="solid"/>
          </a:ln>
        </p:spPr>
      </p:sp>
      <p:sp>
        <p:nvSpPr>
          <p:cNvPr id="20" name="Badge B"/>
          <p:cNvSpPr/>
          <p:nvPr/>
        </p:nvSpPr>
        <p:spPr>
          <a:xfrm>
            <a:off x="640080" y="3383280"/>
            <a:ext cx="384048" cy="384048"/>
          </a:xfrm>
          <a:prstGeom prst="ellipse">
            <a:avLst/>
          </a:prstGeom>
          <a:solidFill>
            <a:schemeClr val="accent3"/>
          </a:solidFill>
          <a:ln w="12700">
            <a:solidFill>
              <a:schemeClr val="accent3"/>
            </a:solidFill>
            <a:prstDash val="solid"/>
          </a:ln>
        </p:spPr>
      </p:sp>
      <p:sp>
        <p:nvSpPr>
          <p:cNvPr id="21" name="Text 18"/>
          <p:cNvSpPr txBox="1"/>
          <p:nvPr/>
        </p:nvSpPr>
        <p:spPr>
          <a:xfrm>
            <a:off x="64008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2" name="Text 19"/>
          <p:cNvSpPr txBox="1"/>
          <p:nvPr/>
        </p:nvSpPr>
        <p:spPr>
          <a:xfrm>
            <a:off x="1143000" y="335584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Bank</a:t>
            </a:r>
            <a:endParaRPr lang="en-US" sz="1600" dirty="0"/>
          </a:p>
        </p:txBody>
      </p:sp>
      <p:sp>
        <p:nvSpPr>
          <p:cNvPr id="23" name="Text 20"/>
          <p:cNvSpPr txBox="1"/>
          <p:nvPr/>
        </p:nvSpPr>
        <p:spPr>
          <a:xfrm>
            <a:off x="640080" y="3931920"/>
            <a:ext cx="3611880" cy="48463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TreeMap mit allen Konten, Top 5 / Bottom 5</a:t>
            </a:r>
            <a:endParaRPr lang="en-US" sz="1400" dirty="0"/>
          </a:p>
        </p:txBody>
      </p:sp>
      <p:sp>
        <p:nvSpPr>
          <p:cNvPr id="24" name="Karte Booking"/>
          <p:cNvSpPr/>
          <p:nvPr/>
        </p:nvSpPr>
        <p:spPr>
          <a:xfrm>
            <a:off x="4709160" y="3200400"/>
            <a:ext cx="3977640" cy="1325880"/>
          </a:xfrm>
          <a:prstGeom prst="roundRect">
            <a:avLst>
              <a:gd name="adj" fmla="val 5517"/>
            </a:avLst>
          </a:prstGeom>
          <a:solidFill>
            <a:schemeClr val="bg2"/>
          </a:solidFill>
          <a:ln w="12700">
            <a:solidFill>
              <a:schemeClr val="bg2"/>
            </a:solidFill>
            <a:prstDash val="solid"/>
          </a:ln>
        </p:spPr>
      </p:sp>
      <p:sp>
        <p:nvSpPr>
          <p:cNvPr id="25" name="Badge b"/>
          <p:cNvSpPr/>
          <p:nvPr/>
        </p:nvSpPr>
        <p:spPr>
          <a:xfrm>
            <a:off x="4892040" y="3383280"/>
            <a:ext cx="384048" cy="384048"/>
          </a:xfrm>
          <a:prstGeom prst="ellipse">
            <a:avLst/>
          </a:prstGeom>
          <a:solidFill>
            <a:schemeClr val="accent3"/>
          </a:solidFill>
          <a:ln w="12700">
            <a:solidFill>
              <a:schemeClr val="accent3"/>
            </a:solidFill>
            <a:prstDash val="solid"/>
          </a:ln>
        </p:spPr>
      </p:sp>
      <p:sp>
        <p:nvSpPr>
          <p:cNvPr id="26" name="Text 23"/>
          <p:cNvSpPr txBox="1"/>
          <p:nvPr/>
        </p:nvSpPr>
        <p:spPr>
          <a:xfrm>
            <a:off x="489204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7" name="Text 24"/>
          <p:cNvSpPr txBox="1"/>
          <p:nvPr/>
        </p:nvSpPr>
        <p:spPr>
          <a:xfrm>
            <a:off x="5394960" y="335584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Booking</a:t>
            </a:r>
            <a:endParaRPr lang="en-US" sz="1600" dirty="0"/>
          </a:p>
        </p:txBody>
      </p:sp>
      <p:sp>
        <p:nvSpPr>
          <p:cNvPr id="28" name="Text 25"/>
          <p:cNvSpPr txBox="1"/>
          <p:nvPr/>
        </p:nvSpPr>
        <p:spPr>
          <a:xfrm>
            <a:off x="4892040" y="3931920"/>
            <a:ext cx="3611880" cy="48463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Datum + Betrag, Abhebungen negativ</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4: Unit-Tests und Coverage</a:t>
            </a:r>
            <a:endParaRPr lang="en-US" sz="2800" dirty="0"/>
          </a:p>
        </p:txBody>
      </p:sp>
      <p:sp>
        <p:nvSpPr>
          <p:cNvPr id="4" name="Kennzahl Tests grün"/>
          <p:cNvSpPr/>
          <p:nvPr/>
        </p:nvSpPr>
        <p:spPr>
          <a:xfrm>
            <a:off x="457200" y="1051560"/>
            <a:ext cx="2560320"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457200" y="1143000"/>
            <a:ext cx="256032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40</a:t>
            </a:r>
            <a:endParaRPr lang="en-US" sz="3600" dirty="0"/>
          </a:p>
        </p:txBody>
      </p:sp>
      <p:sp>
        <p:nvSpPr>
          <p:cNvPr id="6" name="Text 3"/>
          <p:cNvSpPr txBox="1"/>
          <p:nvPr/>
        </p:nvSpPr>
        <p:spPr>
          <a:xfrm>
            <a:off x="548640" y="1920240"/>
            <a:ext cx="2377440" cy="457200"/>
          </a:xfrm>
          <a:prstGeom prst="rect">
            <a:avLst/>
          </a:prstGeom>
          <a:noFill/>
          <a:ln/>
        </p:spPr>
        <p:txBody>
          <a:bodyPr wrap="square" lIns="0" tIns="0" rIns="0" bIns="0" rtlCol="0" anchor="t"/>
          <a:lstStyle/>
          <a:p>
            <a:pPr algn="ctr" indent="0" marL="0">
              <a:buNone/>
            </a:pPr>
            <a:r>
              <a:rPr lang="en-US" sz="1200" dirty="0">
                <a:solidFill>
                  <a:schemeClr val="tx1"/>
                </a:solidFill>
              </a:rPr>
              <a:t>Tests grün</a:t>
            </a:r>
            <a:endParaRPr lang="en-US" sz="1200" dirty="0"/>
          </a:p>
        </p:txBody>
      </p:sp>
      <p:sp>
        <p:nvSpPr>
          <p:cNvPr id="7" name="Kennzahl Account, Booking, Konten"/>
          <p:cNvSpPr/>
          <p:nvPr/>
        </p:nvSpPr>
        <p:spPr>
          <a:xfrm>
            <a:off x="3291840" y="1051560"/>
            <a:ext cx="2560320" cy="1371600"/>
          </a:xfrm>
          <a:prstGeom prst="roundRect">
            <a:avLst>
              <a:gd name="adj" fmla="val 5333"/>
            </a:avLst>
          </a:prstGeom>
          <a:solidFill>
            <a:schemeClr val="bg2"/>
          </a:solidFill>
          <a:ln w="12700">
            <a:solidFill>
              <a:schemeClr val="bg2"/>
            </a:solidFill>
            <a:prstDash val="solid"/>
          </a:ln>
        </p:spPr>
      </p:sp>
      <p:sp>
        <p:nvSpPr>
          <p:cNvPr id="8" name="Text 5"/>
          <p:cNvSpPr txBox="1"/>
          <p:nvPr/>
        </p:nvSpPr>
        <p:spPr>
          <a:xfrm>
            <a:off x="3291840" y="1143000"/>
            <a:ext cx="256032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100 %</a:t>
            </a:r>
            <a:endParaRPr lang="en-US" sz="3600" dirty="0"/>
          </a:p>
        </p:txBody>
      </p:sp>
      <p:sp>
        <p:nvSpPr>
          <p:cNvPr id="9" name="Text 6"/>
          <p:cNvSpPr txBox="1"/>
          <p:nvPr/>
        </p:nvSpPr>
        <p:spPr>
          <a:xfrm>
            <a:off x="3383280" y="1920240"/>
            <a:ext cx="2377440" cy="457200"/>
          </a:xfrm>
          <a:prstGeom prst="rect">
            <a:avLst/>
          </a:prstGeom>
          <a:noFill/>
          <a:ln/>
        </p:spPr>
        <p:txBody>
          <a:bodyPr wrap="square" lIns="0" tIns="0" rIns="0" bIns="0" rtlCol="0" anchor="t"/>
          <a:lstStyle/>
          <a:p>
            <a:pPr algn="ctr" indent="0" marL="0">
              <a:buNone/>
            </a:pPr>
            <a:r>
              <a:rPr lang="en-US" sz="1200" dirty="0">
                <a:solidFill>
                  <a:schemeClr val="tx1"/>
                </a:solidFill>
              </a:rPr>
              <a:t>Account, Booking, Konten</a:t>
            </a:r>
            <a:endParaRPr lang="en-US" sz="1200" dirty="0"/>
          </a:p>
        </p:txBody>
      </p:sp>
      <p:sp>
        <p:nvSpPr>
          <p:cNvPr id="10" name="Kennzahl Bank"/>
          <p:cNvSpPr/>
          <p:nvPr/>
        </p:nvSpPr>
        <p:spPr>
          <a:xfrm>
            <a:off x="6126480" y="1051560"/>
            <a:ext cx="2560320" cy="13716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6126480" y="1143000"/>
            <a:ext cx="256032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97 %</a:t>
            </a:r>
            <a:endParaRPr lang="en-US" sz="3600" dirty="0"/>
          </a:p>
        </p:txBody>
      </p:sp>
      <p:sp>
        <p:nvSpPr>
          <p:cNvPr id="12" name="Text 9"/>
          <p:cNvSpPr txBox="1"/>
          <p:nvPr/>
        </p:nvSpPr>
        <p:spPr>
          <a:xfrm>
            <a:off x="6217920" y="1920240"/>
            <a:ext cx="2377440" cy="457200"/>
          </a:xfrm>
          <a:prstGeom prst="rect">
            <a:avLst/>
          </a:prstGeom>
          <a:noFill/>
          <a:ln/>
        </p:spPr>
        <p:txBody>
          <a:bodyPr wrap="square" lIns="0" tIns="0" rIns="0" bIns="0" rtlCol="0" anchor="t"/>
          <a:lstStyle/>
          <a:p>
            <a:pPr algn="ctr" indent="0" marL="0">
              <a:buNone/>
            </a:pPr>
            <a:r>
              <a:rPr lang="en-US" sz="1200" dirty="0">
                <a:solidFill>
                  <a:schemeClr val="tx1"/>
                </a:solidFill>
              </a:rPr>
              <a:t>Bank</a:t>
            </a:r>
            <a:endParaRPr lang="en-US" sz="1200" dirty="0"/>
          </a:p>
        </p:txBody>
      </p:sp>
      <p:sp>
        <p:nvSpPr>
          <p:cNvPr id="13" name="Code Box"/>
          <p:cNvSpPr/>
          <p:nvPr/>
        </p:nvSpPr>
        <p:spPr>
          <a:xfrm>
            <a:off x="457200" y="2697480"/>
            <a:ext cx="8229600" cy="1828800"/>
          </a:xfrm>
          <a:prstGeom prst="roundRect">
            <a:avLst>
              <a:gd name="adj" fmla="val 4000"/>
            </a:avLst>
          </a:prstGeom>
          <a:solidFill>
            <a:schemeClr val="tx1"/>
          </a:solidFill>
          <a:ln w="12700">
            <a:solidFill>
              <a:schemeClr val="tx1"/>
            </a:solidFill>
            <a:prstDash val="solid"/>
          </a:ln>
        </p:spPr>
      </p:sp>
      <p:sp>
        <p:nvSpPr>
          <p:cNvPr id="14" name="Text 11"/>
          <p:cNvSpPr txBox="1"/>
          <p:nvPr/>
        </p:nvSpPr>
        <p:spPr>
          <a:xfrm>
            <a:off x="640080" y="2807208"/>
            <a:ext cx="7863840" cy="274320"/>
          </a:xfrm>
          <a:prstGeom prst="rect">
            <a:avLst/>
          </a:prstGeom>
          <a:noFill/>
          <a:ln/>
        </p:spPr>
        <p:txBody>
          <a:bodyPr wrap="square" lIns="0" tIns="0" rIns="0" bIns="0" rtlCol="0" anchor="ctr"/>
          <a:lstStyle/>
          <a:p>
            <a:pPr indent="0" marL="0">
              <a:buNone/>
            </a:pPr>
            <a:r>
              <a:rPr lang="en-US" sz="1100" b="1" dirty="0">
                <a:solidFill>
                  <a:schemeClr val="accent6"/>
                </a:solidFill>
              </a:rPr>
              <a:t>Ausgabe von print() testen</a:t>
            </a:r>
            <a:endParaRPr lang="en-US" sz="1100" dirty="0"/>
          </a:p>
        </p:txBody>
      </p:sp>
      <p:sp>
        <p:nvSpPr>
          <p:cNvPr id="15" name="Code"/>
          <p:cNvSpPr txBox="1"/>
          <p:nvPr/>
        </p:nvSpPr>
        <p:spPr>
          <a:xfrm>
            <a:off x="640080" y="3108960"/>
            <a:ext cx="7863840" cy="12801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output = new ByteArrayOutputStream();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System.setOut(new PrintStream(output));</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account.print();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assertTrue(output.toString().contains("01.01.1970"));</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Unit-Tests geben Sicherheit</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Schnell, automatisch und mit Coverage-Report sichtbar.</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KN03 – Testlevels und Unit Testing</dc:title>
  <dc:subject>PptxGenJS Presentation</dc:subject>
  <dc:creator>Denis</dc:creator>
  <cp:lastModifiedBy>Denis</cp:lastModifiedBy>
  <cp:revision>1</cp:revision>
  <dcterms:created xsi:type="dcterms:W3CDTF">2026-10-17T16:19:38Z</dcterms:created>
  <dcterms:modified xsi:type="dcterms:W3CDTF">2026-10-17T16:19:38Z</dcterms:modified>
</cp:coreProperties>
</file>