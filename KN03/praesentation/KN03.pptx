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2b28a70d-79f0-61ad-1827-ac956d6fcb32}">
          <p14:sldIdLst>
            <p14:sldId id="256"/>
          </p14:sldIdLst>
        </p14:section>
        <p14:section name="Testlevels" id="{b7530bcf-d0f1-b8cb-4564-3992c80a9415}">
          <p14:sldIdLst>
            <p14:sldId id="257"/>
          </p14:sldIdLst>
        </p14:section>
        <p14:section name="Unit Testing" id="{5f55d6c9-fe48-ff46-95bd-72e0ce85cbd7}">
          <p14:sldIdLst>
            <p14:sldId id="258"/>
            <p14:sldId id="259"/>
            <p14:sldId id="260"/>
            <p14:sldId id="261"/>
          </p14:sldIdLst>
        </p14:section>
        <p14:section name="Fazit" id="{48f0cf3a-c68a-9483-3d42-f882c01b2dd1}">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KN03 hat zwei Teile: die Testlevels und Unit Testing mit JUnit 5. Dazu habe ich einen Rechner getestet und Tests für die Bank-Simulation geschrieben.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Testlevels bauen aufeinander auf. Unit- und Component-Tests schreibt der Entwickler, sie sind schnell und laufen bei jedem Build. Je weiter rechts, desto langsamer und desto mehr wird die Software als Ganzes getestet.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Calculator habe ich 14 Tests geschrieben. BeforeEach erstellt vor jedem Test einen neuen Rechner. Mit assertThrows prüfe ich die Division durch null und mit einem parametrisierten Test mehrere Werte auf einmal. Ausführen geht in IntelliJ oder mit mvn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wichtigsten Annotations und Assertions im Überblick. Die ausführliche Zusammenfassung ist im Markdown-Dokument im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Bank speichert alle Konten in einer TreeMap. Es gibt drei Kontoarten: das Sparkonto darf nicht ins Minus, das Jugendsparkonto gibt 1 Prozent Bonus und das Lohnkonto hat eine Kreditlimite. Beträge sind in Millirappen, damit es keine Rundungsfehler gibt.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die Bank habe ich 40 Tests geschrieben. Alle Klassen ausser Main haben über 90 Prozent Abdeckung. Bei den print-Methoden leite ich System.out in einen Stream um, damit ich prüfen kann, was gedruckt wurde.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Fazit: Unit-Tests sind die Basis der Testpyramide. Sie laufen in Sekunden, und mit dem JaCoCo-Report sieht man genau, welcher Code noch nicht getestet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6858000" cy="365760"/>
          </a:xfrm>
          <a:prstGeom prst="rect">
            <a:avLst/>
          </a:prstGeom>
          <a:noFill/>
          <a:ln/>
        </p:spPr>
        <p:txBody>
          <a:bodyPr wrap="square" rtlCol="0"/>
          <a:lstStyle>
            <a:lvl1pPr indent="0" marL="0">
              <a:buNone/>
              <a:defRPr lang="en-US" sz="1400" b="1" dirty="0">
                <a:solidFill>
                  <a:schemeClr val="accent6"/>
                </a:solidFill>
              </a:defRPr>
            </a:lvl1pPr>
          </a:lstStyle>
          <a:p>
            <a:pPr indent="0" marL="0">
              <a:buNone/>
            </a:pPr>
            <a:endParaRPr lang="en-US" sz="1400" dirty="0"/>
          </a:p>
        </p:txBody>
      </p:sp>
      <p:sp>
        <p:nvSpPr>
          <p:cNvPr id="3" name="Text 0"/>
          <p:cNvSpPr/>
          <p:nvPr>
            <p:ph idx="101" type="title" hasCustomPrompt="1"/>
          </p:nvPr>
        </p:nvSpPr>
        <p:spPr>
          <a:xfrm>
            <a:off x="548640" y="1371600"/>
            <a:ext cx="694944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6949440" cy="109728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5" name="Text 0"/>
          <p:cNvSpPr/>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Denis · M450 Applikationen testen</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1000" dirty="0">
                <a:solidFill>
                  <a:schemeClr val="accent5"/>
                </a:solidFill>
              </a:rPr>
              <a:t>M450 · KN03</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6858000" cy="365760"/>
          </a:xfrm>
          <a:prstGeom prst="rect">
            <a:avLst/>
          </a:prstGeom>
          <a:noFill/>
          <a:ln/>
        </p:spPr>
        <p:txBody>
          <a:bodyPr wrap="square" lIns="0" tIns="0" rIns="0" bIns="0" rtlCol="0"/>
          <a:lstStyle/>
          <a:p>
            <a:pPr indent="0" marL="0">
              <a:buNone/>
            </a:pPr>
            <a:r>
              <a:rPr lang="en-US" sz="1400" b="1" dirty="0">
                <a:solidFill>
                  <a:schemeClr val="accent6"/>
                </a:solidFill>
              </a:rPr>
              <a:t>KN03</a:t>
            </a:r>
            <a:endParaRPr lang="en-US" sz="1400" dirty="0"/>
          </a:p>
        </p:txBody>
      </p:sp>
      <p:sp>
        <p:nvSpPr>
          <p:cNvPr id="3" name="Text 0"/>
          <p:cNvSpPr/>
          <p:nvPr>
            <p:ph idx="101" type="title" hasCustomPrompt="1"/>
          </p:nvPr>
        </p:nvSpPr>
        <p:spPr>
          <a:xfrm>
            <a:off x="548640" y="1371600"/>
            <a:ext cx="6949440"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Testlevels und Unit Testing</a:t>
            </a:r>
            <a:endParaRPr lang="en-US" sz="4000" dirty="0"/>
          </a:p>
        </p:txBody>
      </p:sp>
      <p:sp>
        <p:nvSpPr>
          <p:cNvPr id="4" name="Text 0"/>
          <p:cNvSpPr/>
          <p:nvPr>
            <p:ph idx="102" type="body" hasCustomPrompt="1"/>
          </p:nvPr>
        </p:nvSpPr>
        <p:spPr>
          <a:xfrm>
            <a:off x="548640" y="2880360"/>
            <a:ext cx="6949440" cy="1097280"/>
          </a:xfrm>
          <a:prstGeom prst="rect">
            <a:avLst/>
          </a:prstGeom>
          <a:noFill/>
          <a:ln/>
        </p:spPr>
        <p:txBody>
          <a:bodyPr wrap="square" lIns="0" tIns="0" rIns="0" bIns="0" rtlCol="0" anchor="t"/>
          <a:lstStyle/>
          <a:p>
            <a:pPr indent="0" marL="0">
              <a:buNone/>
            </a:pPr>
            <a:r>
              <a:rPr lang="en-US" sz="1800" dirty="0">
                <a:solidFill>
                  <a:schemeClr val="bg1"/>
                </a:solidFill>
              </a:rPr>
              <a:t>Von Unit bis Acceptance, JUnit 5 und Tests für die Bank-Simulation</a:t>
            </a:r>
            <a:endParaRPr lang="en-US" sz="1800" dirty="0"/>
          </a:p>
        </p:txBody>
      </p:sp>
      <p:sp>
        <p:nvSpPr>
          <p:cNvPr id="5" name="Status Kreis"/>
          <p:cNvSpPr/>
          <p:nvPr/>
        </p:nvSpPr>
        <p:spPr>
          <a:xfrm>
            <a:off x="7452360" y="1417320"/>
            <a:ext cx="1188720" cy="1188720"/>
          </a:xfrm>
          <a:prstGeom prst="ellipse">
            <a:avLst/>
          </a:prstGeom>
          <a:solidFill>
            <a:schemeClr val="accent1"/>
          </a:solidFill>
          <a:ln w="12700">
            <a:solidFill>
              <a:schemeClr val="accent1"/>
            </a:solidFill>
            <a:prstDash val="solid"/>
          </a:ln>
        </p:spPr>
      </p:sp>
      <p:sp>
        <p:nvSpPr>
          <p:cNvPr id="6" name="Haken"/>
          <p:cNvSpPr txBox="1"/>
          <p:nvPr/>
        </p:nvSpPr>
        <p:spPr>
          <a:xfrm>
            <a:off x="7452360" y="1417320"/>
            <a:ext cx="1188720" cy="1188720"/>
          </a:xfrm>
          <a:prstGeom prst="rect">
            <a:avLst/>
          </a:prstGeom>
          <a:noFill/>
          <a:ln/>
        </p:spPr>
        <p:txBody>
          <a:bodyPr wrap="square" lIns="0" tIns="0" rIns="0" bIns="0" rtlCol="0" anchor="ctr"/>
          <a:lstStyle/>
          <a:p>
            <a:pPr algn="ctr" indent="0" marL="0">
              <a:buNone/>
            </a:pPr>
            <a:r>
              <a:rPr lang="en-US" sz="4800" b="1" dirty="0">
                <a:solidFill>
                  <a:schemeClr val="bg1"/>
                </a:solidFill>
              </a:rPr>
              <a:t>✓</a:t>
            </a:r>
            <a:endParaRPr lang="en-US" sz="4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Testlevels</a:t>
            </a:r>
            <a:endParaRPr lang="en-US" sz="2800" dirty="0"/>
          </a:p>
        </p:txBody>
      </p:sp>
      <p:sp>
        <p:nvSpPr>
          <p:cNvPr id="4" name="Verbindung"/>
          <p:cNvSpPr/>
          <p:nvPr/>
        </p:nvSpPr>
        <p:spPr>
          <a:xfrm>
            <a:off x="1280160" y="1691640"/>
            <a:ext cx="6583680" cy="0"/>
          </a:xfrm>
          <a:prstGeom prst="line">
            <a:avLst/>
          </a:prstGeom>
          <a:noFill/>
          <a:ln w="38100">
            <a:solidFill>
              <a:schemeClr val="accent6"/>
            </a:solidFill>
            <a:prstDash val="solid"/>
          </a:ln>
        </p:spPr>
      </p:sp>
      <p:sp>
        <p:nvSpPr>
          <p:cNvPr id="5" name="Schritt Unit"/>
          <p:cNvSpPr/>
          <p:nvPr/>
        </p:nvSpPr>
        <p:spPr>
          <a:xfrm>
            <a:off x="960120" y="1371600"/>
            <a:ext cx="640080" cy="640080"/>
          </a:xfrm>
          <a:prstGeom prst="ellipse">
            <a:avLst/>
          </a:prstGeom>
          <a:solidFill>
            <a:schemeClr val="accent3"/>
          </a:solidFill>
          <a:ln w="38100">
            <a:solidFill>
              <a:schemeClr val="bg1"/>
            </a:solidFill>
            <a:prstDash val="solid"/>
          </a:ln>
        </p:spPr>
      </p:sp>
      <p:sp>
        <p:nvSpPr>
          <p:cNvPr id="6" name="Text 3"/>
          <p:cNvSpPr txBox="1"/>
          <p:nvPr/>
        </p:nvSpPr>
        <p:spPr>
          <a:xfrm>
            <a:off x="960120" y="13716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502920" y="2148840"/>
            <a:ext cx="1554480" cy="411480"/>
          </a:xfrm>
          <a:prstGeom prst="rect">
            <a:avLst/>
          </a:prstGeom>
          <a:noFill/>
          <a:ln/>
        </p:spPr>
        <p:txBody>
          <a:bodyPr wrap="square" lIns="0" tIns="0" rIns="0" bIns="0" rtlCol="0" anchor="t"/>
          <a:lstStyle/>
          <a:p>
            <a:pPr algn="ctr" indent="0" marL="0">
              <a:buNone/>
            </a:pPr>
            <a:r>
              <a:rPr lang="en-US" sz="1500" b="1" dirty="0">
                <a:solidFill>
                  <a:schemeClr val="tx2"/>
                </a:solidFill>
              </a:rPr>
              <a:t>Unit</a:t>
            </a:r>
            <a:endParaRPr lang="en-US" sz="1500" dirty="0"/>
          </a:p>
        </p:txBody>
      </p:sp>
      <p:sp>
        <p:nvSpPr>
          <p:cNvPr id="8" name="Text 5"/>
          <p:cNvSpPr txBox="1"/>
          <p:nvPr/>
        </p:nvSpPr>
        <p:spPr>
          <a:xfrm>
            <a:off x="530352" y="2560320"/>
            <a:ext cx="1499616" cy="1737360"/>
          </a:xfrm>
          <a:prstGeom prst="rect">
            <a:avLst/>
          </a:prstGeom>
          <a:noFill/>
          <a:ln/>
        </p:spPr>
        <p:txBody>
          <a:bodyPr wrap="square" lIns="0" tIns="0" rIns="0" bIns="0" rtlCol="0" anchor="t"/>
          <a:lstStyle/>
          <a:p>
            <a:pPr algn="ctr" indent="0" marL="0">
              <a:buNone/>
            </a:pPr>
            <a:r>
              <a:rPr lang="en-US" sz="1300" dirty="0">
                <a:solidFill>
                  <a:schemeClr val="tx1"/>
                </a:solidFill>
              </a:rPr>
              <a:t>Einzelne Klasse, White-Box, Entwickler</a:t>
            </a:r>
            <a:endParaRPr lang="en-US" sz="1300" dirty="0"/>
          </a:p>
        </p:txBody>
      </p:sp>
      <p:sp>
        <p:nvSpPr>
          <p:cNvPr id="9" name="Schritt Component"/>
          <p:cNvSpPr/>
          <p:nvPr/>
        </p:nvSpPr>
        <p:spPr>
          <a:xfrm>
            <a:off x="2606040" y="1371600"/>
            <a:ext cx="640080" cy="640080"/>
          </a:xfrm>
          <a:prstGeom prst="ellipse">
            <a:avLst/>
          </a:prstGeom>
          <a:solidFill>
            <a:schemeClr val="accent3"/>
          </a:solidFill>
          <a:ln w="38100">
            <a:solidFill>
              <a:schemeClr val="bg1"/>
            </a:solidFill>
            <a:prstDash val="solid"/>
          </a:ln>
        </p:spPr>
      </p:sp>
      <p:sp>
        <p:nvSpPr>
          <p:cNvPr id="10" name="Text 7"/>
          <p:cNvSpPr txBox="1"/>
          <p:nvPr/>
        </p:nvSpPr>
        <p:spPr>
          <a:xfrm>
            <a:off x="2606040" y="13716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8"/>
          <p:cNvSpPr txBox="1"/>
          <p:nvPr/>
        </p:nvSpPr>
        <p:spPr>
          <a:xfrm>
            <a:off x="2148840" y="2148840"/>
            <a:ext cx="1554480" cy="411480"/>
          </a:xfrm>
          <a:prstGeom prst="rect">
            <a:avLst/>
          </a:prstGeom>
          <a:noFill/>
          <a:ln/>
        </p:spPr>
        <p:txBody>
          <a:bodyPr wrap="square" lIns="0" tIns="0" rIns="0" bIns="0" rtlCol="0" anchor="t"/>
          <a:lstStyle/>
          <a:p>
            <a:pPr algn="ctr" indent="0" marL="0">
              <a:buNone/>
            </a:pPr>
            <a:r>
              <a:rPr lang="en-US" sz="1500" b="1" dirty="0">
                <a:solidFill>
                  <a:schemeClr val="tx2"/>
                </a:solidFill>
              </a:rPr>
              <a:t>Component</a:t>
            </a:r>
            <a:endParaRPr lang="en-US" sz="1500" dirty="0"/>
          </a:p>
        </p:txBody>
      </p:sp>
      <p:sp>
        <p:nvSpPr>
          <p:cNvPr id="12" name="Text 9"/>
          <p:cNvSpPr txBox="1"/>
          <p:nvPr/>
        </p:nvSpPr>
        <p:spPr>
          <a:xfrm>
            <a:off x="2176272" y="2560320"/>
            <a:ext cx="1499616" cy="1737360"/>
          </a:xfrm>
          <a:prstGeom prst="rect">
            <a:avLst/>
          </a:prstGeom>
          <a:noFill/>
          <a:ln/>
        </p:spPr>
        <p:txBody>
          <a:bodyPr wrap="square" lIns="0" tIns="0" rIns="0" bIns="0" rtlCol="0" anchor="t"/>
          <a:lstStyle/>
          <a:p>
            <a:pPr algn="ctr" indent="0" marL="0">
              <a:buNone/>
            </a:pPr>
            <a:r>
              <a:rPr lang="en-US" sz="1300" dirty="0">
                <a:solidFill>
                  <a:schemeClr val="tx1"/>
                </a:solidFill>
              </a:rPr>
              <a:t>Mehrere Klassen, DB gemockt</a:t>
            </a:r>
            <a:endParaRPr lang="en-US" sz="1300" dirty="0"/>
          </a:p>
        </p:txBody>
      </p:sp>
      <p:sp>
        <p:nvSpPr>
          <p:cNvPr id="13" name="Schritt Integration"/>
          <p:cNvSpPr/>
          <p:nvPr/>
        </p:nvSpPr>
        <p:spPr>
          <a:xfrm>
            <a:off x="4251960" y="1371600"/>
            <a:ext cx="640080" cy="640080"/>
          </a:xfrm>
          <a:prstGeom prst="ellipse">
            <a:avLst/>
          </a:prstGeom>
          <a:solidFill>
            <a:schemeClr val="accent3"/>
          </a:solidFill>
          <a:ln w="38100">
            <a:solidFill>
              <a:schemeClr val="bg1"/>
            </a:solidFill>
            <a:prstDash val="solid"/>
          </a:ln>
        </p:spPr>
      </p:sp>
      <p:sp>
        <p:nvSpPr>
          <p:cNvPr id="14" name="Text 11"/>
          <p:cNvSpPr txBox="1"/>
          <p:nvPr/>
        </p:nvSpPr>
        <p:spPr>
          <a:xfrm>
            <a:off x="4251960" y="13716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2"/>
          <p:cNvSpPr txBox="1"/>
          <p:nvPr/>
        </p:nvSpPr>
        <p:spPr>
          <a:xfrm>
            <a:off x="3794760" y="2148840"/>
            <a:ext cx="1554480" cy="411480"/>
          </a:xfrm>
          <a:prstGeom prst="rect">
            <a:avLst/>
          </a:prstGeom>
          <a:noFill/>
          <a:ln/>
        </p:spPr>
        <p:txBody>
          <a:bodyPr wrap="square" lIns="0" tIns="0" rIns="0" bIns="0" rtlCol="0" anchor="t"/>
          <a:lstStyle/>
          <a:p>
            <a:pPr algn="ctr" indent="0" marL="0">
              <a:buNone/>
            </a:pPr>
            <a:r>
              <a:rPr lang="en-US" sz="1500" b="1" dirty="0">
                <a:solidFill>
                  <a:schemeClr val="tx2"/>
                </a:solidFill>
              </a:rPr>
              <a:t>Integration</a:t>
            </a:r>
            <a:endParaRPr lang="en-US" sz="1500" dirty="0"/>
          </a:p>
        </p:txBody>
      </p:sp>
      <p:sp>
        <p:nvSpPr>
          <p:cNvPr id="16" name="Text 13"/>
          <p:cNvSpPr txBox="1"/>
          <p:nvPr/>
        </p:nvSpPr>
        <p:spPr>
          <a:xfrm>
            <a:off x="3822192" y="2560320"/>
            <a:ext cx="1499616" cy="1737360"/>
          </a:xfrm>
          <a:prstGeom prst="rect">
            <a:avLst/>
          </a:prstGeom>
          <a:noFill/>
          <a:ln/>
        </p:spPr>
        <p:txBody>
          <a:bodyPr wrap="square" lIns="0" tIns="0" rIns="0" bIns="0" rtlCol="0" anchor="t"/>
          <a:lstStyle/>
          <a:p>
            <a:pPr algn="ctr" indent="0" marL="0">
              <a:buNone/>
            </a:pPr>
            <a:r>
              <a:rPr lang="en-US" sz="1300" dirty="0">
                <a:solidFill>
                  <a:schemeClr val="tx1"/>
                </a:solidFill>
              </a:rPr>
              <a:t>Echte DB und APIs, QA-Team</a:t>
            </a:r>
            <a:endParaRPr lang="en-US" sz="1300" dirty="0"/>
          </a:p>
        </p:txBody>
      </p:sp>
      <p:sp>
        <p:nvSpPr>
          <p:cNvPr id="17" name="Schritt System"/>
          <p:cNvSpPr/>
          <p:nvPr/>
        </p:nvSpPr>
        <p:spPr>
          <a:xfrm>
            <a:off x="5897880" y="1371600"/>
            <a:ext cx="640080" cy="640080"/>
          </a:xfrm>
          <a:prstGeom prst="ellipse">
            <a:avLst/>
          </a:prstGeom>
          <a:solidFill>
            <a:schemeClr val="accent3"/>
          </a:solidFill>
          <a:ln w="38100">
            <a:solidFill>
              <a:schemeClr val="bg1"/>
            </a:solidFill>
            <a:prstDash val="solid"/>
          </a:ln>
        </p:spPr>
      </p:sp>
      <p:sp>
        <p:nvSpPr>
          <p:cNvPr id="18" name="Text 15"/>
          <p:cNvSpPr txBox="1"/>
          <p:nvPr/>
        </p:nvSpPr>
        <p:spPr>
          <a:xfrm>
            <a:off x="5897880" y="13716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5440680" y="2148840"/>
            <a:ext cx="1554480" cy="411480"/>
          </a:xfrm>
          <a:prstGeom prst="rect">
            <a:avLst/>
          </a:prstGeom>
          <a:noFill/>
          <a:ln/>
        </p:spPr>
        <p:txBody>
          <a:bodyPr wrap="square" lIns="0" tIns="0" rIns="0" bIns="0" rtlCol="0" anchor="t"/>
          <a:lstStyle/>
          <a:p>
            <a:pPr algn="ctr" indent="0" marL="0">
              <a:buNone/>
            </a:pPr>
            <a:r>
              <a:rPr lang="en-US" sz="1500" b="1" dirty="0">
                <a:solidFill>
                  <a:schemeClr val="tx2"/>
                </a:solidFill>
              </a:rPr>
              <a:t>System</a:t>
            </a:r>
            <a:endParaRPr lang="en-US" sz="1500" dirty="0"/>
          </a:p>
        </p:txBody>
      </p:sp>
      <p:sp>
        <p:nvSpPr>
          <p:cNvPr id="20" name="Text 17"/>
          <p:cNvSpPr txBox="1"/>
          <p:nvPr/>
        </p:nvSpPr>
        <p:spPr>
          <a:xfrm>
            <a:off x="5468112" y="2560320"/>
            <a:ext cx="1499616" cy="1737360"/>
          </a:xfrm>
          <a:prstGeom prst="rect">
            <a:avLst/>
          </a:prstGeom>
          <a:noFill/>
          <a:ln/>
        </p:spPr>
        <p:txBody>
          <a:bodyPr wrap="square" lIns="0" tIns="0" rIns="0" bIns="0" rtlCol="0" anchor="t"/>
          <a:lstStyle/>
          <a:p>
            <a:pPr algn="ctr" indent="0" marL="0">
              <a:buNone/>
            </a:pPr>
            <a:r>
              <a:rPr lang="en-US" sz="1300" dirty="0">
                <a:solidFill>
                  <a:schemeClr val="tx1"/>
                </a:solidFill>
              </a:rPr>
              <a:t>Ganze App, auch Performance</a:t>
            </a:r>
            <a:endParaRPr lang="en-US" sz="1300" dirty="0"/>
          </a:p>
        </p:txBody>
      </p:sp>
      <p:sp>
        <p:nvSpPr>
          <p:cNvPr id="21" name="Schritt Acceptance"/>
          <p:cNvSpPr/>
          <p:nvPr/>
        </p:nvSpPr>
        <p:spPr>
          <a:xfrm>
            <a:off x="7543800" y="1371600"/>
            <a:ext cx="640080" cy="640080"/>
          </a:xfrm>
          <a:prstGeom prst="ellipse">
            <a:avLst/>
          </a:prstGeom>
          <a:solidFill>
            <a:schemeClr val="accent1"/>
          </a:solidFill>
          <a:ln w="38100">
            <a:solidFill>
              <a:schemeClr val="bg1"/>
            </a:solidFill>
            <a:prstDash val="solid"/>
          </a:ln>
        </p:spPr>
      </p:sp>
      <p:sp>
        <p:nvSpPr>
          <p:cNvPr id="22" name="Text 19"/>
          <p:cNvSpPr txBox="1"/>
          <p:nvPr/>
        </p:nvSpPr>
        <p:spPr>
          <a:xfrm>
            <a:off x="7543800" y="13716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0"/>
          <p:cNvSpPr txBox="1"/>
          <p:nvPr/>
        </p:nvSpPr>
        <p:spPr>
          <a:xfrm>
            <a:off x="7086600" y="2148840"/>
            <a:ext cx="1554480" cy="411480"/>
          </a:xfrm>
          <a:prstGeom prst="rect">
            <a:avLst/>
          </a:prstGeom>
          <a:noFill/>
          <a:ln/>
        </p:spPr>
        <p:txBody>
          <a:bodyPr wrap="square" lIns="0" tIns="0" rIns="0" bIns="0" rtlCol="0" anchor="t"/>
          <a:lstStyle/>
          <a:p>
            <a:pPr algn="ctr" indent="0" marL="0">
              <a:buNone/>
            </a:pPr>
            <a:r>
              <a:rPr lang="en-US" sz="1500" b="1" dirty="0">
                <a:solidFill>
                  <a:schemeClr val="tx2"/>
                </a:solidFill>
              </a:rPr>
              <a:t>Acceptance</a:t>
            </a:r>
            <a:endParaRPr lang="en-US" sz="1500" dirty="0"/>
          </a:p>
        </p:txBody>
      </p:sp>
      <p:sp>
        <p:nvSpPr>
          <p:cNvPr id="24" name="Text 21"/>
          <p:cNvSpPr txBox="1"/>
          <p:nvPr/>
        </p:nvSpPr>
        <p:spPr>
          <a:xfrm>
            <a:off x="7114032" y="2560320"/>
            <a:ext cx="1499616" cy="1737360"/>
          </a:xfrm>
          <a:prstGeom prst="rect">
            <a:avLst/>
          </a:prstGeom>
          <a:noFill/>
          <a:ln/>
        </p:spPr>
        <p:txBody>
          <a:bodyPr wrap="square" lIns="0" tIns="0" rIns="0" bIns="0" rtlCol="0" anchor="t"/>
          <a:lstStyle/>
          <a:p>
            <a:pPr algn="ctr" indent="0" marL="0">
              <a:buNone/>
            </a:pPr>
            <a:r>
              <a:rPr lang="en-US" sz="1300" dirty="0">
                <a:solidFill>
                  <a:schemeClr val="tx1"/>
                </a:solidFill>
              </a:rPr>
              <a:t>Kunde prüft, Black-Box</a:t>
            </a:r>
            <a:endParaRPr lang="en-US" sz="1300" dirty="0"/>
          </a:p>
        </p:txBody>
      </p:sp>
      <p:sp>
        <p:nvSpPr>
          <p:cNvPr id="25" name="Text 22"/>
          <p:cNvSpPr txBox="1"/>
          <p:nvPr/>
        </p:nvSpPr>
        <p:spPr>
          <a:xfrm>
            <a:off x="457200" y="4023360"/>
            <a:ext cx="8229600" cy="457200"/>
          </a:xfrm>
          <a:prstGeom prst="rect">
            <a:avLst/>
          </a:prstGeom>
          <a:noFill/>
          <a:ln/>
        </p:spPr>
        <p:txBody>
          <a:bodyPr wrap="square" lIns="0" tIns="0" rIns="0" bIns="0" rtlCol="0" anchor="ctr"/>
          <a:lstStyle/>
          <a:p>
            <a:pPr indent="0" marL="0">
              <a:buNone/>
            </a:pPr>
            <a:r>
              <a:rPr lang="en-US" sz="1400" i="1" dirty="0">
                <a:solidFill>
                  <a:schemeClr val="accent5"/>
                </a:solidFill>
              </a:rPr>
              <a:t>Approach = wie (White/Black-Box)  ·  Level = wo  ·  Type = was (Last, Security, Regression)</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Aufgabe 1: Calculator mit JUnit 5</a:t>
            </a:r>
            <a:endParaRPr lang="en-US" sz="2800" dirty="0"/>
          </a:p>
        </p:txBody>
      </p:sp>
      <p:sp>
        <p:nvSpPr>
          <p:cNvPr id="4" name="Code Box"/>
          <p:cNvSpPr/>
          <p:nvPr/>
        </p:nvSpPr>
        <p:spPr>
          <a:xfrm>
            <a:off x="457200" y="1097280"/>
            <a:ext cx="5120640" cy="3383280"/>
          </a:xfrm>
          <a:prstGeom prst="roundRect">
            <a:avLst>
              <a:gd name="adj" fmla="val 2162"/>
            </a:avLst>
          </a:prstGeom>
          <a:solidFill>
            <a:schemeClr val="tx1"/>
          </a:solidFill>
          <a:ln w="12700">
            <a:solidFill>
              <a:schemeClr val="tx1"/>
            </a:solidFill>
            <a:prstDash val="solid"/>
          </a:ln>
        </p:spPr>
      </p:sp>
      <p:sp>
        <p:nvSpPr>
          <p:cNvPr id="5" name="Text 2"/>
          <p:cNvSpPr txBox="1"/>
          <p:nvPr/>
        </p:nvSpPr>
        <p:spPr>
          <a:xfrm>
            <a:off x="640080" y="1207008"/>
            <a:ext cx="4754880" cy="274320"/>
          </a:xfrm>
          <a:prstGeom prst="rect">
            <a:avLst/>
          </a:prstGeom>
          <a:noFill/>
          <a:ln/>
        </p:spPr>
        <p:txBody>
          <a:bodyPr wrap="square" lIns="0" tIns="0" rIns="0" bIns="0" rtlCol="0" anchor="ctr"/>
          <a:lstStyle/>
          <a:p>
            <a:pPr indent="0" marL="0">
              <a:buNone/>
            </a:pPr>
            <a:r>
              <a:rPr lang="en-US" sz="1100" b="1" dirty="0">
                <a:solidFill>
                  <a:schemeClr val="accent6"/>
                </a:solidFill>
              </a:rPr>
              <a:t>CalculatorTest.java</a:t>
            </a:r>
            <a:endParaRPr lang="en-US" sz="1100" dirty="0"/>
          </a:p>
        </p:txBody>
      </p:sp>
      <p:sp>
        <p:nvSpPr>
          <p:cNvPr id="6" name="Code"/>
          <p:cNvSpPr txBox="1"/>
          <p:nvPr/>
        </p:nvSpPr>
        <p:spPr>
          <a:xfrm>
            <a:off x="640080" y="1508760"/>
            <a:ext cx="4754880" cy="283464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@BeforeEach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void setUp()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calculator = new Calculator();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void divideByZeroThrowsException()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assertThrows(ArithmeticException.class,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-&gt; calculator.divide(5, 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p:txBody>
      </p:sp>
      <p:sp>
        <p:nvSpPr>
          <p:cNvPr id="7" name="Kennzahl Tests grün"/>
          <p:cNvSpPr/>
          <p:nvPr/>
        </p:nvSpPr>
        <p:spPr>
          <a:xfrm>
            <a:off x="5852160" y="1097280"/>
            <a:ext cx="2834640" cy="155448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5852160" y="1280160"/>
            <a:ext cx="2834640" cy="777240"/>
          </a:xfrm>
          <a:prstGeom prst="rect">
            <a:avLst/>
          </a:prstGeom>
          <a:noFill/>
          <a:ln/>
        </p:spPr>
        <p:txBody>
          <a:bodyPr wrap="square" lIns="0" tIns="0" rIns="0" bIns="0"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9" name="Text 6"/>
          <p:cNvSpPr txBox="1"/>
          <p:nvPr/>
        </p:nvSpPr>
        <p:spPr>
          <a:xfrm>
            <a:off x="5943600" y="2057400"/>
            <a:ext cx="2651760" cy="457200"/>
          </a:xfrm>
          <a:prstGeom prst="rect">
            <a:avLst/>
          </a:prstGeom>
          <a:noFill/>
          <a:ln/>
        </p:spPr>
        <p:txBody>
          <a:bodyPr wrap="square" lIns="0" tIns="0" rIns="0" bIns="0" rtlCol="0" anchor="t"/>
          <a:lstStyle/>
          <a:p>
            <a:pPr algn="ctr" indent="0" marL="0">
              <a:buNone/>
            </a:pPr>
            <a:r>
              <a:rPr lang="en-US" sz="1200" dirty="0">
                <a:solidFill>
                  <a:schemeClr val="tx1"/>
                </a:solidFill>
              </a:rPr>
              <a:t>Tests grün</a:t>
            </a:r>
            <a:endParaRPr lang="en-US" sz="1200" dirty="0"/>
          </a:p>
        </p:txBody>
      </p:sp>
      <p:sp>
        <p:nvSpPr>
          <p:cNvPr id="10" name="Text 7"/>
          <p:cNvSpPr txBox="1"/>
          <p:nvPr/>
        </p:nvSpPr>
        <p:spPr>
          <a:xfrm>
            <a:off x="5943600" y="2926080"/>
            <a:ext cx="2743200" cy="1280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IntelliJ: Run</a:t>
            </a:r>
            <a:endParaRPr lang="en-US" sz="1500" dirty="0"/>
          </a:p>
          <a:p>
            <a:pPr marL="342900" indent="-342900">
              <a:spcAft>
                <a:spcPts val="800"/>
              </a:spcAft>
              <a:buSzPct val="100000"/>
              <a:buChar char="•"/>
            </a:pPr>
            <a:r>
              <a:rPr lang="en-US" sz="1500" dirty="0">
                <a:solidFill>
                  <a:schemeClr val="tx1"/>
                </a:solidFill>
              </a:rPr>
              <a:t>Konsole: mvn test</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Aufgabe 2: Die wichtigsten JUnit Features</a:t>
            </a:r>
            <a:endParaRPr lang="en-US" sz="2800" dirty="0"/>
          </a:p>
        </p:txBody>
      </p:sp>
      <p:graphicFrame>
        <p:nvGraphicFramePr>
          <p:cNvPr id="5" name="Tabel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926080"/>
                <a:gridCol w="5303520"/>
              </a:tblGrid>
              <a:tr h="43891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Wofür</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Methode ist ein Test</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@BeforeEach / @AfterEach</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Vor / nach jedem Test, z.B. Objekt neu erstellen</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1"/>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@BeforeAll / @AfterAll</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Einmal vor / nach allen Tests</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@ParameterizedTest</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Gleicher Test mit vielen Werten</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1"/>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assertEquals / assertTrue</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Wert bzw. Bedingung prüfen</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assertThrows</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Prüft, ob eine Exception kommt</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1"/>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assertAll</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Mehrere Prüfungen, alle werden ausgeführt</a:t>
                      </a:r>
                      <a:endParaRPr lang="en-US" sz="1400" dirty="0">
                        <a:latin typeface="Calibri" charset="0"/>
                        <a:ea typeface="Calibri" charset="0"/>
                        <a:cs typeface="Calibri" charset="0"/>
                      </a:endParaRPr>
                    </a:p>
                  </a:txBody>
                  <a:tcPr marL="54864" marR="54864" marT="54864" marB="54864" anchor="ctr">
                    <a:lnL w="9525" cap="flat" cmpd="sng" algn="ctr">
                      <a:solidFill>
                        <a:srgbClr val="D3E0DB"/>
                      </a:solidFill>
                      <a:prstDash val="solid"/>
                      <a:round/>
                      <a:headEnd type="none" w="med" len="med"/>
                      <a:tailEnd type="none" w="med" len="med"/>
                    </a:lnL>
                    <a:lnR w="9525" cap="flat" cmpd="sng" algn="ctr">
                      <a:solidFill>
                        <a:srgbClr val="D3E0DB"/>
                      </a:solidFill>
                      <a:prstDash val="solid"/>
                      <a:round/>
                      <a:headEnd type="none" w="med" len="med"/>
                      <a:tailEnd type="none" w="med" len="med"/>
                    </a:lnR>
                    <a:lnT w="9525" cap="flat" cmpd="sng" algn="ctr">
                      <a:solidFill>
                        <a:srgbClr val="D3E0DB"/>
                      </a:solidFill>
                      <a:prstDash val="solid"/>
                      <a:round/>
                      <a:headEnd type="none" w="med" len="med"/>
                      <a:tailEnd type="none" w="med" len="med"/>
                    </a:lnT>
                    <a:lnB w="9525" cap="flat" cmpd="sng" algn="ctr">
                      <a:solidFill>
                        <a:srgbClr val="D3E0DB"/>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Aufgabe 3: Aufbau der Bank-Simulation</a:t>
            </a:r>
            <a:endParaRPr lang="en-US" sz="2800" dirty="0"/>
          </a:p>
        </p:txBody>
      </p:sp>
      <p:sp>
        <p:nvSpPr>
          <p:cNvPr id="4" name="Karte SavingsAccount"/>
          <p:cNvSpPr/>
          <p:nvPr/>
        </p:nvSpPr>
        <p:spPr>
          <a:xfrm>
            <a:off x="457200" y="1097280"/>
            <a:ext cx="2560320" cy="1828800"/>
          </a:xfrm>
          <a:prstGeom prst="roundRect">
            <a:avLst>
              <a:gd name="adj" fmla="val 4000"/>
            </a:avLst>
          </a:prstGeom>
          <a:solidFill>
            <a:schemeClr val="bg2"/>
          </a:solidFill>
          <a:ln w="12700">
            <a:solidFill>
              <a:schemeClr val="bg2"/>
            </a:solidFill>
            <a:prstDash val="solid"/>
          </a:ln>
        </p:spPr>
      </p:sp>
      <p:sp>
        <p:nvSpPr>
          <p:cNvPr id="5" name="Badge 1"/>
          <p:cNvSpPr/>
          <p:nvPr/>
        </p:nvSpPr>
        <p:spPr>
          <a:xfrm>
            <a:off x="640080" y="1280160"/>
            <a:ext cx="384048" cy="384048"/>
          </a:xfrm>
          <a:prstGeom prst="ellipse">
            <a:avLst/>
          </a:prstGeom>
          <a:solidFill>
            <a:schemeClr val="accent3"/>
          </a:solidFill>
          <a:ln w="12700">
            <a:solidFill>
              <a:schemeClr val="accent3"/>
            </a:solidFill>
            <a:prstDash val="solid"/>
          </a:ln>
        </p:spPr>
      </p:sp>
      <p:sp>
        <p:nvSpPr>
          <p:cNvPr id="6" name="Text 3"/>
          <p:cNvSpPr txBox="1"/>
          <p:nvPr/>
        </p:nvSpPr>
        <p:spPr>
          <a:xfrm>
            <a:off x="64008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143000" y="1252728"/>
            <a:ext cx="1737360" cy="438912"/>
          </a:xfrm>
          <a:prstGeom prst="rect">
            <a:avLst/>
          </a:prstGeom>
          <a:noFill/>
          <a:ln/>
        </p:spPr>
        <p:txBody>
          <a:bodyPr wrap="square" lIns="0" tIns="0" rIns="0" bIns="0" rtlCol="0" anchor="ctr">
            <a:normAutofit/>
          </a:bodyPr>
          <a:lstStyle/>
          <a:p>
            <a:pPr indent="0" marL="0">
              <a:buNone/>
            </a:pPr>
            <a:r>
              <a:rPr lang="en-US" sz="1600" b="1" dirty="0">
                <a:solidFill>
                  <a:schemeClr val="tx2"/>
                </a:solidFill>
              </a:rPr>
              <a:t>SavingsAccount</a:t>
            </a:r>
            <a:endParaRPr lang="en-US" sz="1600" dirty="0"/>
          </a:p>
        </p:txBody>
      </p:sp>
      <p:sp>
        <p:nvSpPr>
          <p:cNvPr id="8" name="Text 5"/>
          <p:cNvSpPr txBox="1"/>
          <p:nvPr/>
        </p:nvSpPr>
        <p:spPr>
          <a:xfrm>
            <a:off x="640080" y="1828800"/>
            <a:ext cx="2194560" cy="98755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Kontostand nie unter 0</a:t>
            </a:r>
            <a:endParaRPr lang="en-US" sz="1400" dirty="0"/>
          </a:p>
        </p:txBody>
      </p:sp>
      <p:sp>
        <p:nvSpPr>
          <p:cNvPr id="9" name="Karte PromoYouthSavings"/>
          <p:cNvSpPr/>
          <p:nvPr/>
        </p:nvSpPr>
        <p:spPr>
          <a:xfrm>
            <a:off x="3291840" y="1097280"/>
            <a:ext cx="2560320" cy="1828800"/>
          </a:xfrm>
          <a:prstGeom prst="roundRect">
            <a:avLst>
              <a:gd name="adj" fmla="val 4000"/>
            </a:avLst>
          </a:prstGeom>
          <a:solidFill>
            <a:schemeClr val="bg2"/>
          </a:solidFill>
          <a:ln w="12700">
            <a:solidFill>
              <a:schemeClr val="bg2"/>
            </a:solidFill>
            <a:prstDash val="solid"/>
          </a:ln>
        </p:spPr>
      </p:sp>
      <p:sp>
        <p:nvSpPr>
          <p:cNvPr id="10" name="Badge 2"/>
          <p:cNvSpPr/>
          <p:nvPr/>
        </p:nvSpPr>
        <p:spPr>
          <a:xfrm>
            <a:off x="3474720" y="1280160"/>
            <a:ext cx="384048" cy="384048"/>
          </a:xfrm>
          <a:prstGeom prst="ellipse">
            <a:avLst/>
          </a:prstGeom>
          <a:solidFill>
            <a:schemeClr val="accent3"/>
          </a:solidFill>
          <a:ln w="12700">
            <a:solidFill>
              <a:schemeClr val="accent3"/>
            </a:solidFill>
            <a:prstDash val="solid"/>
          </a:ln>
        </p:spPr>
      </p:sp>
      <p:sp>
        <p:nvSpPr>
          <p:cNvPr id="11" name="Text 8"/>
          <p:cNvSpPr txBox="1"/>
          <p:nvPr/>
        </p:nvSpPr>
        <p:spPr>
          <a:xfrm>
            <a:off x="347472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3977640" y="1252728"/>
            <a:ext cx="1737360" cy="438912"/>
          </a:xfrm>
          <a:prstGeom prst="rect">
            <a:avLst/>
          </a:prstGeom>
          <a:noFill/>
          <a:ln/>
        </p:spPr>
        <p:txBody>
          <a:bodyPr wrap="square" lIns="0" tIns="0" rIns="0" bIns="0" rtlCol="0" anchor="ctr">
            <a:normAutofit/>
          </a:bodyPr>
          <a:lstStyle/>
          <a:p>
            <a:pPr indent="0" marL="0">
              <a:buNone/>
            </a:pPr>
            <a:r>
              <a:rPr lang="en-US" sz="1600" b="1" dirty="0">
                <a:solidFill>
                  <a:schemeClr val="tx2"/>
                </a:solidFill>
              </a:rPr>
              <a:t>PromoYouthSavings</a:t>
            </a:r>
            <a:endParaRPr lang="en-US" sz="1600" dirty="0"/>
          </a:p>
        </p:txBody>
      </p:sp>
      <p:sp>
        <p:nvSpPr>
          <p:cNvPr id="13" name="Text 10"/>
          <p:cNvSpPr txBox="1"/>
          <p:nvPr/>
        </p:nvSpPr>
        <p:spPr>
          <a:xfrm>
            <a:off x="3474720" y="1828800"/>
            <a:ext cx="2194560" cy="98755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+1 % Bonus bei jeder Einzahlung</a:t>
            </a:r>
            <a:endParaRPr lang="en-US" sz="1400" dirty="0"/>
          </a:p>
        </p:txBody>
      </p:sp>
      <p:sp>
        <p:nvSpPr>
          <p:cNvPr id="14" name="Karte SalaryAccount"/>
          <p:cNvSpPr/>
          <p:nvPr/>
        </p:nvSpPr>
        <p:spPr>
          <a:xfrm>
            <a:off x="6126480" y="1097280"/>
            <a:ext cx="2560320" cy="1828800"/>
          </a:xfrm>
          <a:prstGeom prst="roundRect">
            <a:avLst>
              <a:gd name="adj" fmla="val 4000"/>
            </a:avLst>
          </a:prstGeom>
          <a:solidFill>
            <a:schemeClr val="bg2"/>
          </a:solidFill>
          <a:ln w="12700">
            <a:solidFill>
              <a:schemeClr val="bg2"/>
            </a:solidFill>
            <a:prstDash val="solid"/>
          </a:ln>
        </p:spPr>
      </p:sp>
      <p:sp>
        <p:nvSpPr>
          <p:cNvPr id="15" name="Badge 3"/>
          <p:cNvSpPr/>
          <p:nvPr/>
        </p:nvSpPr>
        <p:spPr>
          <a:xfrm>
            <a:off x="6309360" y="1280160"/>
            <a:ext cx="384048" cy="384048"/>
          </a:xfrm>
          <a:prstGeom prst="ellipse">
            <a:avLst/>
          </a:prstGeom>
          <a:solidFill>
            <a:schemeClr val="accent3"/>
          </a:solidFill>
          <a:ln w="12700">
            <a:solidFill>
              <a:schemeClr val="accent3"/>
            </a:solidFill>
            <a:prstDash val="solid"/>
          </a:ln>
        </p:spPr>
      </p:sp>
      <p:sp>
        <p:nvSpPr>
          <p:cNvPr id="16" name="Text 13"/>
          <p:cNvSpPr txBox="1"/>
          <p:nvPr/>
        </p:nvSpPr>
        <p:spPr>
          <a:xfrm>
            <a:off x="630936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6812280" y="1252728"/>
            <a:ext cx="1737360" cy="438912"/>
          </a:xfrm>
          <a:prstGeom prst="rect">
            <a:avLst/>
          </a:prstGeom>
          <a:noFill/>
          <a:ln/>
        </p:spPr>
        <p:txBody>
          <a:bodyPr wrap="square" lIns="0" tIns="0" rIns="0" bIns="0" rtlCol="0" anchor="ctr">
            <a:normAutofit/>
          </a:bodyPr>
          <a:lstStyle/>
          <a:p>
            <a:pPr indent="0" marL="0">
              <a:buNone/>
            </a:pPr>
            <a:r>
              <a:rPr lang="en-US" sz="1600" b="1" dirty="0">
                <a:solidFill>
                  <a:schemeClr val="tx2"/>
                </a:solidFill>
              </a:rPr>
              <a:t>SalaryAccount</a:t>
            </a:r>
            <a:endParaRPr lang="en-US" sz="1600" dirty="0"/>
          </a:p>
        </p:txBody>
      </p:sp>
      <p:sp>
        <p:nvSpPr>
          <p:cNvPr id="18" name="Text 15"/>
          <p:cNvSpPr txBox="1"/>
          <p:nvPr/>
        </p:nvSpPr>
        <p:spPr>
          <a:xfrm>
            <a:off x="6309360" y="1828800"/>
            <a:ext cx="2194560" cy="98755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Darf bis zur Kreditlimite ins Minus</a:t>
            </a:r>
            <a:endParaRPr lang="en-US" sz="1400" dirty="0"/>
          </a:p>
        </p:txBody>
      </p:sp>
      <p:sp>
        <p:nvSpPr>
          <p:cNvPr id="19" name="Karte Bank"/>
          <p:cNvSpPr/>
          <p:nvPr/>
        </p:nvSpPr>
        <p:spPr>
          <a:xfrm>
            <a:off x="457200" y="3200400"/>
            <a:ext cx="3977640" cy="1325880"/>
          </a:xfrm>
          <a:prstGeom prst="roundRect">
            <a:avLst>
              <a:gd name="adj" fmla="val 5517"/>
            </a:avLst>
          </a:prstGeom>
          <a:solidFill>
            <a:schemeClr val="bg2"/>
          </a:solidFill>
          <a:ln w="12700">
            <a:solidFill>
              <a:schemeClr val="bg2"/>
            </a:solidFill>
            <a:prstDash val="solid"/>
          </a:ln>
        </p:spPr>
      </p:sp>
      <p:sp>
        <p:nvSpPr>
          <p:cNvPr id="20" name="Badge B"/>
          <p:cNvSpPr/>
          <p:nvPr/>
        </p:nvSpPr>
        <p:spPr>
          <a:xfrm>
            <a:off x="640080" y="3383280"/>
            <a:ext cx="384048" cy="384048"/>
          </a:xfrm>
          <a:prstGeom prst="ellipse">
            <a:avLst/>
          </a:prstGeom>
          <a:solidFill>
            <a:schemeClr val="accent3"/>
          </a:solidFill>
          <a:ln w="12700">
            <a:solidFill>
              <a:schemeClr val="accent3"/>
            </a:solidFill>
            <a:prstDash val="solid"/>
          </a:ln>
        </p:spPr>
      </p:sp>
      <p:sp>
        <p:nvSpPr>
          <p:cNvPr id="21" name="Text 18"/>
          <p:cNvSpPr txBox="1"/>
          <p:nvPr/>
        </p:nvSpPr>
        <p:spPr>
          <a:xfrm>
            <a:off x="64008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22" name="Text 19"/>
          <p:cNvSpPr txBox="1"/>
          <p:nvPr/>
        </p:nvSpPr>
        <p:spPr>
          <a:xfrm>
            <a:off x="1143000" y="3355848"/>
            <a:ext cx="3154680" cy="438912"/>
          </a:xfrm>
          <a:prstGeom prst="rect">
            <a:avLst/>
          </a:prstGeom>
          <a:noFill/>
          <a:ln/>
        </p:spPr>
        <p:txBody>
          <a:bodyPr wrap="square" lIns="0" tIns="0" rIns="0" bIns="0" rtlCol="0" anchor="ctr">
            <a:normAutofit/>
          </a:bodyPr>
          <a:lstStyle/>
          <a:p>
            <a:pPr indent="0" marL="0">
              <a:buNone/>
            </a:pPr>
            <a:r>
              <a:rPr lang="en-US" sz="1600" b="1" dirty="0">
                <a:solidFill>
                  <a:schemeClr val="tx2"/>
                </a:solidFill>
              </a:rPr>
              <a:t>Bank</a:t>
            </a:r>
            <a:endParaRPr lang="en-US" sz="1600" dirty="0"/>
          </a:p>
        </p:txBody>
      </p:sp>
      <p:sp>
        <p:nvSpPr>
          <p:cNvPr id="23" name="Text 20"/>
          <p:cNvSpPr txBox="1"/>
          <p:nvPr/>
        </p:nvSpPr>
        <p:spPr>
          <a:xfrm>
            <a:off x="640080" y="3931920"/>
            <a:ext cx="3611880" cy="48463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TreeMap mit allen Konten, Top 5 / Bottom 5</a:t>
            </a:r>
            <a:endParaRPr lang="en-US" sz="1400" dirty="0"/>
          </a:p>
        </p:txBody>
      </p:sp>
      <p:sp>
        <p:nvSpPr>
          <p:cNvPr id="24" name="Karte Booking"/>
          <p:cNvSpPr/>
          <p:nvPr/>
        </p:nvSpPr>
        <p:spPr>
          <a:xfrm>
            <a:off x="4709160" y="3200400"/>
            <a:ext cx="3977640" cy="1325880"/>
          </a:xfrm>
          <a:prstGeom prst="roundRect">
            <a:avLst>
              <a:gd name="adj" fmla="val 5517"/>
            </a:avLst>
          </a:prstGeom>
          <a:solidFill>
            <a:schemeClr val="bg2"/>
          </a:solidFill>
          <a:ln w="12700">
            <a:solidFill>
              <a:schemeClr val="bg2"/>
            </a:solidFill>
            <a:prstDash val="solid"/>
          </a:ln>
        </p:spPr>
      </p:sp>
      <p:sp>
        <p:nvSpPr>
          <p:cNvPr id="25" name="Badge b"/>
          <p:cNvSpPr/>
          <p:nvPr/>
        </p:nvSpPr>
        <p:spPr>
          <a:xfrm>
            <a:off x="4892040" y="3383280"/>
            <a:ext cx="384048" cy="384048"/>
          </a:xfrm>
          <a:prstGeom prst="ellipse">
            <a:avLst/>
          </a:prstGeom>
          <a:solidFill>
            <a:schemeClr val="accent3"/>
          </a:solidFill>
          <a:ln w="12700">
            <a:solidFill>
              <a:schemeClr val="accent3"/>
            </a:solidFill>
            <a:prstDash val="solid"/>
          </a:ln>
        </p:spPr>
      </p:sp>
      <p:sp>
        <p:nvSpPr>
          <p:cNvPr id="26" name="Text 23"/>
          <p:cNvSpPr txBox="1"/>
          <p:nvPr/>
        </p:nvSpPr>
        <p:spPr>
          <a:xfrm>
            <a:off x="4892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27" name="Text 24"/>
          <p:cNvSpPr txBox="1"/>
          <p:nvPr/>
        </p:nvSpPr>
        <p:spPr>
          <a:xfrm>
            <a:off x="5394960" y="3355848"/>
            <a:ext cx="3154680" cy="438912"/>
          </a:xfrm>
          <a:prstGeom prst="rect">
            <a:avLst/>
          </a:prstGeom>
          <a:noFill/>
          <a:ln/>
        </p:spPr>
        <p:txBody>
          <a:bodyPr wrap="square" lIns="0" tIns="0" rIns="0" bIns="0" rtlCol="0" anchor="ctr">
            <a:normAutofit/>
          </a:bodyPr>
          <a:lstStyle/>
          <a:p>
            <a:pPr indent="0" marL="0">
              <a:buNone/>
            </a:pPr>
            <a:r>
              <a:rPr lang="en-US" sz="1600" b="1" dirty="0">
                <a:solidFill>
                  <a:schemeClr val="tx2"/>
                </a:solidFill>
              </a:rPr>
              <a:t>Booking</a:t>
            </a:r>
            <a:endParaRPr lang="en-US" sz="1600" dirty="0"/>
          </a:p>
        </p:txBody>
      </p:sp>
      <p:sp>
        <p:nvSpPr>
          <p:cNvPr id="28" name="Text 25"/>
          <p:cNvSpPr txBox="1"/>
          <p:nvPr/>
        </p:nvSpPr>
        <p:spPr>
          <a:xfrm>
            <a:off x="4892040" y="3931920"/>
            <a:ext cx="3611880" cy="48463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Datum + Betrag, Abhebungen negativ</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Aufgabe 4: Unit-Tests und Coverage</a:t>
            </a:r>
            <a:endParaRPr lang="en-US" sz="2800" dirty="0"/>
          </a:p>
        </p:txBody>
      </p:sp>
      <p:sp>
        <p:nvSpPr>
          <p:cNvPr id="4" name="Kennzahl Tests grün"/>
          <p:cNvSpPr/>
          <p:nvPr/>
        </p:nvSpPr>
        <p:spPr>
          <a:xfrm>
            <a:off x="457200" y="1051560"/>
            <a:ext cx="2560320" cy="13716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457200" y="1143000"/>
            <a:ext cx="2560320" cy="777240"/>
          </a:xfrm>
          <a:prstGeom prst="rect">
            <a:avLst/>
          </a:prstGeom>
          <a:noFill/>
          <a:ln/>
        </p:spPr>
        <p:txBody>
          <a:bodyPr wrap="square" lIns="0" tIns="0" rIns="0" bIns="0"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40</a:t>
            </a:r>
            <a:endParaRPr lang="en-US" sz="3600" dirty="0"/>
          </a:p>
        </p:txBody>
      </p:sp>
      <p:sp>
        <p:nvSpPr>
          <p:cNvPr id="6" name="Text 3"/>
          <p:cNvSpPr txBox="1"/>
          <p:nvPr/>
        </p:nvSpPr>
        <p:spPr>
          <a:xfrm>
            <a:off x="548640" y="1920240"/>
            <a:ext cx="2377440" cy="457200"/>
          </a:xfrm>
          <a:prstGeom prst="rect">
            <a:avLst/>
          </a:prstGeom>
          <a:noFill/>
          <a:ln/>
        </p:spPr>
        <p:txBody>
          <a:bodyPr wrap="square" lIns="0" tIns="0" rIns="0" bIns="0" rtlCol="0" anchor="t"/>
          <a:lstStyle/>
          <a:p>
            <a:pPr algn="ctr" indent="0" marL="0">
              <a:buNone/>
            </a:pPr>
            <a:r>
              <a:rPr lang="en-US" sz="1200" dirty="0">
                <a:solidFill>
                  <a:schemeClr val="tx1"/>
                </a:solidFill>
              </a:rPr>
              <a:t>Tests grün</a:t>
            </a:r>
            <a:endParaRPr lang="en-US" sz="1200" dirty="0"/>
          </a:p>
        </p:txBody>
      </p:sp>
      <p:sp>
        <p:nvSpPr>
          <p:cNvPr id="7" name="Kennzahl Account, Booking, Konten"/>
          <p:cNvSpPr/>
          <p:nvPr/>
        </p:nvSpPr>
        <p:spPr>
          <a:xfrm>
            <a:off x="3291840" y="1051560"/>
            <a:ext cx="2560320" cy="13716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3291840" y="1143000"/>
            <a:ext cx="2560320" cy="777240"/>
          </a:xfrm>
          <a:prstGeom prst="rect">
            <a:avLst/>
          </a:prstGeom>
          <a:noFill/>
          <a:ln/>
        </p:spPr>
        <p:txBody>
          <a:bodyPr wrap="square" lIns="0" tIns="0" rIns="0" bIns="0"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100 %</a:t>
            </a:r>
            <a:endParaRPr lang="en-US" sz="3600" dirty="0"/>
          </a:p>
        </p:txBody>
      </p:sp>
      <p:sp>
        <p:nvSpPr>
          <p:cNvPr id="9" name="Text 6"/>
          <p:cNvSpPr txBox="1"/>
          <p:nvPr/>
        </p:nvSpPr>
        <p:spPr>
          <a:xfrm>
            <a:off x="3383280" y="1920240"/>
            <a:ext cx="2377440" cy="457200"/>
          </a:xfrm>
          <a:prstGeom prst="rect">
            <a:avLst/>
          </a:prstGeom>
          <a:noFill/>
          <a:ln/>
        </p:spPr>
        <p:txBody>
          <a:bodyPr wrap="square" lIns="0" tIns="0" rIns="0" bIns="0" rtlCol="0" anchor="t"/>
          <a:lstStyle/>
          <a:p>
            <a:pPr algn="ctr" indent="0" marL="0">
              <a:buNone/>
            </a:pPr>
            <a:r>
              <a:rPr lang="en-US" sz="1200" dirty="0">
                <a:solidFill>
                  <a:schemeClr val="tx1"/>
                </a:solidFill>
              </a:rPr>
              <a:t>Account, Booking, Konten</a:t>
            </a:r>
            <a:endParaRPr lang="en-US" sz="1200" dirty="0"/>
          </a:p>
        </p:txBody>
      </p:sp>
      <p:sp>
        <p:nvSpPr>
          <p:cNvPr id="10" name="Kennzahl Bank"/>
          <p:cNvSpPr/>
          <p:nvPr/>
        </p:nvSpPr>
        <p:spPr>
          <a:xfrm>
            <a:off x="6126480" y="1051560"/>
            <a:ext cx="2560320" cy="1371600"/>
          </a:xfrm>
          <a:prstGeom prst="roundRect">
            <a:avLst>
              <a:gd name="adj" fmla="val 5333"/>
            </a:avLst>
          </a:prstGeom>
          <a:solidFill>
            <a:schemeClr val="bg2"/>
          </a:solidFill>
          <a:ln w="12700">
            <a:solidFill>
              <a:schemeClr val="bg2"/>
            </a:solidFill>
            <a:prstDash val="solid"/>
          </a:ln>
        </p:spPr>
      </p:sp>
      <p:sp>
        <p:nvSpPr>
          <p:cNvPr id="11" name="Text 8"/>
          <p:cNvSpPr txBox="1"/>
          <p:nvPr/>
        </p:nvSpPr>
        <p:spPr>
          <a:xfrm>
            <a:off x="6126480" y="1143000"/>
            <a:ext cx="2560320" cy="777240"/>
          </a:xfrm>
          <a:prstGeom prst="rect">
            <a:avLst/>
          </a:prstGeom>
          <a:noFill/>
          <a:ln/>
        </p:spPr>
        <p:txBody>
          <a:bodyPr wrap="square" lIns="0" tIns="0" rIns="0" bIns="0"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97 %</a:t>
            </a:r>
            <a:endParaRPr lang="en-US" sz="3600" dirty="0"/>
          </a:p>
        </p:txBody>
      </p:sp>
      <p:sp>
        <p:nvSpPr>
          <p:cNvPr id="12" name="Text 9"/>
          <p:cNvSpPr txBox="1"/>
          <p:nvPr/>
        </p:nvSpPr>
        <p:spPr>
          <a:xfrm>
            <a:off x="6217920" y="1920240"/>
            <a:ext cx="2377440" cy="457200"/>
          </a:xfrm>
          <a:prstGeom prst="rect">
            <a:avLst/>
          </a:prstGeom>
          <a:noFill/>
          <a:ln/>
        </p:spPr>
        <p:txBody>
          <a:bodyPr wrap="square" lIns="0" tIns="0" rIns="0" bIns="0" rtlCol="0" anchor="t"/>
          <a:lstStyle/>
          <a:p>
            <a:pPr algn="ctr" indent="0" marL="0">
              <a:buNone/>
            </a:pPr>
            <a:r>
              <a:rPr lang="en-US" sz="1200" dirty="0">
                <a:solidFill>
                  <a:schemeClr val="tx1"/>
                </a:solidFill>
              </a:rPr>
              <a:t>Bank</a:t>
            </a:r>
            <a:endParaRPr lang="en-US" sz="1200" dirty="0"/>
          </a:p>
        </p:txBody>
      </p:sp>
      <p:sp>
        <p:nvSpPr>
          <p:cNvPr id="13" name="Code Box"/>
          <p:cNvSpPr/>
          <p:nvPr/>
        </p:nvSpPr>
        <p:spPr>
          <a:xfrm>
            <a:off x="457200" y="2697480"/>
            <a:ext cx="8229600" cy="1828800"/>
          </a:xfrm>
          <a:prstGeom prst="roundRect">
            <a:avLst>
              <a:gd name="adj" fmla="val 4000"/>
            </a:avLst>
          </a:prstGeom>
          <a:solidFill>
            <a:schemeClr val="tx1"/>
          </a:solidFill>
          <a:ln w="12700">
            <a:solidFill>
              <a:schemeClr val="tx1"/>
            </a:solidFill>
            <a:prstDash val="solid"/>
          </a:ln>
        </p:spPr>
      </p:sp>
      <p:sp>
        <p:nvSpPr>
          <p:cNvPr id="14" name="Text 11"/>
          <p:cNvSpPr txBox="1"/>
          <p:nvPr/>
        </p:nvSpPr>
        <p:spPr>
          <a:xfrm>
            <a:off x="640080" y="2807208"/>
            <a:ext cx="7863840" cy="274320"/>
          </a:xfrm>
          <a:prstGeom prst="rect">
            <a:avLst/>
          </a:prstGeom>
          <a:noFill/>
          <a:ln/>
        </p:spPr>
        <p:txBody>
          <a:bodyPr wrap="square" lIns="0" tIns="0" rIns="0" bIns="0" rtlCol="0" anchor="ctr"/>
          <a:lstStyle/>
          <a:p>
            <a:pPr indent="0" marL="0">
              <a:buNone/>
            </a:pPr>
            <a:r>
              <a:rPr lang="en-US" sz="1100" b="1" dirty="0">
                <a:solidFill>
                  <a:schemeClr val="accent6"/>
                </a:solidFill>
              </a:rPr>
              <a:t>Ausgabe von print() testen</a:t>
            </a:r>
            <a:endParaRPr lang="en-US" sz="1100" dirty="0"/>
          </a:p>
        </p:txBody>
      </p:sp>
      <p:sp>
        <p:nvSpPr>
          <p:cNvPr id="15" name="Code"/>
          <p:cNvSpPr txBox="1"/>
          <p:nvPr/>
        </p:nvSpPr>
        <p:spPr>
          <a:xfrm>
            <a:off x="640080" y="3108960"/>
            <a:ext cx="7863840" cy="1280160"/>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output = new ByteArrayOutputStream();</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System.setOut(new PrintStream(output));</a:t>
            </a:r>
            <a:endParaRPr lang="en-US" sz="1300" dirty="0"/>
          </a:p>
          <a:p>
            <a:pPr indent="0" marL="0">
              <a:buNone/>
            </a:pP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account.print();</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assertTrue(output.toString().contains("01.01.1970"));</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6858000" cy="365760"/>
          </a:xfrm>
          <a:prstGeom prst="rect">
            <a:avLst/>
          </a:prstGeom>
          <a:noFill/>
          <a:ln/>
        </p:spPr>
        <p:txBody>
          <a:bodyPr wrap="square" lIns="0" tIns="0" rIns="0" bIns="0" rtlCol="0"/>
          <a:lstStyle/>
          <a:p>
            <a:pPr indent="0" marL="0">
              <a:buNone/>
            </a:pPr>
            <a:r>
              <a:rPr lang="en-US" sz="1400" b="1" dirty="0">
                <a:solidFill>
                  <a:schemeClr val="accent6"/>
                </a:solidFill>
              </a:rPr>
              <a:t>Fazit</a:t>
            </a:r>
            <a:endParaRPr lang="en-US" sz="1400" dirty="0"/>
          </a:p>
        </p:txBody>
      </p:sp>
      <p:sp>
        <p:nvSpPr>
          <p:cNvPr id="3" name="Text 0"/>
          <p:cNvSpPr/>
          <p:nvPr>
            <p:ph idx="101" type="title" hasCustomPrompt="1"/>
          </p:nvPr>
        </p:nvSpPr>
        <p:spPr>
          <a:xfrm>
            <a:off x="548640" y="1371600"/>
            <a:ext cx="6949440"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Unit-Tests geben Sicherheit</a:t>
            </a:r>
            <a:endParaRPr lang="en-US" sz="4000" dirty="0"/>
          </a:p>
        </p:txBody>
      </p:sp>
      <p:sp>
        <p:nvSpPr>
          <p:cNvPr id="4" name="Text 0"/>
          <p:cNvSpPr/>
          <p:nvPr>
            <p:ph idx="102" type="body" hasCustomPrompt="1"/>
          </p:nvPr>
        </p:nvSpPr>
        <p:spPr>
          <a:xfrm>
            <a:off x="548640" y="2880360"/>
            <a:ext cx="6949440" cy="1097280"/>
          </a:xfrm>
          <a:prstGeom prst="rect">
            <a:avLst/>
          </a:prstGeom>
          <a:noFill/>
          <a:ln/>
        </p:spPr>
        <p:txBody>
          <a:bodyPr wrap="square" lIns="0" tIns="0" rIns="0" bIns="0" rtlCol="0" anchor="t"/>
          <a:lstStyle/>
          <a:p>
            <a:pPr indent="0" marL="0">
              <a:buNone/>
            </a:pPr>
            <a:r>
              <a:rPr lang="en-US" sz="1800" dirty="0">
                <a:solidFill>
                  <a:schemeClr val="bg1"/>
                </a:solidFill>
              </a:rPr>
              <a:t>Schnell, automatisch und mit Coverage-Report sichtbar.</a:t>
            </a:r>
            <a:endParaRPr lang="en-US" sz="1800" dirty="0"/>
          </a:p>
        </p:txBody>
      </p:sp>
      <p:sp>
        <p:nvSpPr>
          <p:cNvPr id="5" name="Status Kreis"/>
          <p:cNvSpPr/>
          <p:nvPr/>
        </p:nvSpPr>
        <p:spPr>
          <a:xfrm>
            <a:off x="7452360" y="1417320"/>
            <a:ext cx="1188720" cy="1188720"/>
          </a:xfrm>
          <a:prstGeom prst="ellipse">
            <a:avLst/>
          </a:prstGeom>
          <a:solidFill>
            <a:schemeClr val="accent1"/>
          </a:solidFill>
          <a:ln w="12700">
            <a:solidFill>
              <a:schemeClr val="accent1"/>
            </a:solidFill>
            <a:prstDash val="solid"/>
          </a:ln>
        </p:spPr>
      </p:sp>
      <p:sp>
        <p:nvSpPr>
          <p:cNvPr id="6" name="Haken"/>
          <p:cNvSpPr txBox="1"/>
          <p:nvPr/>
        </p:nvSpPr>
        <p:spPr>
          <a:xfrm>
            <a:off x="7452360" y="1417320"/>
            <a:ext cx="1188720" cy="1188720"/>
          </a:xfrm>
          <a:prstGeom prst="rect">
            <a:avLst/>
          </a:prstGeom>
          <a:noFill/>
          <a:ln/>
        </p:spPr>
        <p:txBody>
          <a:bodyPr wrap="square" lIns="0" tIns="0" rIns="0" bIns="0" rtlCol="0" anchor="ctr"/>
          <a:lstStyle/>
          <a:p>
            <a:pPr algn="ctr" indent="0" marL="0">
              <a:buNone/>
            </a:pPr>
            <a:r>
              <a:rPr lang="en-US" sz="4800" b="1" dirty="0">
                <a:solidFill>
                  <a:schemeClr val="bg1"/>
                </a:solidFill>
              </a:rPr>
              <a:t>✓</a:t>
            </a:r>
            <a:endParaRPr lang="en-US" sz="4800" dirty="0"/>
          </a:p>
        </p:txBody>
      </p:sp>
    </p:spTree>
  </p:cSld>
  <p:clrMapOvr>
    <a:masterClrMapping/>
  </p:clrMapOvr>
</p:sld>
</file>

<file path=ppt/theme/theme1.xml><?xml version="1.0" encoding="utf-8"?>
<a:theme xmlns:a="http://schemas.openxmlformats.org/drawingml/2006/main" name="M450 Testing">
  <a:themeElements>
    <a:clrScheme name="M450 Testing">
      <a:dk1>
        <a:srgbClr val="1B2A2F"/>
      </a:dk1>
      <a:lt1>
        <a:srgbClr val="FFFFFF"/>
      </a:lt1>
      <a:dk2>
        <a:srgbClr val="1F4A40"/>
      </a:dk2>
      <a:lt2>
        <a:srgbClr val="EDF4F1"/>
      </a:lt2>
      <a:accent1>
        <a:srgbClr val="2EA043"/>
      </a:accent1>
      <a:accent2>
        <a:srgbClr val="D73A49"/>
      </a:accent2>
      <a:accent3>
        <a:srgbClr val="0E7C66"/>
      </a:accent3>
      <a:accent4>
        <a:srgbClr val="E3A008"/>
      </a:accent4>
      <a:accent5>
        <a:srgbClr val="5B7B75"/>
      </a:accent5>
      <a:accent6>
        <a:srgbClr val="A8E0CC"/>
      </a:accent6>
      <a:hlink>
        <a:srgbClr val="0E7C66"/>
      </a:hlink>
      <a:folHlink>
        <a:srgbClr val="5B7B75"/>
      </a:folHlink>
    </a:clrScheme>
    <a:fontScheme name="M450 Te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KN03 – Testlevels und Unit Testing</dc:title>
  <dc:subject>PptxGenJS Presentation</dc:subject>
  <dc:creator>Denis</dc:creator>
  <cp:lastModifiedBy>Denis</cp:lastModifiedBy>
  <cp:revision>1</cp:revision>
  <dcterms:created xsi:type="dcterms:W3CDTF">2026-10-16T09:32:12Z</dcterms:created>
  <dcterms:modified xsi:type="dcterms:W3CDTF">2026-10-16T09:32:12Z</dcterms:modified>
</cp:coreProperties>
</file>