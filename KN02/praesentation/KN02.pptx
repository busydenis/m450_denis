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Einstieg" id="{ed3016ed-39bc-4bfb-434e-6e2c1c537b81}">
          <p14:sldIdLst>
            <p14:sldId id="256"/>
          </p14:sldIdLst>
        </p14:section>
        <p14:section name="Übung 1" id="{1be7ca7f-423d-e9c7-dfec-df982bbcf16a}">
          <p14:sldIdLst>
            <p14:sldId id="257"/>
            <p14:sldId id="258"/>
          </p14:sldIdLst>
        </p14:section>
        <p14:section name="Übung 2" id="{bbe6be43-00c4-9510-5418-5c9bd86a2fc9}">
          <p14:sldIdLst>
            <p14:sldId id="259"/>
          </p14:sldIdLst>
        </p14:section>
        <p14:section name="Übung 3" id="{21d15304-bdee-5f6c-e090-b632b9a963de}">
          <p14:sldIdLst>
            <p14:sldId id="260"/>
            <p14:sldId id="261"/>
            <p14:sldId id="262"/>
          </p14:sldIdLst>
        </p14:section>
        <p14:section name="Fazit" id="{b5a06ec4-e670-ce00-1a37-23c49d1a8d54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KN02 geht es um Testfälle: abstrakt und konkret für eine Rabattregel, Black-Box Tests für eine Autovermietung und eine Analyse der Bank-Software.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Übung 1: Die abstrakten Testfälle beschreiben die Regeln nur mit Operatoren wie kleiner oder grösser. Es gibt vier Preisbereiche und einen Fehlerfall für negative Preise.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Bei den konkreten Testfällen setze ich echte Werte ein, vor allem an den Grenzen. Dort passieren die meisten Fehler, zum Beispiel wenn jemand kleiner statt kleiner gleich programmiert.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Übung 2: Fünf funktionale Black-Box Tests für sixt.ch. Ich kenne den Code nicht, ich teste nur, was ich als Benutzer sehe. Die echte Buchung habe ich nicht durchgeführt, das geht nur auf einer Testumgebung.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Übung 3: Die Bank-Software ist eine Konsolen-App. Main startet alles, die Bank verwaltet die Konten, Account ist ein einzelnes Konto, Counter ist der Schalter mit dem Menü und ExchangeRate holt den Wechselkurs aus dem Internet.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Von elf Black-Box Tests haben drei einen Fehler gezeigt: Euro zu Franken wird nicht umgerechnet, negative Einzahlungen sind möglich und eine leere Eingabe bringt das Programm zum Absturz.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Für White-Box Tests eignen sich deposit, withdraw, getAccount und convertCurrency. Am Code würde ich vor allem Logik und Konsolen-Ausgabe trennen, Eingaben prüfen und den API-Key aus dem Code nehmen.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Fazit: Aus den Anforderungen lassen sich Testfälle direkt ableiten. Besonders wertvoll sind Grenzwerte und ungültige Eingaben, bei der Bank-Software haben genau diese die Fehler gezeigt.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960120"/>
            <a:ext cx="68580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371600"/>
            <a:ext cx="694944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880360"/>
            <a:ext cx="69494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5" name="Text 0"/>
          <p:cNvSpPr/>
          <p:nvPr/>
        </p:nvSpPr>
        <p:spPr>
          <a:xfrm>
            <a:off x="548640" y="44805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Denis · M450 Applikationen testen</a:t>
            </a:r>
            <a:endParaRPr lang="en-US" sz="11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457200" y="47548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M450 · KN02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96012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KN02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37160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Teststrategie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880360"/>
            <a:ext cx="6949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Abstrakte und konkrete Testfälle, Black-Box Tests und die Bank-Software</a:t>
            </a:r>
            <a:endParaRPr lang="en-US" sz="1800" dirty="0"/>
          </a:p>
        </p:txBody>
      </p:sp>
      <p:sp>
        <p:nvSpPr>
          <p:cNvPr id="5" name="Status Kreis"/>
          <p:cNvSpPr/>
          <p:nvPr/>
        </p:nvSpPr>
        <p:spPr>
          <a:xfrm>
            <a:off x="7452360" y="1417320"/>
            <a:ext cx="1188720" cy="11887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Haken"/>
          <p:cNvSpPr txBox="1"/>
          <p:nvPr/>
        </p:nvSpPr>
        <p:spPr>
          <a:xfrm>
            <a:off x="7452360" y="141732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✓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Abstrakte Testfälle: Rabattregeln</a:t>
            </a:r>
            <a:endParaRPr lang="en-US" sz="2800" dirty="0"/>
          </a:p>
        </p:txBody>
      </p:sp>
      <p:graphicFrame>
        <p:nvGraphicFramePr>
          <p:cNvPr id="3" name="Tabel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493776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560320"/>
                <a:gridCol w="16459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Kaufpreis 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Rabatt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 &lt; 15'000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15'000 ≤ P ≤ 20'000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20'000 &lt; P &lt; 25'000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 ≥ 25'000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8.5 %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 &lt; 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Fehlermeldung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5" name="Karte Abstrakt"/>
          <p:cNvSpPr/>
          <p:nvPr/>
        </p:nvSpPr>
        <p:spPr>
          <a:xfrm>
            <a:off x="5669280" y="1097280"/>
            <a:ext cx="3017520" cy="2743200"/>
          </a:xfrm>
          <a:prstGeom prst="roundRect">
            <a:avLst>
              <a:gd name="adj" fmla="val 2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Badge &lt;"/>
          <p:cNvSpPr/>
          <p:nvPr/>
        </p:nvSpPr>
        <p:spPr>
          <a:xfrm>
            <a:off x="5852160" y="128016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585216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&lt;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6355080" y="1252728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Abstrakt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5852160" y="1828800"/>
            <a:ext cx="2651760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Logische Operatoren statt fixe Werte. Beschreibt die Regel.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Konkrete Testfälle mit Grenzwerten</a:t>
            </a:r>
            <a:endParaRPr lang="en-US" sz="2800" dirty="0"/>
          </a:p>
        </p:txBody>
      </p:sp>
      <p:graphicFrame>
        <p:nvGraphicFramePr>
          <p:cNvPr id="4" name="Tabel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54864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645920"/>
                <a:gridCol w="1097280"/>
                <a:gridCol w="201168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Preis (CHF)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Rabatt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Endpreis (CHF)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14'999.95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14'999.95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15'000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14'250.00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20'000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19'000.00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20'000.05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18'600.05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25'000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8.5 %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22'875.00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Fehlermeldung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Kennzahl konkrete Testfälle, davon 6 an Grenzwerten"/>
          <p:cNvSpPr/>
          <p:nvPr/>
        </p:nvSpPr>
        <p:spPr>
          <a:xfrm>
            <a:off x="6217920" y="1097280"/>
            <a:ext cx="246888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6217920" y="160020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3600" dirty="0"/>
          </a:p>
        </p:txBody>
      </p:sp>
      <p:sp>
        <p:nvSpPr>
          <p:cNvPr id="7" name="Text 3"/>
          <p:cNvSpPr txBox="1"/>
          <p:nvPr/>
        </p:nvSpPr>
        <p:spPr>
          <a:xfrm>
            <a:off x="6309360" y="23774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konkrete Testfälle, davon 6 an Grenzwerten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Black-Box Tests: Autovermietung</a:t>
            </a:r>
            <a:endParaRPr lang="en-US" sz="2800" dirty="0"/>
          </a:p>
        </p:txBody>
      </p:sp>
      <p:graphicFrame>
        <p:nvGraphicFramePr>
          <p:cNvPr id="5" name="Tabel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2560320"/>
                <a:gridCol w="4114800"/>
                <a:gridCol w="10972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Testfall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Erwartetes Resultat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Ort + Datum suchen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Liste mit Autos und Preisen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Rückgabe vor Abholung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Datum gesperrt oder Fehlermeldung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Kindersitz hinzufügen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Gesamtpreis steigt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Formular ohne E-Mail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Meldung "Pflichtfeld"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Buchung abschliessen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Bestätigung + Buchungsnummer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Offen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Bank-Software: Aufbau</a:t>
            </a:r>
            <a:endParaRPr lang="en-US" sz="2800" dirty="0"/>
          </a:p>
        </p:txBody>
      </p:sp>
      <p:sp>
        <p:nvSpPr>
          <p:cNvPr id="4" name="Verbindung"/>
          <p:cNvSpPr/>
          <p:nvPr/>
        </p:nvSpPr>
        <p:spPr>
          <a:xfrm>
            <a:off x="1280160" y="1783080"/>
            <a:ext cx="6583680" cy="0"/>
          </a:xfrm>
          <a:prstGeom prst="line">
            <a:avLst/>
          </a:prstGeom>
          <a:noFill/>
          <a:ln w="38100">
            <a:solidFill>
              <a:schemeClr val="accent6"/>
            </a:solidFill>
            <a:prstDash val="solid"/>
          </a:ln>
        </p:spPr>
      </p:sp>
      <p:sp>
        <p:nvSpPr>
          <p:cNvPr id="5" name="Schritt Main"/>
          <p:cNvSpPr/>
          <p:nvPr/>
        </p:nvSpPr>
        <p:spPr>
          <a:xfrm>
            <a:off x="960120" y="1463040"/>
            <a:ext cx="640080" cy="640080"/>
          </a:xfrm>
          <a:prstGeom prst="ellipse">
            <a:avLst/>
          </a:prstGeom>
          <a:solidFill>
            <a:schemeClr val="accent3"/>
          </a:solidFill>
          <a:ln w="38100">
            <a:solidFill>
              <a:schemeClr val="bg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960120" y="1463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224028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Main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530352" y="2651760"/>
            <a:ext cx="149961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Erstellt 5 Konten und den Schalter</a:t>
            </a:r>
            <a:endParaRPr lang="en-US" sz="1300" dirty="0"/>
          </a:p>
        </p:txBody>
      </p:sp>
      <p:sp>
        <p:nvSpPr>
          <p:cNvPr id="9" name="Schritt Counter"/>
          <p:cNvSpPr/>
          <p:nvPr/>
        </p:nvSpPr>
        <p:spPr>
          <a:xfrm>
            <a:off x="2606040" y="1463040"/>
            <a:ext cx="640080" cy="640080"/>
          </a:xfrm>
          <a:prstGeom prst="ellipse">
            <a:avLst/>
          </a:prstGeom>
          <a:solidFill>
            <a:schemeClr val="accent3"/>
          </a:solidFill>
          <a:ln w="38100">
            <a:solidFill>
              <a:schemeClr val="bg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606040" y="1463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2148840" y="224028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Counter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2176272" y="2651760"/>
            <a:ext cx="149961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Menü in der Konsole, liest Eingaben</a:t>
            </a:r>
            <a:endParaRPr lang="en-US" sz="1300" dirty="0"/>
          </a:p>
        </p:txBody>
      </p:sp>
      <p:sp>
        <p:nvSpPr>
          <p:cNvPr id="13" name="Schritt Bank"/>
          <p:cNvSpPr/>
          <p:nvPr/>
        </p:nvSpPr>
        <p:spPr>
          <a:xfrm>
            <a:off x="4251960" y="1463040"/>
            <a:ext cx="640080" cy="640080"/>
          </a:xfrm>
          <a:prstGeom prst="ellipse">
            <a:avLst/>
          </a:prstGeom>
          <a:solidFill>
            <a:schemeClr val="accent3"/>
          </a:solidFill>
          <a:ln w="38100">
            <a:solidFill>
              <a:schemeClr val="bg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251960" y="1463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3794760" y="224028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Bank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3822192" y="2651760"/>
            <a:ext cx="149961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Liste aller Konten</a:t>
            </a:r>
            <a:endParaRPr lang="en-US" sz="1300" dirty="0"/>
          </a:p>
        </p:txBody>
      </p:sp>
      <p:sp>
        <p:nvSpPr>
          <p:cNvPr id="17" name="Schritt Account"/>
          <p:cNvSpPr/>
          <p:nvPr/>
        </p:nvSpPr>
        <p:spPr>
          <a:xfrm>
            <a:off x="5897880" y="1463040"/>
            <a:ext cx="640080" cy="640080"/>
          </a:xfrm>
          <a:prstGeom prst="ellipse">
            <a:avLst/>
          </a:prstGeom>
          <a:solidFill>
            <a:schemeClr val="accent3"/>
          </a:solidFill>
          <a:ln w="38100">
            <a:solidFill>
              <a:schemeClr val="bg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897880" y="1463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5440680" y="224028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Account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5468112" y="2651760"/>
            <a:ext cx="149961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Einzahlen, abheben, Kontostand</a:t>
            </a:r>
            <a:endParaRPr lang="en-US" sz="1300" dirty="0"/>
          </a:p>
        </p:txBody>
      </p:sp>
      <p:sp>
        <p:nvSpPr>
          <p:cNvPr id="21" name="Schritt ExchangeRate"/>
          <p:cNvSpPr/>
          <p:nvPr/>
        </p:nvSpPr>
        <p:spPr>
          <a:xfrm>
            <a:off x="7543800" y="1463040"/>
            <a:ext cx="640080" cy="640080"/>
          </a:xfrm>
          <a:prstGeom prst="ellipse">
            <a:avLst/>
          </a:prstGeom>
          <a:solidFill>
            <a:schemeClr val="accent3"/>
          </a:solidFill>
          <a:ln w="38100">
            <a:solidFill>
              <a:schemeClr val="bg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543800" y="1463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5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7086600" y="224028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ExchangeRate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7114032" y="2651760"/>
            <a:ext cx="149961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Wechselkurs per Web-API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Bank-Software: Gefundene Fehler</a:t>
            </a:r>
            <a:endParaRPr lang="en-US" sz="2800" dirty="0"/>
          </a:p>
        </p:txBody>
      </p:sp>
      <p:sp>
        <p:nvSpPr>
          <p:cNvPr id="4" name="Kennzahl Black-Box Tests"/>
          <p:cNvSpPr/>
          <p:nvPr/>
        </p:nvSpPr>
        <p:spPr>
          <a:xfrm>
            <a:off x="457200" y="1051560"/>
            <a:ext cx="256032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457200" y="114300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9202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Black-Box Tests</a:t>
            </a:r>
            <a:endParaRPr lang="en-US" sz="1200" dirty="0"/>
          </a:p>
        </p:txBody>
      </p:sp>
      <p:sp>
        <p:nvSpPr>
          <p:cNvPr id="7" name="Kennzahl bestanden"/>
          <p:cNvSpPr/>
          <p:nvPr/>
        </p:nvSpPr>
        <p:spPr>
          <a:xfrm>
            <a:off x="3291840" y="1051560"/>
            <a:ext cx="256032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291840" y="114300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3600" dirty="0"/>
          </a:p>
        </p:txBody>
      </p:sp>
      <p:sp>
        <p:nvSpPr>
          <p:cNvPr id="9" name="Text 6"/>
          <p:cNvSpPr txBox="1"/>
          <p:nvPr/>
        </p:nvSpPr>
        <p:spPr>
          <a:xfrm>
            <a:off x="3383280" y="19202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bestanden</a:t>
            </a:r>
            <a:endParaRPr lang="en-US" sz="1200" dirty="0"/>
          </a:p>
        </p:txBody>
      </p:sp>
      <p:sp>
        <p:nvSpPr>
          <p:cNvPr id="10" name="Kennzahl Fehler gefunden"/>
          <p:cNvSpPr/>
          <p:nvPr/>
        </p:nvSpPr>
        <p:spPr>
          <a:xfrm>
            <a:off x="6126480" y="1051560"/>
            <a:ext cx="256032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126480" y="114300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6217920" y="19202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Fehler gefunden</a:t>
            </a:r>
            <a:endParaRPr lang="en-US" sz="1200" dirty="0"/>
          </a:p>
        </p:txBody>
      </p:sp>
      <p:sp>
        <p:nvSpPr>
          <p:cNvPr id="13" name="Karte EUR → CHF"/>
          <p:cNvSpPr/>
          <p:nvPr/>
        </p:nvSpPr>
        <p:spPr>
          <a:xfrm>
            <a:off x="457200" y="2697480"/>
            <a:ext cx="2560320" cy="1783080"/>
          </a:xfrm>
          <a:prstGeom prst="roundRect">
            <a:avLst>
              <a:gd name="adj" fmla="val 41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Badge ✗"/>
          <p:cNvSpPr/>
          <p:nvPr/>
        </p:nvSpPr>
        <p:spPr>
          <a:xfrm>
            <a:off x="640080" y="288036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008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✗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1143000" y="2852928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EUR → CHF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0080" y="3429000"/>
            <a:ext cx="21945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Keine Umrechnung</a:t>
            </a:r>
            <a:endParaRPr lang="en-US" sz="1400" dirty="0"/>
          </a:p>
        </p:txBody>
      </p:sp>
      <p:sp>
        <p:nvSpPr>
          <p:cNvPr id="18" name="Karte -500 einzahlen"/>
          <p:cNvSpPr/>
          <p:nvPr/>
        </p:nvSpPr>
        <p:spPr>
          <a:xfrm>
            <a:off x="3291840" y="2697480"/>
            <a:ext cx="2560320" cy="1783080"/>
          </a:xfrm>
          <a:prstGeom prst="roundRect">
            <a:avLst>
              <a:gd name="adj" fmla="val 41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Badge ✗"/>
          <p:cNvSpPr/>
          <p:nvPr/>
        </p:nvSpPr>
        <p:spPr>
          <a:xfrm>
            <a:off x="3474720" y="288036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47472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✗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3977640" y="2852928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-500 einzahlen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3474720" y="3429000"/>
            <a:ext cx="21945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Kontostand sinkt</a:t>
            </a:r>
            <a:endParaRPr lang="en-US" sz="1400" dirty="0"/>
          </a:p>
        </p:txBody>
      </p:sp>
      <p:sp>
        <p:nvSpPr>
          <p:cNvPr id="23" name="Karte Leere Eingabe"/>
          <p:cNvSpPr/>
          <p:nvPr/>
        </p:nvSpPr>
        <p:spPr>
          <a:xfrm>
            <a:off x="6126480" y="2697480"/>
            <a:ext cx="2560320" cy="1783080"/>
          </a:xfrm>
          <a:prstGeom prst="roundRect">
            <a:avLst>
              <a:gd name="adj" fmla="val 41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Badge ✗"/>
          <p:cNvSpPr/>
          <p:nvPr/>
        </p:nvSpPr>
        <p:spPr>
          <a:xfrm>
            <a:off x="6309360" y="288036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30936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✗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6812280" y="2852928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Leere Eingabe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6309360" y="3429000"/>
            <a:ext cx="21945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Programm stürzt ab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White-Box Methoden und Verbesserungen</a:t>
            </a:r>
            <a:endParaRPr lang="en-US" sz="2800" dirty="0"/>
          </a:p>
        </p:txBody>
      </p:sp>
      <p:sp>
        <p:nvSpPr>
          <p:cNvPr id="4" name="Karte White-Box testbar"/>
          <p:cNvSpPr/>
          <p:nvPr/>
        </p:nvSpPr>
        <p:spPr>
          <a:xfrm>
            <a:off x="457200" y="1097280"/>
            <a:ext cx="3977640" cy="3474720"/>
          </a:xfrm>
          <a:prstGeom prst="roundRect">
            <a:avLst>
              <a:gd name="adj" fmla="val 210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Badge 1"/>
          <p:cNvSpPr/>
          <p:nvPr/>
        </p:nvSpPr>
        <p:spPr>
          <a:xfrm>
            <a:off x="640080" y="128016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1143000" y="1252728"/>
            <a:ext cx="3154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White-Box testbar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1828800"/>
            <a:ext cx="3611880" cy="2633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Account.deposit / withdraw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Bank.createAccount / getAccount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Counter.convertCurrency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getExchangeRate mit Mock</a:t>
            </a:r>
            <a:endParaRPr lang="en-US" sz="1400" dirty="0"/>
          </a:p>
        </p:txBody>
      </p:sp>
      <p:sp>
        <p:nvSpPr>
          <p:cNvPr id="9" name="Karte Verbesserungen"/>
          <p:cNvSpPr/>
          <p:nvPr/>
        </p:nvSpPr>
        <p:spPr>
          <a:xfrm>
            <a:off x="4709160" y="1097280"/>
            <a:ext cx="3977640" cy="3474720"/>
          </a:xfrm>
          <a:prstGeom prst="roundRect">
            <a:avLst>
              <a:gd name="adj" fmla="val 210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Badge 2"/>
          <p:cNvSpPr/>
          <p:nvPr/>
        </p:nvSpPr>
        <p:spPr>
          <a:xfrm>
            <a:off x="4892040" y="128016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89204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5394960" y="1252728"/>
            <a:ext cx="3154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Verbesserungen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4892040" y="1828800"/>
            <a:ext cx="3611880" cy="2633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Logik und Ausgabe trennen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Negative und leere Eingaben prüfen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BigDecimal statt double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API-Key nicht im Code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96012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Fazit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37160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Gute Testfälle kommen aus den Anforderungen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880360"/>
            <a:ext cx="6949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Grenzwerte und Fehlerfälle finden die meisten Bugs.</a:t>
            </a:r>
            <a:endParaRPr lang="en-US" sz="1800" dirty="0"/>
          </a:p>
        </p:txBody>
      </p:sp>
      <p:sp>
        <p:nvSpPr>
          <p:cNvPr id="5" name="Status Kreis"/>
          <p:cNvSpPr/>
          <p:nvPr/>
        </p:nvSpPr>
        <p:spPr>
          <a:xfrm>
            <a:off x="7452360" y="1417320"/>
            <a:ext cx="1188720" cy="11887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Haken"/>
          <p:cNvSpPr txBox="1"/>
          <p:nvPr/>
        </p:nvSpPr>
        <p:spPr>
          <a:xfrm>
            <a:off x="7452360" y="141732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✓</a:t>
            </a:r>
            <a:endParaRPr lang="en-US" sz="4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450 Testing">
  <a:themeElements>
    <a:clrScheme name="M450 Testing">
      <a:dk1>
        <a:srgbClr val="1B2A2F"/>
      </a:dk1>
      <a:lt1>
        <a:srgbClr val="FFFFFF"/>
      </a:lt1>
      <a:dk2>
        <a:srgbClr val="1F4A40"/>
      </a:dk2>
      <a:lt2>
        <a:srgbClr val="EDF4F1"/>
      </a:lt2>
      <a:accent1>
        <a:srgbClr val="2EA043"/>
      </a:accent1>
      <a:accent2>
        <a:srgbClr val="D73A49"/>
      </a:accent2>
      <a:accent3>
        <a:srgbClr val="0E7C66"/>
      </a:accent3>
      <a:accent4>
        <a:srgbClr val="E3A008"/>
      </a:accent4>
      <a:accent5>
        <a:srgbClr val="5B7B75"/>
      </a:accent5>
      <a:accent6>
        <a:srgbClr val="A8E0CC"/>
      </a:accent6>
      <a:hlink>
        <a:srgbClr val="0E7C66"/>
      </a:hlink>
      <a:folHlink>
        <a:srgbClr val="5B7B75"/>
      </a:folHlink>
    </a:clrScheme>
    <a:fontScheme name="M450 Testing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KN02 – Teststrategie</dc:title>
  <dc:subject>PptxGenJS Presentation</dc:subject>
  <dc:creator>Denis</dc:creator>
  <cp:lastModifiedBy>Denis</cp:lastModifiedBy>
  <cp:revision>1</cp:revision>
  <dcterms:created xsi:type="dcterms:W3CDTF">2026-10-16T09:32:12Z</dcterms:created>
  <dcterms:modified xsi:type="dcterms:W3CDTF">2026-10-16T09:32:12Z</dcterms:modified>
</cp:coreProperties>
</file>