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1091dc71-7f8f-f54f-3ecb-ba5505ca8075}">
          <p14:sldIdLst>
            <p14:sldId id="256"/>
            <p14:sldId id="257"/>
          </p14:sldIdLst>
        </p14:section>
        <p14:section name="Aufgabe 1" id="{62bc3163-1037-92b1-8f4e-e447b0bd6812}">
          <p14:sldIdLst>
            <p14:sldId id="258"/>
          </p14:sldIdLst>
        </p14:section>
        <p14:section name="Aufgabe 2" id="{aa5d41e0-7303-0912-042b-4d439dc44f93}">
          <p14:sldIdLst>
            <p14:sldId id="259"/>
            <p14:sldId id="260"/>
          </p14:sldIdLst>
        </p14:section>
        <p14:section name="Review" id="{074cff33-a0b2-6437-07d6-2b714a1d64ba}">
          <p14:sldIdLst>
            <p14:sldId id="261"/>
          </p14:sldIdLst>
        </p14:section>
        <p14:section name="Fazit" id="{1b17c92d-ea33-1ba5-c3cb-7afd9272d34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KN07 implementiere ich zwei Features im Recipe Planner: ein Rezept hinzufügen und ein bestehendes Rezept bearbeiten. Jedes Feature kommt in einen eigenen Branch und Pull Request, damit wir uns im Team gegenseitig reviewen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drei Branches. Rezept hinzufügen im Frontend, Rezept bearbeiten im Backend und Rezept bearbeiten im Frontend. Frontend und Backend sind getrennt, damit die Pull Requests klein bleiben und schnell reviewt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Vorher war das Formular nur Dekoration: Eingaben wurden nicht gespeichert und Submit hat nichts gemacht. Jetzt wird alles im State gespeichert, Zutaten können hinzugefügt und entfernt werden und Submit schickt das Rezept ans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Backend gibt es einen neuen PUT-Endpunkt. Wenn das Rezept nicht existiert, kommt 404. Getestet mit MockMvc, Mockito und einem Integrationstest gegen die echte H2-Datenbank.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Frontend öffnet Edit Details die Seite edit mit der ID. Das Formular wird mit den Daten vom Backend gefüllt. Damit Add und Edit nicht doppelten Code haben, habe ich das Formular in eine gemeinsame Komponente RecipeForm ausgelagert.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Review gehen wir diese Checkliste aus der Theorie durch. Die Reviews machen wir im Team gegenseitig auf GitHub, mit Kommentaren direkt im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Im Review sieht man andere Lösungswege und findet Dinge, die man selbst übersieht. Kleine Pull Requests machen das Review einfacher und schneller.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KN07</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KN07</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Code Reviews</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Rezept hinzufügen und bearbeiten, mit Feature-Branches und Pull Requests</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Branches und Pull Requests</a:t>
            </a:r>
            <a:endParaRPr lang="en-US" sz="2800" dirty="0"/>
          </a:p>
        </p:txBody>
      </p:sp>
      <p:sp>
        <p:nvSpPr>
          <p:cNvPr id="4" name="Karte feature/add-recipe"/>
          <p:cNvSpPr/>
          <p:nvPr/>
        </p:nvSpPr>
        <p:spPr>
          <a:xfrm>
            <a:off x="457200" y="1097280"/>
            <a:ext cx="8229600" cy="975360"/>
          </a:xfrm>
          <a:prstGeom prst="roundRect">
            <a:avLst>
              <a:gd name="adj" fmla="val 7500"/>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7406640" cy="438912"/>
          </a:xfrm>
          <a:prstGeom prst="rect">
            <a:avLst/>
          </a:prstGeom>
          <a:noFill/>
          <a:ln/>
        </p:spPr>
        <p:txBody>
          <a:bodyPr wrap="square" lIns="0" tIns="0" rIns="0" bIns="0" rtlCol="0" anchor="ctr">
            <a:normAutofit/>
          </a:bodyPr>
          <a:lstStyle/>
          <a:p>
            <a:pPr indent="0" marL="0">
              <a:buNone/>
            </a:pPr>
            <a:r>
              <a:rPr lang="en-US" sz="1500" b="1" dirty="0">
                <a:solidFill>
                  <a:schemeClr val="tx2"/>
                </a:solidFill>
              </a:rPr>
              <a:t>feature/add-recipe</a:t>
            </a:r>
            <a:endParaRPr lang="en-US" sz="1500" dirty="0"/>
          </a:p>
        </p:txBody>
      </p:sp>
      <p:sp>
        <p:nvSpPr>
          <p:cNvPr id="8" name="Text 5"/>
          <p:cNvSpPr txBox="1"/>
          <p:nvPr/>
        </p:nvSpPr>
        <p:spPr>
          <a:xfrm>
            <a:off x="640080" y="1664208"/>
            <a:ext cx="7863840" cy="298704"/>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 1 · Frontend: Rezept hinzufügen</a:t>
            </a:r>
            <a:endParaRPr lang="en-US" sz="1400" dirty="0"/>
          </a:p>
        </p:txBody>
      </p:sp>
      <p:sp>
        <p:nvSpPr>
          <p:cNvPr id="9" name="Karte feature/edit-recipe-backend"/>
          <p:cNvSpPr/>
          <p:nvPr/>
        </p:nvSpPr>
        <p:spPr>
          <a:xfrm>
            <a:off x="457200" y="2346960"/>
            <a:ext cx="8229600" cy="975360"/>
          </a:xfrm>
          <a:prstGeom prst="roundRect">
            <a:avLst>
              <a:gd name="adj" fmla="val 7500"/>
            </a:avLst>
          </a:prstGeom>
          <a:solidFill>
            <a:schemeClr val="bg2"/>
          </a:solidFill>
          <a:ln w="12700">
            <a:solidFill>
              <a:schemeClr val="bg2"/>
            </a:solidFill>
            <a:prstDash val="solid"/>
          </a:ln>
        </p:spPr>
      </p:sp>
      <p:sp>
        <p:nvSpPr>
          <p:cNvPr id="10" name="Badge 2"/>
          <p:cNvSpPr/>
          <p:nvPr/>
        </p:nvSpPr>
        <p:spPr>
          <a:xfrm>
            <a:off x="640080" y="2529840"/>
            <a:ext cx="384048" cy="384048"/>
          </a:xfrm>
          <a:prstGeom prst="ellipse">
            <a:avLst/>
          </a:prstGeom>
          <a:solidFill>
            <a:schemeClr val="accent3"/>
          </a:solidFill>
          <a:ln w="12700">
            <a:solidFill>
              <a:schemeClr val="accent3"/>
            </a:solidFill>
            <a:prstDash val="solid"/>
          </a:ln>
        </p:spPr>
      </p:sp>
      <p:sp>
        <p:nvSpPr>
          <p:cNvPr id="11" name="Text 8"/>
          <p:cNvSpPr txBox="1"/>
          <p:nvPr/>
        </p:nvSpPr>
        <p:spPr>
          <a:xfrm>
            <a:off x="640080" y="2529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143000" y="2502408"/>
            <a:ext cx="7406640" cy="438912"/>
          </a:xfrm>
          <a:prstGeom prst="rect">
            <a:avLst/>
          </a:prstGeom>
          <a:noFill/>
          <a:ln/>
        </p:spPr>
        <p:txBody>
          <a:bodyPr wrap="square" lIns="0" tIns="0" rIns="0" bIns="0" rtlCol="0" anchor="ctr">
            <a:normAutofit/>
          </a:bodyPr>
          <a:lstStyle/>
          <a:p>
            <a:pPr indent="0" marL="0">
              <a:buNone/>
            </a:pPr>
            <a:r>
              <a:rPr lang="en-US" sz="1500" b="1" dirty="0">
                <a:solidFill>
                  <a:schemeClr val="tx2"/>
                </a:solidFill>
              </a:rPr>
              <a:t>feature/edit-recipe-backend</a:t>
            </a:r>
            <a:endParaRPr lang="en-US" sz="1500" dirty="0"/>
          </a:p>
        </p:txBody>
      </p:sp>
      <p:sp>
        <p:nvSpPr>
          <p:cNvPr id="13" name="Text 10"/>
          <p:cNvSpPr txBox="1"/>
          <p:nvPr/>
        </p:nvSpPr>
        <p:spPr>
          <a:xfrm>
            <a:off x="640080" y="2913888"/>
            <a:ext cx="7863840" cy="298704"/>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 2 · Backend: PUT-Endpunkt</a:t>
            </a:r>
            <a:endParaRPr lang="en-US" sz="1400" dirty="0"/>
          </a:p>
        </p:txBody>
      </p:sp>
      <p:sp>
        <p:nvSpPr>
          <p:cNvPr id="14" name="Karte feature/edit-recipe-frontend"/>
          <p:cNvSpPr/>
          <p:nvPr/>
        </p:nvSpPr>
        <p:spPr>
          <a:xfrm>
            <a:off x="457200" y="3596640"/>
            <a:ext cx="8229600" cy="975360"/>
          </a:xfrm>
          <a:prstGeom prst="roundRect">
            <a:avLst>
              <a:gd name="adj" fmla="val 7500"/>
            </a:avLst>
          </a:prstGeom>
          <a:solidFill>
            <a:schemeClr val="bg2"/>
          </a:solidFill>
          <a:ln w="12700">
            <a:solidFill>
              <a:schemeClr val="bg2"/>
            </a:solidFill>
            <a:prstDash val="solid"/>
          </a:ln>
        </p:spPr>
      </p:sp>
      <p:sp>
        <p:nvSpPr>
          <p:cNvPr id="15" name="Badge 3"/>
          <p:cNvSpPr/>
          <p:nvPr/>
        </p:nvSpPr>
        <p:spPr>
          <a:xfrm>
            <a:off x="640080" y="3779520"/>
            <a:ext cx="384048" cy="384048"/>
          </a:xfrm>
          <a:prstGeom prst="ellipse">
            <a:avLst/>
          </a:prstGeom>
          <a:solidFill>
            <a:schemeClr val="accent3"/>
          </a:solidFill>
          <a:ln w="12700">
            <a:solidFill>
              <a:schemeClr val="accent3"/>
            </a:solidFill>
            <a:prstDash val="solid"/>
          </a:ln>
        </p:spPr>
      </p:sp>
      <p:sp>
        <p:nvSpPr>
          <p:cNvPr id="16" name="Text 13"/>
          <p:cNvSpPr txBox="1"/>
          <p:nvPr/>
        </p:nvSpPr>
        <p:spPr>
          <a:xfrm>
            <a:off x="640080" y="3779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143000" y="3752088"/>
            <a:ext cx="7406640" cy="438912"/>
          </a:xfrm>
          <a:prstGeom prst="rect">
            <a:avLst/>
          </a:prstGeom>
          <a:noFill/>
          <a:ln/>
        </p:spPr>
        <p:txBody>
          <a:bodyPr wrap="square" lIns="0" tIns="0" rIns="0" bIns="0" rtlCol="0" anchor="ctr">
            <a:normAutofit/>
          </a:bodyPr>
          <a:lstStyle/>
          <a:p>
            <a:pPr indent="0" marL="0">
              <a:buNone/>
            </a:pPr>
            <a:r>
              <a:rPr lang="en-US" sz="1500" b="1" dirty="0">
                <a:solidFill>
                  <a:schemeClr val="tx2"/>
                </a:solidFill>
              </a:rPr>
              <a:t>feature/edit-recipe-frontend</a:t>
            </a:r>
            <a:endParaRPr lang="en-US" sz="1500" dirty="0"/>
          </a:p>
        </p:txBody>
      </p:sp>
      <p:sp>
        <p:nvSpPr>
          <p:cNvPr id="18" name="Text 15"/>
          <p:cNvSpPr txBox="1"/>
          <p:nvPr/>
        </p:nvSpPr>
        <p:spPr>
          <a:xfrm>
            <a:off x="640080" y="4163568"/>
            <a:ext cx="7863840" cy="298704"/>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 3 · Frontend: Rezept bearbeiten (baut auf PR 1 auf)</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1: Rezept hinzufügen</a:t>
            </a:r>
            <a:endParaRPr lang="en-US" sz="2800" dirty="0"/>
          </a:p>
        </p:txBody>
      </p:sp>
      <p:sp>
        <p:nvSpPr>
          <p:cNvPr id="4" name="Karte Vorher"/>
          <p:cNvSpPr/>
          <p:nvPr/>
        </p:nvSpPr>
        <p:spPr>
          <a:xfrm>
            <a:off x="457200" y="1097280"/>
            <a:ext cx="3977640" cy="3474720"/>
          </a:xfrm>
          <a:prstGeom prst="roundRect">
            <a:avLst>
              <a:gd name="adj" fmla="val 2105"/>
            </a:avLst>
          </a:prstGeom>
          <a:solidFill>
            <a:schemeClr val="bg2"/>
          </a:solidFill>
          <a:ln w="12700">
            <a:solidFill>
              <a:schemeClr val="bg2"/>
            </a:solidFill>
            <a:prstDash val="solid"/>
          </a:ln>
        </p:spPr>
      </p:sp>
      <p:sp>
        <p:nvSpPr>
          <p:cNvPr id="5" name="Badge ✗"/>
          <p:cNvSpPr/>
          <p:nvPr/>
        </p:nvSpPr>
        <p:spPr>
          <a:xfrm>
            <a:off x="640080" y="1280160"/>
            <a:ext cx="384048" cy="384048"/>
          </a:xfrm>
          <a:prstGeom prst="ellipse">
            <a:avLst/>
          </a:prstGeom>
          <a:solidFill>
            <a:schemeClr val="accent2"/>
          </a:solidFill>
          <a:ln w="12700">
            <a:solidFill>
              <a:schemeClr val="accent2"/>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 4"/>
          <p:cNvSpPr txBox="1"/>
          <p:nvPr/>
        </p:nvSpPr>
        <p:spPr>
          <a:xfrm>
            <a:off x="114300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Vorher</a:t>
            </a:r>
            <a:endParaRPr lang="en-US" sz="1600" dirty="0"/>
          </a:p>
        </p:txBody>
      </p:sp>
      <p:sp>
        <p:nvSpPr>
          <p:cNvPr id="8" name="Text 5"/>
          <p:cNvSpPr txBox="1"/>
          <p:nvPr/>
        </p:nvSpPr>
        <p:spPr>
          <a:xfrm>
            <a:off x="640080" y="1828800"/>
            <a:ext cx="3611880" cy="26334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Eingaben nicht gespeichert</a:t>
            </a:r>
            <a:endParaRPr lang="en-US" sz="1400" dirty="0"/>
          </a:p>
          <a:p>
            <a:pPr marL="342900" indent="-342900">
              <a:spcAft>
                <a:spcPts val="400"/>
              </a:spcAft>
              <a:buSzPct val="100000"/>
              <a:buChar char="•"/>
            </a:pPr>
            <a:r>
              <a:rPr lang="en-US" sz="1400" dirty="0">
                <a:solidFill>
                  <a:schemeClr val="tx1"/>
                </a:solidFill>
              </a:rPr>
              <a:t>Submit ohne Funktion</a:t>
            </a:r>
            <a:endParaRPr lang="en-US" sz="1400" dirty="0"/>
          </a:p>
          <a:p>
            <a:pPr marL="342900" indent="-342900">
              <a:spcAft>
                <a:spcPts val="400"/>
              </a:spcAft>
              <a:buSzPct val="100000"/>
              <a:buChar char="•"/>
            </a:pPr>
            <a:r>
              <a:rPr lang="en-US" sz="1400" dirty="0">
                <a:solidFill>
                  <a:schemeClr val="tx1"/>
                </a:solidFill>
              </a:rPr>
              <a:t>Ungenutzter Code (useForm)</a:t>
            </a:r>
            <a:endParaRPr lang="en-US" sz="1400" dirty="0"/>
          </a:p>
        </p:txBody>
      </p:sp>
      <p:sp>
        <p:nvSpPr>
          <p:cNvPr id="9" name="Karte Nachher"/>
          <p:cNvSpPr/>
          <p:nvPr/>
        </p:nvSpPr>
        <p:spPr>
          <a:xfrm>
            <a:off x="4709160" y="1097280"/>
            <a:ext cx="3977640" cy="3474720"/>
          </a:xfrm>
          <a:prstGeom prst="roundRect">
            <a:avLst>
              <a:gd name="adj" fmla="val 2105"/>
            </a:avLst>
          </a:prstGeom>
          <a:solidFill>
            <a:schemeClr val="bg2"/>
          </a:solidFill>
          <a:ln w="12700">
            <a:solidFill>
              <a:schemeClr val="bg2"/>
            </a:solidFill>
            <a:prstDash val="solid"/>
          </a:ln>
        </p:spPr>
      </p:sp>
      <p:sp>
        <p:nvSpPr>
          <p:cNvPr id="10" name="Badge ✓"/>
          <p:cNvSpPr/>
          <p:nvPr/>
        </p:nvSpPr>
        <p:spPr>
          <a:xfrm>
            <a:off x="4892040" y="128016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89204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9"/>
          <p:cNvSpPr txBox="1"/>
          <p:nvPr/>
        </p:nvSpPr>
        <p:spPr>
          <a:xfrm>
            <a:off x="539496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Nachher</a:t>
            </a:r>
            <a:endParaRPr lang="en-US" sz="1600" dirty="0"/>
          </a:p>
        </p:txBody>
      </p:sp>
      <p:sp>
        <p:nvSpPr>
          <p:cNvPr id="13" name="Text 10"/>
          <p:cNvSpPr txBox="1"/>
          <p:nvPr/>
        </p:nvSpPr>
        <p:spPr>
          <a:xfrm>
            <a:off x="4892040" y="1828800"/>
            <a:ext cx="3611880" cy="26334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State pro Feld</a:t>
            </a:r>
            <a:endParaRPr lang="en-US" sz="1400" dirty="0"/>
          </a:p>
          <a:p>
            <a:pPr marL="342900" indent="-342900">
              <a:spcAft>
                <a:spcPts val="400"/>
              </a:spcAft>
              <a:buSzPct val="100000"/>
              <a:buChar char="•"/>
            </a:pPr>
            <a:r>
              <a:rPr lang="en-US" sz="1400" dirty="0">
                <a:solidFill>
                  <a:schemeClr val="tx1"/>
                </a:solidFill>
              </a:rPr>
              <a:t>Zutaten hinzufügen / entfernen</a:t>
            </a:r>
            <a:endParaRPr lang="en-US" sz="1400" dirty="0"/>
          </a:p>
          <a:p>
            <a:pPr marL="342900" indent="-342900">
              <a:spcAft>
                <a:spcPts val="400"/>
              </a:spcAft>
              <a:buSzPct val="100000"/>
              <a:buChar char="•"/>
            </a:pPr>
            <a:r>
              <a:rPr lang="en-US" sz="1400" dirty="0">
                <a:solidFill>
                  <a:schemeClr val="tx1"/>
                </a:solidFill>
              </a:rPr>
              <a:t>POST + Fehlermeldung</a:t>
            </a:r>
            <a:endParaRPr lang="en-US" sz="1400" dirty="0"/>
          </a:p>
          <a:p>
            <a:pPr marL="342900" indent="-342900">
              <a:spcAft>
                <a:spcPts val="400"/>
              </a:spcAft>
              <a:buSzPct val="100000"/>
              <a:buChar char="•"/>
            </a:pPr>
            <a:r>
              <a:rPr lang="en-US" sz="1400" dirty="0">
                <a:solidFill>
                  <a:schemeClr val="tx1"/>
                </a:solidFill>
              </a:rPr>
              <a:t>4 Jest-Tests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2: Bearbeiten im Backend</a:t>
            </a:r>
            <a:endParaRPr lang="en-US" sz="2800" dirty="0"/>
          </a:p>
        </p:txBody>
      </p:sp>
      <p:sp>
        <p:nvSpPr>
          <p:cNvPr id="4" name="Code Box"/>
          <p:cNvSpPr/>
          <p:nvPr/>
        </p:nvSpPr>
        <p:spPr>
          <a:xfrm>
            <a:off x="457200" y="1097280"/>
            <a:ext cx="539496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640080" y="1207008"/>
            <a:ext cx="5029200" cy="274320"/>
          </a:xfrm>
          <a:prstGeom prst="rect">
            <a:avLst/>
          </a:prstGeom>
          <a:noFill/>
          <a:ln/>
        </p:spPr>
        <p:txBody>
          <a:bodyPr wrap="square" lIns="0" tIns="0" rIns="0" bIns="0" rtlCol="0" anchor="ctr"/>
          <a:lstStyle/>
          <a:p>
            <a:pPr indent="0" marL="0">
              <a:buNone/>
            </a:pPr>
            <a:r>
              <a:rPr lang="en-US" sz="1100" b="1" dirty="0">
                <a:solidFill>
                  <a:schemeClr val="accent6"/>
                </a:solidFill>
              </a:rPr>
              <a:t>RecipeController.java</a:t>
            </a:r>
            <a:endParaRPr lang="en-US" sz="1100" dirty="0"/>
          </a:p>
        </p:txBody>
      </p:sp>
      <p:sp>
        <p:nvSpPr>
          <p:cNvPr id="6" name="Code"/>
          <p:cNvSpPr txBox="1"/>
          <p:nvPr/>
        </p:nvSpPr>
        <p:spPr>
          <a:xfrm>
            <a:off x="640080" y="1508760"/>
            <a:ext cx="5029200" cy="28803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@PutMapping("/api/recipes/recipe/{recipeId}")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public ResponseEntity&lt;Recipe&gt; updateRecipe(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@PathVariable UUID recipeId,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@RequestBody Recipe recipe)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Recipe updated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service.updateRecipe(recipeId, recipe);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(updated == null)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new ResponseEntity&lt;&gt;(NOT_FOUND);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new ResponseEntity&lt;&gt;(updated, 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7" name="Kennzahl Backend-Tests grün"/>
          <p:cNvSpPr/>
          <p:nvPr/>
        </p:nvSpPr>
        <p:spPr>
          <a:xfrm>
            <a:off x="6126480" y="1097280"/>
            <a:ext cx="256032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6126480" y="1234440"/>
            <a:ext cx="256032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22</a:t>
            </a:r>
            <a:endParaRPr lang="en-US" sz="3600" dirty="0"/>
          </a:p>
        </p:txBody>
      </p:sp>
      <p:sp>
        <p:nvSpPr>
          <p:cNvPr id="9" name="Text 6"/>
          <p:cNvSpPr txBox="1"/>
          <p:nvPr/>
        </p:nvSpPr>
        <p:spPr>
          <a:xfrm>
            <a:off x="6217920" y="2011680"/>
            <a:ext cx="2377440" cy="457200"/>
          </a:xfrm>
          <a:prstGeom prst="rect">
            <a:avLst/>
          </a:prstGeom>
          <a:noFill/>
          <a:ln/>
        </p:spPr>
        <p:txBody>
          <a:bodyPr wrap="square" lIns="0" tIns="0" rIns="0" bIns="0" rtlCol="0" anchor="t"/>
          <a:lstStyle/>
          <a:p>
            <a:pPr algn="ctr" indent="0" marL="0">
              <a:buNone/>
            </a:pPr>
            <a:r>
              <a:rPr lang="en-US" sz="1200" dirty="0">
                <a:solidFill>
                  <a:schemeClr val="tx1"/>
                </a:solidFill>
              </a:rPr>
              <a:t>Backend-Tests grün</a:t>
            </a:r>
            <a:endParaRPr lang="en-US" sz="1200" dirty="0"/>
          </a:p>
        </p:txBody>
      </p:sp>
      <p:sp>
        <p:nvSpPr>
          <p:cNvPr id="10" name="Text 7"/>
          <p:cNvSpPr txBox="1"/>
          <p:nvPr/>
        </p:nvSpPr>
        <p:spPr>
          <a:xfrm>
            <a:off x="6217920" y="2834640"/>
            <a:ext cx="246888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200 mit neuem Rezept</a:t>
            </a:r>
            <a:endParaRPr lang="en-US" sz="1400" dirty="0"/>
          </a:p>
          <a:p>
            <a:pPr marL="342900" indent="-342900">
              <a:spcAft>
                <a:spcPts val="800"/>
              </a:spcAft>
              <a:buSzPct val="100000"/>
              <a:buChar char="•"/>
            </a:pPr>
            <a:r>
              <a:rPr lang="en-US" sz="1400" dirty="0">
                <a:solidFill>
                  <a:schemeClr val="tx1"/>
                </a:solidFill>
              </a:rPr>
              <a:t>404 wenn unbekannt</a:t>
            </a:r>
            <a:endParaRPr lang="en-US" sz="1400" dirty="0"/>
          </a:p>
          <a:p>
            <a:pPr marL="342900" indent="-342900">
              <a:spcAft>
                <a:spcPts val="800"/>
              </a:spcAft>
              <a:buSzPct val="100000"/>
              <a:buChar char="•"/>
            </a:pPr>
            <a:r>
              <a:rPr lang="en-US" sz="1400" dirty="0">
                <a:solidFill>
                  <a:schemeClr val="tx1"/>
                </a:solidFill>
              </a:rPr>
              <a:t>Integrationstest H2</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2: Bearbeiten im Frontend</a:t>
            </a:r>
            <a:endParaRPr lang="en-US" sz="2800" dirty="0"/>
          </a:p>
        </p:txBody>
      </p:sp>
      <p:sp>
        <p:nvSpPr>
          <p:cNvPr id="4" name="Verbindung"/>
          <p:cNvSpPr/>
          <p:nvPr/>
        </p:nvSpPr>
        <p:spPr>
          <a:xfrm>
            <a:off x="1485900" y="1691640"/>
            <a:ext cx="6172200" cy="0"/>
          </a:xfrm>
          <a:prstGeom prst="line">
            <a:avLst/>
          </a:prstGeom>
          <a:noFill/>
          <a:ln w="38100">
            <a:solidFill>
              <a:schemeClr val="accent6"/>
            </a:solidFill>
            <a:prstDash val="solid"/>
          </a:ln>
        </p:spPr>
      </p:sp>
      <p:sp>
        <p:nvSpPr>
          <p:cNvPr id="5" name="Schritt Edit Details"/>
          <p:cNvSpPr/>
          <p:nvPr/>
        </p:nvSpPr>
        <p:spPr>
          <a:xfrm>
            <a:off x="1165860" y="1371600"/>
            <a:ext cx="640080" cy="640080"/>
          </a:xfrm>
          <a:prstGeom prst="ellipse">
            <a:avLst/>
          </a:prstGeom>
          <a:solidFill>
            <a:schemeClr val="accent3"/>
          </a:solidFill>
          <a:ln w="38100">
            <a:solidFill>
              <a:schemeClr val="bg1"/>
            </a:solidFill>
            <a:prstDash val="solid"/>
          </a:ln>
        </p:spPr>
      </p:sp>
      <p:sp>
        <p:nvSpPr>
          <p:cNvPr id="6" name="Text 3"/>
          <p:cNvSpPr txBox="1"/>
          <p:nvPr/>
        </p:nvSpPr>
        <p:spPr>
          <a:xfrm>
            <a:off x="11658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02920" y="214884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Edit Details</a:t>
            </a:r>
            <a:endParaRPr lang="en-US" sz="1500" dirty="0"/>
          </a:p>
        </p:txBody>
      </p:sp>
      <p:sp>
        <p:nvSpPr>
          <p:cNvPr id="8" name="Text 5"/>
          <p:cNvSpPr txBox="1"/>
          <p:nvPr/>
        </p:nvSpPr>
        <p:spPr>
          <a:xfrm>
            <a:off x="530352" y="256032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Button auf jeder Karte</a:t>
            </a:r>
            <a:endParaRPr lang="en-US" sz="1300" dirty="0"/>
          </a:p>
        </p:txBody>
      </p:sp>
      <p:sp>
        <p:nvSpPr>
          <p:cNvPr id="9" name="Schritt GET"/>
          <p:cNvSpPr/>
          <p:nvPr/>
        </p:nvSpPr>
        <p:spPr>
          <a:xfrm>
            <a:off x="3223260" y="1371600"/>
            <a:ext cx="640080" cy="640080"/>
          </a:xfrm>
          <a:prstGeom prst="ellipse">
            <a:avLst/>
          </a:prstGeom>
          <a:solidFill>
            <a:schemeClr val="accent3"/>
          </a:solidFill>
          <a:ln w="38100">
            <a:solidFill>
              <a:schemeClr val="bg1"/>
            </a:solidFill>
            <a:prstDash val="solid"/>
          </a:ln>
        </p:spPr>
      </p:sp>
      <p:sp>
        <p:nvSpPr>
          <p:cNvPr id="10" name="Text 7"/>
          <p:cNvSpPr txBox="1"/>
          <p:nvPr/>
        </p:nvSpPr>
        <p:spPr>
          <a:xfrm>
            <a:off x="32232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2560320" y="214884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GET</a:t>
            </a:r>
            <a:endParaRPr lang="en-US" sz="1500" dirty="0"/>
          </a:p>
        </p:txBody>
      </p:sp>
      <p:sp>
        <p:nvSpPr>
          <p:cNvPr id="12" name="Text 9"/>
          <p:cNvSpPr txBox="1"/>
          <p:nvPr/>
        </p:nvSpPr>
        <p:spPr>
          <a:xfrm>
            <a:off x="2587752" y="256032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Rezept laden, Formular füllen</a:t>
            </a:r>
            <a:endParaRPr lang="en-US" sz="1300" dirty="0"/>
          </a:p>
        </p:txBody>
      </p:sp>
      <p:sp>
        <p:nvSpPr>
          <p:cNvPr id="13" name="Schritt RecipeForm"/>
          <p:cNvSpPr/>
          <p:nvPr/>
        </p:nvSpPr>
        <p:spPr>
          <a:xfrm>
            <a:off x="5280660" y="1371600"/>
            <a:ext cx="640080" cy="640080"/>
          </a:xfrm>
          <a:prstGeom prst="ellipse">
            <a:avLst/>
          </a:prstGeom>
          <a:solidFill>
            <a:schemeClr val="accent3"/>
          </a:solidFill>
          <a:ln w="38100">
            <a:solidFill>
              <a:schemeClr val="bg1"/>
            </a:solidFill>
            <a:prstDash val="solid"/>
          </a:ln>
        </p:spPr>
      </p:sp>
      <p:sp>
        <p:nvSpPr>
          <p:cNvPr id="14" name="Text 11"/>
          <p:cNvSpPr txBox="1"/>
          <p:nvPr/>
        </p:nvSpPr>
        <p:spPr>
          <a:xfrm>
            <a:off x="52806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4617720" y="214884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RecipeForm</a:t>
            </a:r>
            <a:endParaRPr lang="en-US" sz="1500" dirty="0"/>
          </a:p>
        </p:txBody>
      </p:sp>
      <p:sp>
        <p:nvSpPr>
          <p:cNvPr id="16" name="Text 13"/>
          <p:cNvSpPr txBox="1"/>
          <p:nvPr/>
        </p:nvSpPr>
        <p:spPr>
          <a:xfrm>
            <a:off x="4645152" y="256032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Gleiche Komponente wie Add</a:t>
            </a:r>
            <a:endParaRPr lang="en-US" sz="1300" dirty="0"/>
          </a:p>
        </p:txBody>
      </p:sp>
      <p:sp>
        <p:nvSpPr>
          <p:cNvPr id="17" name="Schritt PUT"/>
          <p:cNvSpPr/>
          <p:nvPr/>
        </p:nvSpPr>
        <p:spPr>
          <a:xfrm>
            <a:off x="7338060" y="1371600"/>
            <a:ext cx="640080" cy="640080"/>
          </a:xfrm>
          <a:prstGeom prst="ellipse">
            <a:avLst/>
          </a:prstGeom>
          <a:solidFill>
            <a:schemeClr val="accent1"/>
          </a:solidFill>
          <a:ln w="38100">
            <a:solidFill>
              <a:schemeClr val="bg1"/>
            </a:solidFill>
            <a:prstDash val="solid"/>
          </a:ln>
        </p:spPr>
      </p:sp>
      <p:sp>
        <p:nvSpPr>
          <p:cNvPr id="18" name="Text 15"/>
          <p:cNvSpPr txBox="1"/>
          <p:nvPr/>
        </p:nvSpPr>
        <p:spPr>
          <a:xfrm>
            <a:off x="73380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6675120" y="214884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PUT</a:t>
            </a:r>
            <a:endParaRPr lang="en-US" sz="1500" dirty="0"/>
          </a:p>
        </p:txBody>
      </p:sp>
      <p:sp>
        <p:nvSpPr>
          <p:cNvPr id="20" name="Text 17"/>
          <p:cNvSpPr txBox="1"/>
          <p:nvPr/>
        </p:nvSpPr>
        <p:spPr>
          <a:xfrm>
            <a:off x="6702552" y="256032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Speichern, zurück zur Übersicht</a:t>
            </a:r>
            <a:endParaRPr lang="en-US" sz="1300" dirty="0"/>
          </a:p>
        </p:txBody>
      </p:sp>
      <p:sp>
        <p:nvSpPr>
          <p:cNvPr id="21" name="Text 18"/>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400" i="1" dirty="0">
                <a:solidFill>
                  <a:schemeClr val="accent5"/>
                </a:solidFill>
              </a:rPr>
              <a:t>7 Jest-Tests grün · im Browser getestet: hinzufügen und bearbeiten funktioniert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Worauf wir im Review achten</a:t>
            </a:r>
            <a:endParaRPr lang="en-US" sz="2800" dirty="0"/>
          </a:p>
        </p:txBody>
      </p:sp>
      <p:graphicFrame>
        <p:nvGraphicFramePr>
          <p:cNvPr id="7"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585216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Punkt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Frage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Naming</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Sind Namen einheitlich und verständlich?</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Duplizierter Code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Kommt Code zweimal vor?</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Lesbarkeit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Kurze Funktionen, keine tiefe Verschachtelung?</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Fehlerbehandlung</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Was passiert, wenn das Backend nicht antwortet?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Tests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Gibt es Tests und testen sie das Richtige?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Grösse</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Ist der PR klein genug (200 bis 400 Zeilen)?</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Vier Augen sehen mehr als zwei</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Kleine Pull Requests, konkrete und freundliche Kommentare.</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KN07 – Code Reviews</dc:title>
  <dc:subject>PptxGenJS Presentation</dc:subject>
  <dc:creator>Denis</dc:creator>
  <cp:lastModifiedBy>Denis</cp:lastModifiedBy>
  <cp:revision>1</cp:revision>
  <dcterms:created xsi:type="dcterms:W3CDTF">2026-10-16T09:32:12Z</dcterms:created>
  <dcterms:modified xsi:type="dcterms:W3CDTF">2026-10-16T09:32:12Z</dcterms:modified>
</cp:coreProperties>
</file>