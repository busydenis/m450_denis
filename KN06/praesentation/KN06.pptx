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instieg" id="{4edfe102-0e22-24bd-6d9a-d29a764152cf}">
          <p14:sldIdLst>
            <p14:sldId id="256"/>
          </p14:sldIdLst>
        </p14:section>
        <p14:section name="Aufgabe 1" id="{9112bf98-be67-a602-2e95-2827f3b35f6a}">
          <p14:sldIdLst>
            <p14:sldId id="257"/>
            <p14:sldId id="258"/>
          </p14:sldIdLst>
        </p14:section>
        <p14:section name="Aufgabe 2" id="{a154dea4-3627-e6b0-c518-162601d0bfe1}">
          <p14:sldIdLst>
            <p14:sldId id="259"/>
          </p14:sldIdLst>
        </p14:section>
        <p14:section name="Aufgabe 3" id="{40ded4be-356c-d762-bb47-fd9c2d2e9ae9}">
          <p14:sldIdLst>
            <p14:sldId id="260"/>
          </p14:sldIdLst>
        </p14:section>
        <p14:section name="Fazit" id="{096fd9de-5e26-7d6e-dffa-c6e2ae3ce8f8}">
          <p14:sldIdLst>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KN06 teste ich das Backend vom Recipe Planner, erstelle automatisch Reports und baue eine Pipeline mit GitHub Actions, die bei jedem Push die Tests ausführt.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Aufgabe 1, Teil 1: Alle Controller-Methoden sind mit MockMvc getestet. Der Service ist weggemockt. Ich teste die normalen Fälle und auch, was bei einer ungültigen ID passiert.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Aufgabe 1, Teil 2: Die Mapper sind mit SoftAssertions getestet. Der Vorteil: Der Test stoppt nicht beim ersten Fehler, sondern zeigt am Schluss alle falschen Felder auf einmal. Bei einem Mapper mit vielen Feldern spart das viel Zeit.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Aufgabe 2: Zwei Maven-Plugins erstellen bei jedem mvn test automatisch HTML-Reports. Surefire zeigt, welche Tests gelaufen sind, JaCoCo zeigt die Code Coverage.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Aufgabe 3: Bei jedem Push startet die Pipeline. Zuerst wird kompiliert, dann laufen die Tests. Die Resultate erscheinen direkt in GitHub, die Reports kann man als Artefakt herunterladen und auf main werden sie auf GitHub Pages veröffentlicht.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Fazit: Mit der Pipeline muss niemand mehr daran denken, die Tests laufen zu lassen. Jeder Push wird geprüft, und die Reports sind für das ganze Team einsehbar.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960120"/>
            <a:ext cx="6858000" cy="365760"/>
          </a:xfrm>
          <a:prstGeom prst="rect">
            <a:avLst/>
          </a:prstGeom>
          <a:noFill/>
          <a:ln/>
        </p:spPr>
        <p:txBody>
          <a:bodyPr wrap="square" rtlCol="0"/>
          <a:lstStyle>
            <a:lvl1pPr indent="0" marL="0">
              <a:buNone/>
              <a:defRPr lang="en-US" sz="1400" b="1" dirty="0">
                <a:solidFill>
                  <a:schemeClr val="accent6"/>
                </a:solidFill>
              </a:defRPr>
            </a:lvl1pPr>
          </a:lstStyle>
          <a:p>
            <a:pPr indent="0" marL="0">
              <a:buNone/>
            </a:pPr>
            <a:endParaRPr lang="en-US" sz="1400" dirty="0"/>
          </a:p>
        </p:txBody>
      </p:sp>
      <p:sp>
        <p:nvSpPr>
          <p:cNvPr id="3" name="Text 0"/>
          <p:cNvSpPr/>
          <p:nvPr>
            <p:ph idx="101" type="title" hasCustomPrompt="1"/>
          </p:nvPr>
        </p:nvSpPr>
        <p:spPr>
          <a:xfrm>
            <a:off x="548640" y="1371600"/>
            <a:ext cx="6949440" cy="137160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4" name="Text 0"/>
          <p:cNvSpPr/>
          <p:nvPr>
            <p:ph idx="102" type="body" hasCustomPrompt="1"/>
          </p:nvPr>
        </p:nvSpPr>
        <p:spPr>
          <a:xfrm>
            <a:off x="548640" y="2880360"/>
            <a:ext cx="6949440" cy="1097280"/>
          </a:xfrm>
          <a:prstGeom prst="rect">
            <a:avLst/>
          </a:prstGeom>
          <a:noFill/>
          <a:ln/>
        </p:spPr>
        <p:txBody>
          <a:bodyPr wrap="square" rtlCol="0"/>
          <a:lstStyle>
            <a:lvl1pPr indent="0" marL="0">
              <a:buNone/>
              <a:defRPr lang="en-US" sz="1800" dirty="0">
                <a:solidFill>
                  <a:schemeClr val="bg1"/>
                </a:solidFill>
              </a:defRPr>
            </a:lvl1pPr>
          </a:lstStyle>
          <a:p>
            <a:pPr indent="0" marL="0">
              <a:buNone/>
            </a:pPr>
            <a:endParaRPr lang="en-US" sz="1800" dirty="0"/>
          </a:p>
        </p:txBody>
      </p:sp>
      <p:sp>
        <p:nvSpPr>
          <p:cNvPr id="5" name="Text 0"/>
          <p:cNvSpPr/>
          <p:nvPr/>
        </p:nvSpPr>
        <p:spPr>
          <a:xfrm>
            <a:off x="548640" y="4480560"/>
            <a:ext cx="5486400" cy="274320"/>
          </a:xfrm>
          <a:prstGeom prst="rect">
            <a:avLst/>
          </a:prstGeom>
          <a:noFill/>
          <a:ln/>
        </p:spPr>
        <p:txBody>
          <a:bodyPr wrap="square" lIns="0" tIns="0" rIns="0" bIns="0" rtlCol="0" anchor="ctr"/>
          <a:lstStyle/>
          <a:p>
            <a:pPr indent="0" marL="0">
              <a:buNone/>
            </a:pPr>
            <a:r>
              <a:rPr lang="en-US" sz="1100" dirty="0">
                <a:solidFill>
                  <a:schemeClr val="accent6"/>
                </a:solidFill>
              </a:rPr>
              <a:t>Denis · M450 Applikationen testen</a:t>
            </a:r>
            <a:endParaRPr lang="en-US" sz="11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rtlCol="0"/>
          <a:lstStyle>
            <a:lvl1pPr algn="l" indent="0" marL="0">
              <a:buNone/>
              <a:defRPr lang="en-US" sz="28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3" name="Text 0"/>
          <p:cNvSpPr/>
          <p:nvPr/>
        </p:nvSpPr>
        <p:spPr>
          <a:xfrm>
            <a:off x="457200" y="4754880"/>
            <a:ext cx="3657600" cy="228600"/>
          </a:xfrm>
          <a:prstGeom prst="rect">
            <a:avLst/>
          </a:prstGeom>
          <a:noFill/>
          <a:ln/>
        </p:spPr>
        <p:txBody>
          <a:bodyPr wrap="square" lIns="0" tIns="0" rIns="0" bIns="0" rtlCol="0" anchor="ctr"/>
          <a:lstStyle/>
          <a:p>
            <a:pPr indent="0" marL="0">
              <a:buNone/>
            </a:pPr>
            <a:r>
              <a:rPr lang="en-US" sz="1000" dirty="0">
                <a:solidFill>
                  <a:schemeClr val="accent5"/>
                </a:solidFill>
              </a:rPr>
              <a:t>M450 · KN06</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960120"/>
            <a:ext cx="6858000" cy="365760"/>
          </a:xfrm>
          <a:prstGeom prst="rect">
            <a:avLst/>
          </a:prstGeom>
          <a:noFill/>
          <a:ln/>
        </p:spPr>
        <p:txBody>
          <a:bodyPr wrap="square" lIns="0" tIns="0" rIns="0" bIns="0" rtlCol="0"/>
          <a:lstStyle/>
          <a:p>
            <a:pPr indent="0" marL="0">
              <a:buNone/>
            </a:pPr>
            <a:r>
              <a:rPr lang="en-US" sz="1400" b="1" dirty="0">
                <a:solidFill>
                  <a:schemeClr val="accent6"/>
                </a:solidFill>
              </a:rPr>
              <a:t>KN06</a:t>
            </a:r>
            <a:endParaRPr lang="en-US" sz="1400" dirty="0"/>
          </a:p>
        </p:txBody>
      </p:sp>
      <p:sp>
        <p:nvSpPr>
          <p:cNvPr id="3" name="Text 0"/>
          <p:cNvSpPr/>
          <p:nvPr>
            <p:ph idx="101" type="title" hasCustomPrompt="1"/>
          </p:nvPr>
        </p:nvSpPr>
        <p:spPr>
          <a:xfrm>
            <a:off x="548640" y="1371600"/>
            <a:ext cx="6949440" cy="13716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Tests, Reports und Pipeline</a:t>
            </a:r>
            <a:endParaRPr lang="en-US" sz="4000" dirty="0"/>
          </a:p>
        </p:txBody>
      </p:sp>
      <p:sp>
        <p:nvSpPr>
          <p:cNvPr id="4" name="Text 0"/>
          <p:cNvSpPr/>
          <p:nvPr>
            <p:ph idx="102" type="body" hasCustomPrompt="1"/>
          </p:nvPr>
        </p:nvSpPr>
        <p:spPr>
          <a:xfrm>
            <a:off x="548640" y="2880360"/>
            <a:ext cx="6949440" cy="1097280"/>
          </a:xfrm>
          <a:prstGeom prst="rect">
            <a:avLst/>
          </a:prstGeom>
          <a:noFill/>
          <a:ln/>
        </p:spPr>
        <p:txBody>
          <a:bodyPr wrap="square" lIns="0" tIns="0" rIns="0" bIns="0" rtlCol="0" anchor="t"/>
          <a:lstStyle/>
          <a:p>
            <a:pPr indent="0" marL="0">
              <a:buNone/>
            </a:pPr>
            <a:r>
              <a:rPr lang="en-US" sz="1800" dirty="0">
                <a:solidFill>
                  <a:schemeClr val="bg1"/>
                </a:solidFill>
              </a:rPr>
              <a:t>Recipe Planner: Controller- und Mapper-Tests, HTML-Reports und GitHub Actions</a:t>
            </a:r>
            <a:endParaRPr lang="en-US" sz="1800" dirty="0"/>
          </a:p>
        </p:txBody>
      </p:sp>
      <p:sp>
        <p:nvSpPr>
          <p:cNvPr id="5" name="Status Kreis"/>
          <p:cNvSpPr/>
          <p:nvPr/>
        </p:nvSpPr>
        <p:spPr>
          <a:xfrm>
            <a:off x="7452360" y="1417320"/>
            <a:ext cx="1188720" cy="1188720"/>
          </a:xfrm>
          <a:prstGeom prst="ellipse">
            <a:avLst/>
          </a:prstGeom>
          <a:solidFill>
            <a:schemeClr val="accent1"/>
          </a:solidFill>
          <a:ln w="12700">
            <a:solidFill>
              <a:schemeClr val="accent1"/>
            </a:solidFill>
            <a:prstDash val="solid"/>
          </a:ln>
        </p:spPr>
      </p:sp>
      <p:sp>
        <p:nvSpPr>
          <p:cNvPr id="6" name="Haken"/>
          <p:cNvSpPr txBox="1"/>
          <p:nvPr/>
        </p:nvSpPr>
        <p:spPr>
          <a:xfrm>
            <a:off x="7452360" y="1417320"/>
            <a:ext cx="1188720" cy="1188720"/>
          </a:xfrm>
          <a:prstGeom prst="rect">
            <a:avLst/>
          </a:prstGeom>
          <a:noFill/>
          <a:ln/>
        </p:spPr>
        <p:txBody>
          <a:bodyPr wrap="square" lIns="0" tIns="0" rIns="0" bIns="0" rtlCol="0" anchor="ctr"/>
          <a:lstStyle/>
          <a:p>
            <a:pPr algn="ctr" indent="0" marL="0">
              <a:buNone/>
            </a:pPr>
            <a:r>
              <a:rPr lang="en-US" sz="4800" b="1" dirty="0">
                <a:solidFill>
                  <a:schemeClr val="bg1"/>
                </a:solidFill>
              </a:rPr>
              <a:t>✓</a:t>
            </a:r>
            <a:endParaRPr lang="en-US" sz="4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Controller-Tests mit MockMvc</a:t>
            </a:r>
            <a:endParaRPr lang="en-US" sz="2800" dirty="0"/>
          </a:p>
        </p:txBody>
      </p:sp>
      <p:graphicFrame>
        <p:nvGraphicFramePr>
          <p:cNvPr id="3" name="Tabelle"/>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3017520"/>
                <a:gridCol w="3108960"/>
                <a:gridCol w="2103120"/>
              </a:tblGrid>
              <a:tr h="457200">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Test</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Endpunkt</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Erwartet</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tx2"/>
                    </a:solidFill>
                  </a:tcPr>
                </a:tc>
              </a:tr>
              <a:tr h="457200">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getRecipesReturnsAllRecipes</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GET /api/recipes</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200, 2 Rezepte</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2"/>
                    </a:solidFill>
                  </a:tcPr>
                </a:tc>
              </a:tr>
              <a:tr h="457200">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getRecipesWithEmptyList</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GET /api/recipes</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200, leer</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1"/>
                    </a:solidFill>
                  </a:tcPr>
                </a:tc>
              </a:tr>
              <a:tr h="457200">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getRecipeById</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GET /api/recipes/recipe/{id}</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200 + Zutaten</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2"/>
                    </a:solidFill>
                  </a:tcPr>
                </a:tc>
              </a:tr>
              <a:tr h="457200">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getRecipeWithInvalidId</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GET /api/recipes/recipe/abc</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400</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1"/>
                    </a:solidFill>
                  </a:tcPr>
                </a:tc>
              </a:tr>
              <a:tr h="457200">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addRecipe</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POST /api/recipes</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200, Service aufgerufen</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Mapper-Tests mit SoftAssertions</a:t>
            </a:r>
            <a:endParaRPr lang="en-US" sz="2800" dirty="0"/>
          </a:p>
        </p:txBody>
      </p:sp>
      <p:sp>
        <p:nvSpPr>
          <p:cNvPr id="4" name="Code Box"/>
          <p:cNvSpPr/>
          <p:nvPr/>
        </p:nvSpPr>
        <p:spPr>
          <a:xfrm>
            <a:off x="457200" y="1097280"/>
            <a:ext cx="4937760" cy="3429000"/>
          </a:xfrm>
          <a:prstGeom prst="roundRect">
            <a:avLst>
              <a:gd name="adj" fmla="val 2133"/>
            </a:avLst>
          </a:prstGeom>
          <a:solidFill>
            <a:schemeClr val="tx1"/>
          </a:solidFill>
          <a:ln w="12700">
            <a:solidFill>
              <a:schemeClr val="tx1"/>
            </a:solidFill>
            <a:prstDash val="solid"/>
          </a:ln>
        </p:spPr>
      </p:sp>
      <p:sp>
        <p:nvSpPr>
          <p:cNvPr id="5" name="Text 2"/>
          <p:cNvSpPr txBox="1"/>
          <p:nvPr/>
        </p:nvSpPr>
        <p:spPr>
          <a:xfrm>
            <a:off x="640080" y="1207008"/>
            <a:ext cx="4572000" cy="274320"/>
          </a:xfrm>
          <a:prstGeom prst="rect">
            <a:avLst/>
          </a:prstGeom>
          <a:noFill/>
          <a:ln/>
        </p:spPr>
        <p:txBody>
          <a:bodyPr wrap="square" lIns="0" tIns="0" rIns="0" bIns="0" rtlCol="0" anchor="ctr"/>
          <a:lstStyle/>
          <a:p>
            <a:pPr indent="0" marL="0">
              <a:buNone/>
            </a:pPr>
            <a:r>
              <a:rPr lang="en-US" sz="1100" b="1" dirty="0">
                <a:solidFill>
                  <a:schemeClr val="accent6"/>
                </a:solidFill>
              </a:rPr>
              <a:t>RecipeEntityMapperTest.java</a:t>
            </a:r>
            <a:endParaRPr lang="en-US" sz="1100" dirty="0"/>
          </a:p>
        </p:txBody>
      </p:sp>
      <p:sp>
        <p:nvSpPr>
          <p:cNvPr id="6" name="Code"/>
          <p:cNvSpPr txBox="1"/>
          <p:nvPr/>
        </p:nvSpPr>
        <p:spPr>
          <a:xfrm>
            <a:off x="640080" y="1508760"/>
            <a:ext cx="4572000" cy="2880360"/>
          </a:xfrm>
          <a:prstGeom prst="rect">
            <a:avLst/>
          </a:prstGeom>
          <a:noFill/>
          <a:ln/>
        </p:spPr>
        <p:txBody>
          <a:bodyPr wrap="square" lIns="0" tIns="0" rIns="0" bIns="0" rtlCol="0" anchor="t"/>
          <a:lstStyle/>
          <a:p>
            <a:pPr indent="0" marL="0">
              <a:buNone/>
            </a:pPr>
            <a:r>
              <a:rPr lang="en-US" sz="1300" dirty="0">
                <a:solidFill>
                  <a:schemeClr val="bg1"/>
                </a:solidFill>
                <a:latin typeface="Courier New" pitchFamily="34" charset="0"/>
                <a:ea typeface="Courier New" pitchFamily="34" charset="-122"/>
                <a:cs typeface="Courier New" pitchFamily="34" charset="-120"/>
              </a:rPr>
              <a:t>SoftAssertions softly = new SoftAssertions();</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softly.assertThat(recipe.getName())</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.isEqualTo("Lasagne");</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softly.assertThat(recipe.getDescription())</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.isEqualTo("Lecker");</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softly.assertThat(recipe.getIngredients())</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.hasSize(1);</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softly.assertAll();</a:t>
            </a:r>
            <a:endParaRPr lang="en-US" sz="1300" dirty="0"/>
          </a:p>
        </p:txBody>
      </p:sp>
      <p:sp>
        <p:nvSpPr>
          <p:cNvPr id="7" name="Karte Vorteil"/>
          <p:cNvSpPr/>
          <p:nvPr/>
        </p:nvSpPr>
        <p:spPr>
          <a:xfrm>
            <a:off x="5669280" y="1097280"/>
            <a:ext cx="3017520" cy="2194560"/>
          </a:xfrm>
          <a:prstGeom prst="roundRect">
            <a:avLst>
              <a:gd name="adj" fmla="val 3333"/>
            </a:avLst>
          </a:prstGeom>
          <a:solidFill>
            <a:schemeClr val="bg2"/>
          </a:solidFill>
          <a:ln w="12700">
            <a:solidFill>
              <a:schemeClr val="bg2"/>
            </a:solidFill>
            <a:prstDash val="solid"/>
          </a:ln>
        </p:spPr>
      </p:sp>
      <p:sp>
        <p:nvSpPr>
          <p:cNvPr id="8" name="Badge ✓"/>
          <p:cNvSpPr/>
          <p:nvPr/>
        </p:nvSpPr>
        <p:spPr>
          <a:xfrm>
            <a:off x="5852160" y="1280160"/>
            <a:ext cx="384048" cy="384048"/>
          </a:xfrm>
          <a:prstGeom prst="ellipse">
            <a:avLst/>
          </a:prstGeom>
          <a:solidFill>
            <a:schemeClr val="accent1"/>
          </a:solidFill>
          <a:ln w="12700">
            <a:solidFill>
              <a:schemeClr val="accent1"/>
            </a:solidFill>
            <a:prstDash val="solid"/>
          </a:ln>
        </p:spPr>
      </p:sp>
      <p:sp>
        <p:nvSpPr>
          <p:cNvPr id="9" name="Text 6"/>
          <p:cNvSpPr txBox="1"/>
          <p:nvPr/>
        </p:nvSpPr>
        <p:spPr>
          <a:xfrm>
            <a:off x="5852160" y="12801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10" name="Text 7"/>
          <p:cNvSpPr txBox="1"/>
          <p:nvPr/>
        </p:nvSpPr>
        <p:spPr>
          <a:xfrm>
            <a:off x="6355080" y="1252728"/>
            <a:ext cx="2194560" cy="438912"/>
          </a:xfrm>
          <a:prstGeom prst="rect">
            <a:avLst/>
          </a:prstGeom>
          <a:noFill/>
          <a:ln/>
        </p:spPr>
        <p:txBody>
          <a:bodyPr wrap="square" lIns="0" tIns="0" rIns="0" bIns="0" rtlCol="0" anchor="ctr">
            <a:normAutofit/>
          </a:bodyPr>
          <a:lstStyle/>
          <a:p>
            <a:pPr indent="0" marL="0">
              <a:buNone/>
            </a:pPr>
            <a:r>
              <a:rPr lang="en-US" sz="1600" b="1" dirty="0">
                <a:solidFill>
                  <a:schemeClr val="tx2"/>
                </a:solidFill>
              </a:rPr>
              <a:t>Vorteil</a:t>
            </a:r>
            <a:endParaRPr lang="en-US" sz="1600" dirty="0"/>
          </a:p>
        </p:txBody>
      </p:sp>
      <p:sp>
        <p:nvSpPr>
          <p:cNvPr id="11" name="Text 8"/>
          <p:cNvSpPr txBox="1"/>
          <p:nvPr/>
        </p:nvSpPr>
        <p:spPr>
          <a:xfrm>
            <a:off x="5852160" y="1828800"/>
            <a:ext cx="2651760" cy="1353312"/>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Alle Prüfungen laufen durch. assertAll() meldet alle Fehler zusammen, nicht nur den ersten.</a:t>
            </a:r>
            <a:endParaRPr lang="en-US" sz="1400" dirty="0"/>
          </a:p>
        </p:txBody>
      </p:sp>
      <p:sp>
        <p:nvSpPr>
          <p:cNvPr id="12" name="Kennzahl Tests grün"/>
          <p:cNvSpPr/>
          <p:nvPr/>
        </p:nvSpPr>
        <p:spPr>
          <a:xfrm>
            <a:off x="5669280" y="3520440"/>
            <a:ext cx="3017520" cy="1005840"/>
          </a:xfrm>
          <a:prstGeom prst="roundRect">
            <a:avLst>
              <a:gd name="adj" fmla="val 7273"/>
            </a:avLst>
          </a:prstGeom>
          <a:solidFill>
            <a:schemeClr val="bg2"/>
          </a:solidFill>
          <a:ln w="12700">
            <a:solidFill>
              <a:schemeClr val="bg2"/>
            </a:solidFill>
            <a:prstDash val="solid"/>
          </a:ln>
        </p:spPr>
      </p:sp>
      <p:sp>
        <p:nvSpPr>
          <p:cNvPr id="13" name="Text 10"/>
          <p:cNvSpPr txBox="1"/>
          <p:nvPr/>
        </p:nvSpPr>
        <p:spPr>
          <a:xfrm>
            <a:off x="5669280" y="3429000"/>
            <a:ext cx="3017520" cy="777240"/>
          </a:xfrm>
          <a:prstGeom prst="rect">
            <a:avLst/>
          </a:prstGeom>
          <a:noFill/>
          <a:ln/>
        </p:spPr>
        <p:txBody>
          <a:bodyPr wrap="square" lIns="0" tIns="0" rIns="0" bIns="0" rtlCol="0" anchor="ctr"/>
          <a:lstStyle/>
          <a:p>
            <a:pPr algn="ctr" indent="0" marL="0">
              <a:buNone/>
            </a:pPr>
            <a:r>
              <a:rPr lang="en-US" sz="2400" b="1" dirty="0">
                <a:solidFill>
                  <a:schemeClr val="accent1"/>
                </a:solidFill>
                <a:latin typeface="Cambria" pitchFamily="34" charset="0"/>
                <a:ea typeface="Cambria" pitchFamily="34" charset="-122"/>
                <a:cs typeface="Cambria" pitchFamily="34" charset="-120"/>
              </a:rPr>
              <a:t>17</a:t>
            </a:r>
            <a:endParaRPr lang="en-US" sz="2400" dirty="0"/>
          </a:p>
        </p:txBody>
      </p:sp>
      <p:sp>
        <p:nvSpPr>
          <p:cNvPr id="14" name="Text 11"/>
          <p:cNvSpPr txBox="1"/>
          <p:nvPr/>
        </p:nvSpPr>
        <p:spPr>
          <a:xfrm>
            <a:off x="5760720" y="4206240"/>
            <a:ext cx="2834640" cy="457200"/>
          </a:xfrm>
          <a:prstGeom prst="rect">
            <a:avLst/>
          </a:prstGeom>
          <a:noFill/>
          <a:ln/>
        </p:spPr>
        <p:txBody>
          <a:bodyPr wrap="square" lIns="0" tIns="0" rIns="0" bIns="0" rtlCol="0" anchor="t"/>
          <a:lstStyle/>
          <a:p>
            <a:pPr algn="ctr" indent="0" marL="0">
              <a:buNone/>
            </a:pPr>
            <a:r>
              <a:rPr lang="en-US" sz="1200" dirty="0">
                <a:solidFill>
                  <a:schemeClr val="tx1"/>
                </a:solidFill>
              </a:rPr>
              <a:t>Tests grün</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Aufgabe 2: Reports automatisch erstellen</a:t>
            </a:r>
            <a:endParaRPr lang="en-US" sz="2800" dirty="0"/>
          </a:p>
        </p:txBody>
      </p:sp>
      <p:sp>
        <p:nvSpPr>
          <p:cNvPr id="4" name="Karte Surefire Report"/>
          <p:cNvSpPr/>
          <p:nvPr/>
        </p:nvSpPr>
        <p:spPr>
          <a:xfrm>
            <a:off x="457200" y="1097280"/>
            <a:ext cx="3977640" cy="2377440"/>
          </a:xfrm>
          <a:prstGeom prst="roundRect">
            <a:avLst>
              <a:gd name="adj" fmla="val 3077"/>
            </a:avLst>
          </a:prstGeom>
          <a:solidFill>
            <a:schemeClr val="bg2"/>
          </a:solidFill>
          <a:ln w="12700">
            <a:solidFill>
              <a:schemeClr val="bg2"/>
            </a:solidFill>
            <a:prstDash val="solid"/>
          </a:ln>
        </p:spPr>
      </p:sp>
      <p:sp>
        <p:nvSpPr>
          <p:cNvPr id="5" name="Badge 1"/>
          <p:cNvSpPr/>
          <p:nvPr/>
        </p:nvSpPr>
        <p:spPr>
          <a:xfrm>
            <a:off x="640080" y="1280160"/>
            <a:ext cx="384048" cy="384048"/>
          </a:xfrm>
          <a:prstGeom prst="ellipse">
            <a:avLst/>
          </a:prstGeom>
          <a:solidFill>
            <a:schemeClr val="accent3"/>
          </a:solidFill>
          <a:ln w="12700">
            <a:solidFill>
              <a:schemeClr val="accent3"/>
            </a:solidFill>
            <a:prstDash val="solid"/>
          </a:ln>
        </p:spPr>
      </p:sp>
      <p:sp>
        <p:nvSpPr>
          <p:cNvPr id="6" name="Text 3"/>
          <p:cNvSpPr txBox="1"/>
          <p:nvPr/>
        </p:nvSpPr>
        <p:spPr>
          <a:xfrm>
            <a:off x="640080" y="12801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1143000" y="1252728"/>
            <a:ext cx="3154680" cy="438912"/>
          </a:xfrm>
          <a:prstGeom prst="rect">
            <a:avLst/>
          </a:prstGeom>
          <a:noFill/>
          <a:ln/>
        </p:spPr>
        <p:txBody>
          <a:bodyPr wrap="square" lIns="0" tIns="0" rIns="0" bIns="0" rtlCol="0" anchor="ctr">
            <a:normAutofit/>
          </a:bodyPr>
          <a:lstStyle/>
          <a:p>
            <a:pPr indent="0" marL="0">
              <a:buNone/>
            </a:pPr>
            <a:r>
              <a:rPr lang="en-US" sz="1600" b="1" dirty="0">
                <a:solidFill>
                  <a:schemeClr val="tx2"/>
                </a:solidFill>
              </a:rPr>
              <a:t>Surefire Report</a:t>
            </a:r>
            <a:endParaRPr lang="en-US" sz="1600" dirty="0"/>
          </a:p>
        </p:txBody>
      </p:sp>
      <p:sp>
        <p:nvSpPr>
          <p:cNvPr id="8" name="Text 5"/>
          <p:cNvSpPr txBox="1"/>
          <p:nvPr/>
        </p:nvSpPr>
        <p:spPr>
          <a:xfrm>
            <a:off x="640080" y="1828800"/>
            <a:ext cx="3611880" cy="1536192"/>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Alle Tests mit Status und Dauer</a:t>
            </a:r>
            <a:endParaRPr lang="en-US" sz="1400" dirty="0"/>
          </a:p>
          <a:p>
            <a:pPr marL="342900" indent="-342900">
              <a:spcAft>
                <a:spcPts val="400"/>
              </a:spcAft>
              <a:buSzPct val="100000"/>
              <a:buChar char="•"/>
            </a:pPr>
            <a:r>
              <a:rPr lang="en-US" sz="1400" dirty="0">
                <a:solidFill>
                  <a:schemeClr val="tx1"/>
                </a:solidFill>
              </a:rPr>
              <a:t>target/reports/surefire.html</a:t>
            </a:r>
            <a:endParaRPr lang="en-US" sz="1400" dirty="0"/>
          </a:p>
        </p:txBody>
      </p:sp>
      <p:sp>
        <p:nvSpPr>
          <p:cNvPr id="9" name="Karte JaCoCo"/>
          <p:cNvSpPr/>
          <p:nvPr/>
        </p:nvSpPr>
        <p:spPr>
          <a:xfrm>
            <a:off x="4709160" y="1097280"/>
            <a:ext cx="3977640" cy="2377440"/>
          </a:xfrm>
          <a:prstGeom prst="roundRect">
            <a:avLst>
              <a:gd name="adj" fmla="val 3077"/>
            </a:avLst>
          </a:prstGeom>
          <a:solidFill>
            <a:schemeClr val="bg2"/>
          </a:solidFill>
          <a:ln w="12700">
            <a:solidFill>
              <a:schemeClr val="bg2"/>
            </a:solidFill>
            <a:prstDash val="solid"/>
          </a:ln>
        </p:spPr>
      </p:sp>
      <p:sp>
        <p:nvSpPr>
          <p:cNvPr id="10" name="Badge %"/>
          <p:cNvSpPr/>
          <p:nvPr/>
        </p:nvSpPr>
        <p:spPr>
          <a:xfrm>
            <a:off x="4892040" y="1280160"/>
            <a:ext cx="384048" cy="384048"/>
          </a:xfrm>
          <a:prstGeom prst="ellipse">
            <a:avLst/>
          </a:prstGeom>
          <a:solidFill>
            <a:schemeClr val="accent1"/>
          </a:solidFill>
          <a:ln w="12700">
            <a:solidFill>
              <a:schemeClr val="accent1"/>
            </a:solidFill>
            <a:prstDash val="solid"/>
          </a:ln>
        </p:spPr>
      </p:sp>
      <p:sp>
        <p:nvSpPr>
          <p:cNvPr id="11" name="Text 8"/>
          <p:cNvSpPr txBox="1"/>
          <p:nvPr/>
        </p:nvSpPr>
        <p:spPr>
          <a:xfrm>
            <a:off x="4892040" y="12801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12" name="Text 9"/>
          <p:cNvSpPr txBox="1"/>
          <p:nvPr/>
        </p:nvSpPr>
        <p:spPr>
          <a:xfrm>
            <a:off x="5394960" y="1252728"/>
            <a:ext cx="3154680" cy="438912"/>
          </a:xfrm>
          <a:prstGeom prst="rect">
            <a:avLst/>
          </a:prstGeom>
          <a:noFill/>
          <a:ln/>
        </p:spPr>
        <p:txBody>
          <a:bodyPr wrap="square" lIns="0" tIns="0" rIns="0" bIns="0" rtlCol="0" anchor="ctr">
            <a:normAutofit/>
          </a:bodyPr>
          <a:lstStyle/>
          <a:p>
            <a:pPr indent="0" marL="0">
              <a:buNone/>
            </a:pPr>
            <a:r>
              <a:rPr lang="en-US" sz="1600" b="1" dirty="0">
                <a:solidFill>
                  <a:schemeClr val="tx2"/>
                </a:solidFill>
              </a:rPr>
              <a:t>JaCoCo</a:t>
            </a:r>
            <a:endParaRPr lang="en-US" sz="1600" dirty="0"/>
          </a:p>
        </p:txBody>
      </p:sp>
      <p:sp>
        <p:nvSpPr>
          <p:cNvPr id="13" name="Text 10"/>
          <p:cNvSpPr txBox="1"/>
          <p:nvPr/>
        </p:nvSpPr>
        <p:spPr>
          <a:xfrm>
            <a:off x="4892040" y="1828800"/>
            <a:ext cx="3611880" cy="1536192"/>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Code Coverage pro Klasse</a:t>
            </a:r>
            <a:endParaRPr lang="en-US" sz="1400" dirty="0"/>
          </a:p>
          <a:p>
            <a:pPr marL="342900" indent="-342900">
              <a:spcAft>
                <a:spcPts val="400"/>
              </a:spcAft>
              <a:buSzPct val="100000"/>
              <a:buChar char="•"/>
            </a:pPr>
            <a:r>
              <a:rPr lang="en-US" sz="1400" dirty="0">
                <a:solidFill>
                  <a:schemeClr val="tx1"/>
                </a:solidFill>
              </a:rPr>
              <a:t>target/site/jacoco/index.html</a:t>
            </a:r>
            <a:endParaRPr lang="en-US" sz="1400" dirty="0"/>
          </a:p>
        </p:txBody>
      </p:sp>
      <p:sp>
        <p:nvSpPr>
          <p:cNvPr id="14" name="Code Box"/>
          <p:cNvSpPr/>
          <p:nvPr/>
        </p:nvSpPr>
        <p:spPr>
          <a:xfrm>
            <a:off x="457200" y="3749040"/>
            <a:ext cx="8229600" cy="731520"/>
          </a:xfrm>
          <a:prstGeom prst="roundRect">
            <a:avLst>
              <a:gd name="adj" fmla="val 10000"/>
            </a:avLst>
          </a:prstGeom>
          <a:solidFill>
            <a:schemeClr val="tx1"/>
          </a:solidFill>
          <a:ln w="12700">
            <a:solidFill>
              <a:schemeClr val="tx1"/>
            </a:solidFill>
            <a:prstDash val="solid"/>
          </a:ln>
        </p:spPr>
      </p:sp>
      <p:sp>
        <p:nvSpPr>
          <p:cNvPr id="15" name="Code"/>
          <p:cNvSpPr txBox="1"/>
          <p:nvPr/>
        </p:nvSpPr>
        <p:spPr>
          <a:xfrm>
            <a:off x="640080" y="3931920"/>
            <a:ext cx="7863840" cy="411480"/>
          </a:xfrm>
          <a:prstGeom prst="rect">
            <a:avLst/>
          </a:prstGeom>
          <a:noFill/>
          <a:ln/>
        </p:spPr>
        <p:txBody>
          <a:bodyPr wrap="square" lIns="0" tIns="0" rIns="0" bIns="0" rtlCol="0" anchor="t"/>
          <a:lstStyle/>
          <a:p>
            <a:pPr indent="0" marL="0">
              <a:buNone/>
            </a:pPr>
            <a:r>
              <a:rPr lang="en-US" sz="1400" dirty="0">
                <a:solidFill>
                  <a:schemeClr val="bg1"/>
                </a:solidFill>
                <a:latin typeface="Courier New" pitchFamily="34" charset="0"/>
                <a:ea typeface="Courier New" pitchFamily="34" charset="-122"/>
                <a:cs typeface="Courier New" pitchFamily="34" charset="-120"/>
              </a:rPr>
              <a:t>mvn test</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Aufgabe 3: Pipeline mit GitHub Actions</a:t>
            </a:r>
            <a:endParaRPr lang="en-US" sz="2800" dirty="0"/>
          </a:p>
        </p:txBody>
      </p:sp>
      <p:sp>
        <p:nvSpPr>
          <p:cNvPr id="4" name="Verbindung"/>
          <p:cNvSpPr/>
          <p:nvPr/>
        </p:nvSpPr>
        <p:spPr>
          <a:xfrm>
            <a:off x="1280160" y="1691640"/>
            <a:ext cx="6583680" cy="0"/>
          </a:xfrm>
          <a:prstGeom prst="line">
            <a:avLst/>
          </a:prstGeom>
          <a:noFill/>
          <a:ln w="38100">
            <a:solidFill>
              <a:schemeClr val="accent6"/>
            </a:solidFill>
            <a:prstDash val="solid"/>
          </a:ln>
        </p:spPr>
      </p:sp>
      <p:sp>
        <p:nvSpPr>
          <p:cNvPr id="5" name="Schritt Push"/>
          <p:cNvSpPr/>
          <p:nvPr/>
        </p:nvSpPr>
        <p:spPr>
          <a:xfrm>
            <a:off x="960120" y="1371600"/>
            <a:ext cx="640080" cy="640080"/>
          </a:xfrm>
          <a:prstGeom prst="ellipse">
            <a:avLst/>
          </a:prstGeom>
          <a:solidFill>
            <a:schemeClr val="accent3"/>
          </a:solidFill>
          <a:ln w="38100">
            <a:solidFill>
              <a:schemeClr val="bg1"/>
            </a:solidFill>
            <a:prstDash val="solid"/>
          </a:ln>
        </p:spPr>
      </p:sp>
      <p:sp>
        <p:nvSpPr>
          <p:cNvPr id="6" name="Text 3"/>
          <p:cNvSpPr txBox="1"/>
          <p:nvPr/>
        </p:nvSpPr>
        <p:spPr>
          <a:xfrm>
            <a:off x="960120" y="137160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ext 4"/>
          <p:cNvSpPr txBox="1"/>
          <p:nvPr/>
        </p:nvSpPr>
        <p:spPr>
          <a:xfrm>
            <a:off x="502920" y="2148840"/>
            <a:ext cx="1554480" cy="411480"/>
          </a:xfrm>
          <a:prstGeom prst="rect">
            <a:avLst/>
          </a:prstGeom>
          <a:noFill/>
          <a:ln/>
        </p:spPr>
        <p:txBody>
          <a:bodyPr wrap="square" lIns="0" tIns="0" rIns="0" bIns="0" rtlCol="0" anchor="t"/>
          <a:lstStyle/>
          <a:p>
            <a:pPr algn="ctr" indent="0" marL="0">
              <a:buNone/>
            </a:pPr>
            <a:r>
              <a:rPr lang="en-US" sz="1500" b="1" dirty="0">
                <a:solidFill>
                  <a:schemeClr val="tx2"/>
                </a:solidFill>
              </a:rPr>
              <a:t>Push</a:t>
            </a:r>
            <a:endParaRPr lang="en-US" sz="1500" dirty="0"/>
          </a:p>
        </p:txBody>
      </p:sp>
      <p:sp>
        <p:nvSpPr>
          <p:cNvPr id="8" name="Text 5"/>
          <p:cNvSpPr txBox="1"/>
          <p:nvPr/>
        </p:nvSpPr>
        <p:spPr>
          <a:xfrm>
            <a:off x="530352" y="2560320"/>
            <a:ext cx="1499616" cy="1737360"/>
          </a:xfrm>
          <a:prstGeom prst="rect">
            <a:avLst/>
          </a:prstGeom>
          <a:noFill/>
          <a:ln/>
        </p:spPr>
        <p:txBody>
          <a:bodyPr wrap="square" lIns="0" tIns="0" rIns="0" bIns="0" rtlCol="0" anchor="t"/>
          <a:lstStyle/>
          <a:p>
            <a:pPr algn="ctr" indent="0" marL="0">
              <a:buNone/>
            </a:pPr>
            <a:r>
              <a:rPr lang="en-US" sz="1300" dirty="0">
                <a:solidFill>
                  <a:schemeClr val="tx1"/>
                </a:solidFill>
              </a:rPr>
              <a:t>Commit auf GitHub</a:t>
            </a:r>
            <a:endParaRPr lang="en-US" sz="1300" dirty="0"/>
          </a:p>
        </p:txBody>
      </p:sp>
      <p:sp>
        <p:nvSpPr>
          <p:cNvPr id="9" name="Schritt build"/>
          <p:cNvSpPr/>
          <p:nvPr/>
        </p:nvSpPr>
        <p:spPr>
          <a:xfrm>
            <a:off x="2606040" y="1371600"/>
            <a:ext cx="640080" cy="640080"/>
          </a:xfrm>
          <a:prstGeom prst="ellipse">
            <a:avLst/>
          </a:prstGeom>
          <a:solidFill>
            <a:schemeClr val="accent3"/>
          </a:solidFill>
          <a:ln w="38100">
            <a:solidFill>
              <a:schemeClr val="bg1"/>
            </a:solidFill>
            <a:prstDash val="solid"/>
          </a:ln>
        </p:spPr>
      </p:sp>
      <p:sp>
        <p:nvSpPr>
          <p:cNvPr id="10" name="Text 7"/>
          <p:cNvSpPr txBox="1"/>
          <p:nvPr/>
        </p:nvSpPr>
        <p:spPr>
          <a:xfrm>
            <a:off x="2606040" y="137160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Text 8"/>
          <p:cNvSpPr txBox="1"/>
          <p:nvPr/>
        </p:nvSpPr>
        <p:spPr>
          <a:xfrm>
            <a:off x="2148840" y="2148840"/>
            <a:ext cx="1554480" cy="411480"/>
          </a:xfrm>
          <a:prstGeom prst="rect">
            <a:avLst/>
          </a:prstGeom>
          <a:noFill/>
          <a:ln/>
        </p:spPr>
        <p:txBody>
          <a:bodyPr wrap="square" lIns="0" tIns="0" rIns="0" bIns="0" rtlCol="0" anchor="t"/>
          <a:lstStyle/>
          <a:p>
            <a:pPr algn="ctr" indent="0" marL="0">
              <a:buNone/>
            </a:pPr>
            <a:r>
              <a:rPr lang="en-US" sz="1500" b="1" dirty="0">
                <a:solidFill>
                  <a:schemeClr val="tx2"/>
                </a:solidFill>
              </a:rPr>
              <a:t>build</a:t>
            </a:r>
            <a:endParaRPr lang="en-US" sz="1500" dirty="0"/>
          </a:p>
        </p:txBody>
      </p:sp>
      <p:sp>
        <p:nvSpPr>
          <p:cNvPr id="12" name="Text 9"/>
          <p:cNvSpPr txBox="1"/>
          <p:nvPr/>
        </p:nvSpPr>
        <p:spPr>
          <a:xfrm>
            <a:off x="2176272" y="2560320"/>
            <a:ext cx="1499616" cy="1737360"/>
          </a:xfrm>
          <a:prstGeom prst="rect">
            <a:avLst/>
          </a:prstGeom>
          <a:noFill/>
          <a:ln/>
        </p:spPr>
        <p:txBody>
          <a:bodyPr wrap="square" lIns="0" tIns="0" rIns="0" bIns="0" rtlCol="0" anchor="t"/>
          <a:lstStyle/>
          <a:p>
            <a:pPr algn="ctr" indent="0" marL="0">
              <a:buNone/>
            </a:pPr>
            <a:r>
              <a:rPr lang="en-US" sz="1300" dirty="0">
                <a:solidFill>
                  <a:schemeClr val="tx1"/>
                </a:solidFill>
              </a:rPr>
              <a:t>Java 21, mvn compile</a:t>
            </a:r>
            <a:endParaRPr lang="en-US" sz="1300" dirty="0"/>
          </a:p>
        </p:txBody>
      </p:sp>
      <p:sp>
        <p:nvSpPr>
          <p:cNvPr id="13" name="Schritt test"/>
          <p:cNvSpPr/>
          <p:nvPr/>
        </p:nvSpPr>
        <p:spPr>
          <a:xfrm>
            <a:off x="4251960" y="1371600"/>
            <a:ext cx="640080" cy="640080"/>
          </a:xfrm>
          <a:prstGeom prst="ellipse">
            <a:avLst/>
          </a:prstGeom>
          <a:solidFill>
            <a:schemeClr val="accent3"/>
          </a:solidFill>
          <a:ln w="38100">
            <a:solidFill>
              <a:schemeClr val="bg1"/>
            </a:solidFill>
            <a:prstDash val="solid"/>
          </a:ln>
        </p:spPr>
      </p:sp>
      <p:sp>
        <p:nvSpPr>
          <p:cNvPr id="14" name="Text 11"/>
          <p:cNvSpPr txBox="1"/>
          <p:nvPr/>
        </p:nvSpPr>
        <p:spPr>
          <a:xfrm>
            <a:off x="4251960" y="137160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5" name="Text 12"/>
          <p:cNvSpPr txBox="1"/>
          <p:nvPr/>
        </p:nvSpPr>
        <p:spPr>
          <a:xfrm>
            <a:off x="3794760" y="2148840"/>
            <a:ext cx="1554480" cy="411480"/>
          </a:xfrm>
          <a:prstGeom prst="rect">
            <a:avLst/>
          </a:prstGeom>
          <a:noFill/>
          <a:ln/>
        </p:spPr>
        <p:txBody>
          <a:bodyPr wrap="square" lIns="0" tIns="0" rIns="0" bIns="0" rtlCol="0" anchor="t"/>
          <a:lstStyle/>
          <a:p>
            <a:pPr algn="ctr" indent="0" marL="0">
              <a:buNone/>
            </a:pPr>
            <a:r>
              <a:rPr lang="en-US" sz="1500" b="1" dirty="0">
                <a:solidFill>
                  <a:schemeClr val="tx2"/>
                </a:solidFill>
              </a:rPr>
              <a:t>test</a:t>
            </a:r>
            <a:endParaRPr lang="en-US" sz="1500" dirty="0"/>
          </a:p>
        </p:txBody>
      </p:sp>
      <p:sp>
        <p:nvSpPr>
          <p:cNvPr id="16" name="Text 13"/>
          <p:cNvSpPr txBox="1"/>
          <p:nvPr/>
        </p:nvSpPr>
        <p:spPr>
          <a:xfrm>
            <a:off x="3822192" y="2560320"/>
            <a:ext cx="1499616" cy="1737360"/>
          </a:xfrm>
          <a:prstGeom prst="rect">
            <a:avLst/>
          </a:prstGeom>
          <a:noFill/>
          <a:ln/>
        </p:spPr>
        <p:txBody>
          <a:bodyPr wrap="square" lIns="0" tIns="0" rIns="0" bIns="0" rtlCol="0" anchor="t"/>
          <a:lstStyle/>
          <a:p>
            <a:pPr algn="ctr" indent="0" marL="0">
              <a:buNone/>
            </a:pPr>
            <a:r>
              <a:rPr lang="en-US" sz="1300" dirty="0">
                <a:solidFill>
                  <a:schemeClr val="tx1"/>
                </a:solidFill>
              </a:rPr>
              <a:t>mvn test, Check "Unit Tests"</a:t>
            </a:r>
            <a:endParaRPr lang="en-US" sz="1300" dirty="0"/>
          </a:p>
        </p:txBody>
      </p:sp>
      <p:sp>
        <p:nvSpPr>
          <p:cNvPr id="17" name="Schritt Artefakt"/>
          <p:cNvSpPr/>
          <p:nvPr/>
        </p:nvSpPr>
        <p:spPr>
          <a:xfrm>
            <a:off x="5897880" y="1371600"/>
            <a:ext cx="640080" cy="640080"/>
          </a:xfrm>
          <a:prstGeom prst="ellipse">
            <a:avLst/>
          </a:prstGeom>
          <a:solidFill>
            <a:schemeClr val="accent3"/>
          </a:solidFill>
          <a:ln w="38100">
            <a:solidFill>
              <a:schemeClr val="bg1"/>
            </a:solidFill>
            <a:prstDash val="solid"/>
          </a:ln>
        </p:spPr>
      </p:sp>
      <p:sp>
        <p:nvSpPr>
          <p:cNvPr id="18" name="Text 15"/>
          <p:cNvSpPr txBox="1"/>
          <p:nvPr/>
        </p:nvSpPr>
        <p:spPr>
          <a:xfrm>
            <a:off x="5897880" y="137160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9" name="Text 16"/>
          <p:cNvSpPr txBox="1"/>
          <p:nvPr/>
        </p:nvSpPr>
        <p:spPr>
          <a:xfrm>
            <a:off x="5440680" y="2148840"/>
            <a:ext cx="1554480" cy="411480"/>
          </a:xfrm>
          <a:prstGeom prst="rect">
            <a:avLst/>
          </a:prstGeom>
          <a:noFill/>
          <a:ln/>
        </p:spPr>
        <p:txBody>
          <a:bodyPr wrap="square" lIns="0" tIns="0" rIns="0" bIns="0" rtlCol="0" anchor="t"/>
          <a:lstStyle/>
          <a:p>
            <a:pPr algn="ctr" indent="0" marL="0">
              <a:buNone/>
            </a:pPr>
            <a:r>
              <a:rPr lang="en-US" sz="1500" b="1" dirty="0">
                <a:solidFill>
                  <a:schemeClr val="tx2"/>
                </a:solidFill>
              </a:rPr>
              <a:t>Artefakt</a:t>
            </a:r>
            <a:endParaRPr lang="en-US" sz="1500" dirty="0"/>
          </a:p>
        </p:txBody>
      </p:sp>
      <p:sp>
        <p:nvSpPr>
          <p:cNvPr id="20" name="Text 17"/>
          <p:cNvSpPr txBox="1"/>
          <p:nvPr/>
        </p:nvSpPr>
        <p:spPr>
          <a:xfrm>
            <a:off x="5468112" y="2560320"/>
            <a:ext cx="1499616" cy="1737360"/>
          </a:xfrm>
          <a:prstGeom prst="rect">
            <a:avLst/>
          </a:prstGeom>
          <a:noFill/>
          <a:ln/>
        </p:spPr>
        <p:txBody>
          <a:bodyPr wrap="square" lIns="0" tIns="0" rIns="0" bIns="0" rtlCol="0" anchor="t"/>
          <a:lstStyle/>
          <a:p>
            <a:pPr algn="ctr" indent="0" marL="0">
              <a:buNone/>
            </a:pPr>
            <a:r>
              <a:rPr lang="en-US" sz="1300" dirty="0">
                <a:solidFill>
                  <a:schemeClr val="tx1"/>
                </a:solidFill>
              </a:rPr>
              <a:t>test-reports als ZIP</a:t>
            </a:r>
            <a:endParaRPr lang="en-US" sz="1300" dirty="0"/>
          </a:p>
        </p:txBody>
      </p:sp>
      <p:sp>
        <p:nvSpPr>
          <p:cNvPr id="21" name="Schritt Pages"/>
          <p:cNvSpPr/>
          <p:nvPr/>
        </p:nvSpPr>
        <p:spPr>
          <a:xfrm>
            <a:off x="7543800" y="1371600"/>
            <a:ext cx="640080" cy="640080"/>
          </a:xfrm>
          <a:prstGeom prst="ellipse">
            <a:avLst/>
          </a:prstGeom>
          <a:solidFill>
            <a:schemeClr val="accent1"/>
          </a:solidFill>
          <a:ln w="38100">
            <a:solidFill>
              <a:schemeClr val="bg1"/>
            </a:solidFill>
            <a:prstDash val="solid"/>
          </a:ln>
        </p:spPr>
      </p:sp>
      <p:sp>
        <p:nvSpPr>
          <p:cNvPr id="22" name="Text 19"/>
          <p:cNvSpPr txBox="1"/>
          <p:nvPr/>
        </p:nvSpPr>
        <p:spPr>
          <a:xfrm>
            <a:off x="7543800" y="137160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3" name="Text 20"/>
          <p:cNvSpPr txBox="1"/>
          <p:nvPr/>
        </p:nvSpPr>
        <p:spPr>
          <a:xfrm>
            <a:off x="7086600" y="2148840"/>
            <a:ext cx="1554480" cy="411480"/>
          </a:xfrm>
          <a:prstGeom prst="rect">
            <a:avLst/>
          </a:prstGeom>
          <a:noFill/>
          <a:ln/>
        </p:spPr>
        <p:txBody>
          <a:bodyPr wrap="square" lIns="0" tIns="0" rIns="0" bIns="0" rtlCol="0" anchor="t"/>
          <a:lstStyle/>
          <a:p>
            <a:pPr algn="ctr" indent="0" marL="0">
              <a:buNone/>
            </a:pPr>
            <a:r>
              <a:rPr lang="en-US" sz="1500" b="1" dirty="0">
                <a:solidFill>
                  <a:schemeClr val="tx2"/>
                </a:solidFill>
              </a:rPr>
              <a:t>Pages</a:t>
            </a:r>
            <a:endParaRPr lang="en-US" sz="1500" dirty="0"/>
          </a:p>
        </p:txBody>
      </p:sp>
      <p:sp>
        <p:nvSpPr>
          <p:cNvPr id="24" name="Text 21"/>
          <p:cNvSpPr txBox="1"/>
          <p:nvPr/>
        </p:nvSpPr>
        <p:spPr>
          <a:xfrm>
            <a:off x="7114032" y="2560320"/>
            <a:ext cx="1499616" cy="1737360"/>
          </a:xfrm>
          <a:prstGeom prst="rect">
            <a:avLst/>
          </a:prstGeom>
          <a:noFill/>
          <a:ln/>
        </p:spPr>
        <p:txBody>
          <a:bodyPr wrap="square" lIns="0" tIns="0" rIns="0" bIns="0" rtlCol="0" anchor="t"/>
          <a:lstStyle/>
          <a:p>
            <a:pPr algn="ctr" indent="0" marL="0">
              <a:buNone/>
            </a:pPr>
            <a:r>
              <a:rPr lang="en-US" sz="1300" dirty="0">
                <a:solidFill>
                  <a:schemeClr val="tx1"/>
                </a:solidFill>
              </a:rPr>
              <a:t>Reports online (nur main)</a:t>
            </a:r>
            <a:endParaRPr lang="en-US" sz="1300" dirty="0"/>
          </a:p>
        </p:txBody>
      </p:sp>
      <p:sp>
        <p:nvSpPr>
          <p:cNvPr id="25" name="Text 22"/>
          <p:cNvSpPr txBox="1"/>
          <p:nvPr/>
        </p:nvSpPr>
        <p:spPr>
          <a:xfrm>
            <a:off x="457200" y="4023360"/>
            <a:ext cx="8229600" cy="411480"/>
          </a:xfrm>
          <a:prstGeom prst="rect">
            <a:avLst/>
          </a:prstGeom>
          <a:noFill/>
          <a:ln/>
        </p:spPr>
        <p:txBody>
          <a:bodyPr wrap="square" lIns="0" tIns="0" rIns="0" bIns="0" rtlCol="0" anchor="ctr"/>
          <a:lstStyle/>
          <a:p>
            <a:pPr indent="0" marL="0">
              <a:buNone/>
            </a:pPr>
            <a:r>
              <a:rPr lang="en-US" sz="1400" dirty="0">
                <a:solidFill>
                  <a:schemeClr val="accent5"/>
                </a:solidFill>
                <a:latin typeface="Courier New" pitchFamily="34" charset="0"/>
                <a:ea typeface="Courier New" pitchFamily="34" charset="-122"/>
                <a:cs typeface="Courier New" pitchFamily="34" charset="-120"/>
              </a:rPr>
              <a:t>.github/workflows/recipe-backend.yml</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960120"/>
            <a:ext cx="6858000" cy="365760"/>
          </a:xfrm>
          <a:prstGeom prst="rect">
            <a:avLst/>
          </a:prstGeom>
          <a:noFill/>
          <a:ln/>
        </p:spPr>
        <p:txBody>
          <a:bodyPr wrap="square" lIns="0" tIns="0" rIns="0" bIns="0" rtlCol="0"/>
          <a:lstStyle/>
          <a:p>
            <a:pPr indent="0" marL="0">
              <a:buNone/>
            </a:pPr>
            <a:r>
              <a:rPr lang="en-US" sz="1400" b="1" dirty="0">
                <a:solidFill>
                  <a:schemeClr val="accent6"/>
                </a:solidFill>
              </a:rPr>
              <a:t>Fazit</a:t>
            </a:r>
            <a:endParaRPr lang="en-US" sz="1400" dirty="0"/>
          </a:p>
        </p:txBody>
      </p:sp>
      <p:sp>
        <p:nvSpPr>
          <p:cNvPr id="3" name="Text 0"/>
          <p:cNvSpPr/>
          <p:nvPr>
            <p:ph idx="101" type="title" hasCustomPrompt="1"/>
          </p:nvPr>
        </p:nvSpPr>
        <p:spPr>
          <a:xfrm>
            <a:off x="548640" y="1371600"/>
            <a:ext cx="6949440" cy="13716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Jeder Push wird automatisch getestet</a:t>
            </a:r>
            <a:endParaRPr lang="en-US" sz="4000" dirty="0"/>
          </a:p>
        </p:txBody>
      </p:sp>
      <p:sp>
        <p:nvSpPr>
          <p:cNvPr id="4" name="Text 0"/>
          <p:cNvSpPr/>
          <p:nvPr>
            <p:ph idx="102" type="body" hasCustomPrompt="1"/>
          </p:nvPr>
        </p:nvSpPr>
        <p:spPr>
          <a:xfrm>
            <a:off x="548640" y="2880360"/>
            <a:ext cx="6949440" cy="1097280"/>
          </a:xfrm>
          <a:prstGeom prst="rect">
            <a:avLst/>
          </a:prstGeom>
          <a:noFill/>
          <a:ln/>
        </p:spPr>
        <p:txBody>
          <a:bodyPr wrap="square" lIns="0" tIns="0" rIns="0" bIns="0" rtlCol="0" anchor="t"/>
          <a:lstStyle/>
          <a:p>
            <a:pPr indent="0" marL="0">
              <a:buNone/>
            </a:pPr>
            <a:r>
              <a:rPr lang="en-US" sz="1800" dirty="0">
                <a:solidFill>
                  <a:schemeClr val="bg1"/>
                </a:solidFill>
              </a:rPr>
              <a:t>Fehler fallen sofort auf, Reports sind für alle sichtbar.</a:t>
            </a:r>
            <a:endParaRPr lang="en-US" sz="1800" dirty="0"/>
          </a:p>
        </p:txBody>
      </p:sp>
      <p:sp>
        <p:nvSpPr>
          <p:cNvPr id="5" name="Status Kreis"/>
          <p:cNvSpPr/>
          <p:nvPr/>
        </p:nvSpPr>
        <p:spPr>
          <a:xfrm>
            <a:off x="7452360" y="1417320"/>
            <a:ext cx="1188720" cy="1188720"/>
          </a:xfrm>
          <a:prstGeom prst="ellipse">
            <a:avLst/>
          </a:prstGeom>
          <a:solidFill>
            <a:schemeClr val="accent1"/>
          </a:solidFill>
          <a:ln w="12700">
            <a:solidFill>
              <a:schemeClr val="accent1"/>
            </a:solidFill>
            <a:prstDash val="solid"/>
          </a:ln>
        </p:spPr>
      </p:sp>
      <p:sp>
        <p:nvSpPr>
          <p:cNvPr id="6" name="Haken"/>
          <p:cNvSpPr txBox="1"/>
          <p:nvPr/>
        </p:nvSpPr>
        <p:spPr>
          <a:xfrm>
            <a:off x="7452360" y="1417320"/>
            <a:ext cx="1188720" cy="1188720"/>
          </a:xfrm>
          <a:prstGeom prst="rect">
            <a:avLst/>
          </a:prstGeom>
          <a:noFill/>
          <a:ln/>
        </p:spPr>
        <p:txBody>
          <a:bodyPr wrap="square" lIns="0" tIns="0" rIns="0" bIns="0" rtlCol="0" anchor="ctr"/>
          <a:lstStyle/>
          <a:p>
            <a:pPr algn="ctr" indent="0" marL="0">
              <a:buNone/>
            </a:pPr>
            <a:r>
              <a:rPr lang="en-US" sz="4800" b="1" dirty="0">
                <a:solidFill>
                  <a:schemeClr val="bg1"/>
                </a:solidFill>
              </a:rPr>
              <a:t>✓</a:t>
            </a:r>
            <a:endParaRPr lang="en-US" sz="4800" dirty="0"/>
          </a:p>
        </p:txBody>
      </p:sp>
    </p:spTree>
  </p:cSld>
  <p:clrMapOvr>
    <a:masterClrMapping/>
  </p:clrMapOvr>
</p:sld>
</file>

<file path=ppt/theme/theme1.xml><?xml version="1.0" encoding="utf-8"?>
<a:theme xmlns:a="http://schemas.openxmlformats.org/drawingml/2006/main" name="M450 Testing">
  <a:themeElements>
    <a:clrScheme name="M450 Testing">
      <a:dk1>
        <a:srgbClr val="1B2A2F"/>
      </a:dk1>
      <a:lt1>
        <a:srgbClr val="FFFFFF"/>
      </a:lt1>
      <a:dk2>
        <a:srgbClr val="1F4A40"/>
      </a:dk2>
      <a:lt2>
        <a:srgbClr val="EDF4F1"/>
      </a:lt2>
      <a:accent1>
        <a:srgbClr val="2EA043"/>
      </a:accent1>
      <a:accent2>
        <a:srgbClr val="D73A49"/>
      </a:accent2>
      <a:accent3>
        <a:srgbClr val="0E7C66"/>
      </a:accent3>
      <a:accent4>
        <a:srgbClr val="E3A008"/>
      </a:accent4>
      <a:accent5>
        <a:srgbClr val="5B7B75"/>
      </a:accent5>
      <a:accent6>
        <a:srgbClr val="A8E0CC"/>
      </a:accent6>
      <a:hlink>
        <a:srgbClr val="0E7C66"/>
      </a:hlink>
      <a:folHlink>
        <a:srgbClr val="5B7B75"/>
      </a:folHlink>
    </a:clrScheme>
    <a:fontScheme name="M450 Test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KN06 – Tests, Reports und Pipeline</dc:title>
  <dc:subject>PptxGenJS Presentation</dc:subject>
  <dc:creator>Denis</dc:creator>
  <cp:lastModifiedBy>Denis</cp:lastModifiedBy>
  <cp:revision>1</cp:revision>
  <dcterms:created xsi:type="dcterms:W3CDTF">2026-10-16T09:32:12Z</dcterms:created>
  <dcterms:modified xsi:type="dcterms:W3CDTF">2026-10-16T09:32:12Z</dcterms:modified>
</cp:coreProperties>
</file>