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18e7984e-aca0-be88-cfe3-62e4dd6c4cd2}">
          <p14:sldIdLst>
            <p14:sldId id="256"/>
          </p14:sldIdLst>
        </p14:section>
        <p14:section name="Setup" id="{6eabfc98-9e30-2c75-dcad-c8a01c56d34b}">
          <p14:sldIdLst>
            <p14:sldId id="257"/>
          </p14:sldIdLst>
        </p14:section>
        <p14:section name="Aufgabe 2" id="{5bdbe12c-1db7-285f-fc2d-e42f1f34f23d}">
          <p14:sldIdLst>
            <p14:sldId id="258"/>
            <p14:sldId id="259"/>
            <p14:sldId id="260"/>
          </p14:sldIdLst>
        </p14:section>
        <p14:section name="Aufgabe 3" id="{6cfe73cc-adca-074e-9c03-250255fcea2a}">
          <p14:sldIdLst>
            <p14:sldId id="261"/>
          </p14:sldIdLst>
        </p14:section>
        <p14:section name="Fazit" id="{675ae62a-d4a0-4eaf-51b5-e0481194dcc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KN08 geht es um Test Driven Development. Die Tests für die Klasse MyFancyClass waren schon vorhanden, aber die Methoden waren leer. Meine Aufgabe war, den Code so zu schreiben, dass alle Tests grün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1: Ich habe PHP 8.3 installiert und die Extension mbstring aktiviert. PHPUnit 11 liegt als phar-Datei im Projekt. In der Testdatei musste ich auf das neue PHPUnit umstellen, also TestCase statt PHPUnit_Framework_TestCase.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bin ich vorgegangen: Zuerst alle Tests laufen lassen, alle drei sind rot. Dann die Methoden geschrieben, bis alle 27 Assertions grün waren. Am Schluss noch kurz aufgeräumt.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sind die drei Methoden. shortString kürzt einen Text inklusive Endung, calcAverage rechnet den Durchschnitt und gibt false bei ungültigen Werten und getOpposite macht aus einem Array einen String und umgekehrt.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Stolpersteine: Der Text mit dem Wort Länge hat 35 Zeichen aber 36 Bytes, deshalb braucht es mb_strlen statt strlen. Und die Reihenfolge ist wichtig: zuerst prüfen, ob die Endung zu lang ist, sonst gibt ein leerer Text keinen false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Vergleich mit anderen Gruppen zeigt sich: Die Tests legen das Verhalten so genau fest, dass alle Lösungen fast gleich funktionieren. Unterschiede gibt es nur im Stil oder bei Fällen, die nicht getestet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Bei TDD beschreiben die Tests genau, was die Software tun soll. Man schreibt nur so viel Code, wie nötig ist, damit die Tests grün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Denis · M450 Applikationen testen</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M450 · KN08</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KN08</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Test Driven Development</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Die Tests sind gegeben, der Code muss sie grün machen</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1: Setup</a:t>
            </a:r>
            <a:endParaRPr lang="en-US" sz="2800" dirty="0"/>
          </a:p>
        </p:txBody>
      </p:sp>
      <p:sp>
        <p:nvSpPr>
          <p:cNvPr id="4" name="Karte PHP 8.3"/>
          <p:cNvSpPr/>
          <p:nvPr/>
        </p:nvSpPr>
        <p:spPr>
          <a:xfrm>
            <a:off x="457200" y="1097280"/>
            <a:ext cx="2560320" cy="2103120"/>
          </a:xfrm>
          <a:prstGeom prst="roundRect">
            <a:avLst>
              <a:gd name="adj" fmla="val 3478"/>
            </a:avLst>
          </a:prstGeom>
          <a:solidFill>
            <a:schemeClr val="bg2"/>
          </a:solidFill>
          <a:ln w="12700">
            <a:solidFill>
              <a:schemeClr val="bg2"/>
            </a:solidFill>
            <a:prstDash val="solid"/>
          </a:ln>
        </p:spPr>
      </p:sp>
      <p:sp>
        <p:nvSpPr>
          <p:cNvPr id="5" name="Badge 1"/>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252728"/>
            <a:ext cx="17373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PHP 8.3</a:t>
            </a:r>
            <a:endParaRPr lang="en-US" sz="1600" dirty="0"/>
          </a:p>
        </p:txBody>
      </p:sp>
      <p:sp>
        <p:nvSpPr>
          <p:cNvPr id="8" name="Text 5"/>
          <p:cNvSpPr txBox="1"/>
          <p:nvPr/>
        </p:nvSpPr>
        <p:spPr>
          <a:xfrm>
            <a:off x="640080" y="1828800"/>
            <a:ext cx="2194560" cy="12618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winget install PHP.PHP.8.3, mbstring aktiviert</a:t>
            </a:r>
            <a:endParaRPr lang="en-US" sz="1400" dirty="0"/>
          </a:p>
        </p:txBody>
      </p:sp>
      <p:sp>
        <p:nvSpPr>
          <p:cNvPr id="9" name="Karte PHPUnit 11"/>
          <p:cNvSpPr/>
          <p:nvPr/>
        </p:nvSpPr>
        <p:spPr>
          <a:xfrm>
            <a:off x="3291840" y="1097280"/>
            <a:ext cx="2560320" cy="2103120"/>
          </a:xfrm>
          <a:prstGeom prst="roundRect">
            <a:avLst>
              <a:gd name="adj" fmla="val 3478"/>
            </a:avLst>
          </a:prstGeom>
          <a:solidFill>
            <a:schemeClr val="bg2"/>
          </a:solidFill>
          <a:ln w="12700">
            <a:solidFill>
              <a:schemeClr val="bg2"/>
            </a:solidFill>
            <a:prstDash val="solid"/>
          </a:ln>
        </p:spPr>
      </p:sp>
      <p:sp>
        <p:nvSpPr>
          <p:cNvPr id="10" name="Badge 2"/>
          <p:cNvSpPr/>
          <p:nvPr/>
        </p:nvSpPr>
        <p:spPr>
          <a:xfrm>
            <a:off x="3474720" y="1280160"/>
            <a:ext cx="384048" cy="384048"/>
          </a:xfrm>
          <a:prstGeom prst="ellipse">
            <a:avLst/>
          </a:prstGeom>
          <a:solidFill>
            <a:schemeClr val="accent3"/>
          </a:solidFill>
          <a:ln w="12700">
            <a:solidFill>
              <a:schemeClr val="accent3"/>
            </a:solidFill>
            <a:prstDash val="solid"/>
          </a:ln>
        </p:spPr>
      </p:sp>
      <p:sp>
        <p:nvSpPr>
          <p:cNvPr id="11" name="Text 8"/>
          <p:cNvSpPr txBox="1"/>
          <p:nvPr/>
        </p:nvSpPr>
        <p:spPr>
          <a:xfrm>
            <a:off x="347472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977640" y="1252728"/>
            <a:ext cx="17373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PHPUnit 11</a:t>
            </a:r>
            <a:endParaRPr lang="en-US" sz="1600" dirty="0"/>
          </a:p>
        </p:txBody>
      </p:sp>
      <p:sp>
        <p:nvSpPr>
          <p:cNvPr id="13" name="Text 10"/>
          <p:cNvSpPr txBox="1"/>
          <p:nvPr/>
        </p:nvSpPr>
        <p:spPr>
          <a:xfrm>
            <a:off x="3474720" y="1828800"/>
            <a:ext cx="2194560" cy="12618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phpunit.phar direkt im Projekt</a:t>
            </a:r>
            <a:endParaRPr lang="en-US" sz="1400" dirty="0"/>
          </a:p>
        </p:txBody>
      </p:sp>
      <p:sp>
        <p:nvSpPr>
          <p:cNvPr id="14" name="Karte Test.php"/>
          <p:cNvSpPr/>
          <p:nvPr/>
        </p:nvSpPr>
        <p:spPr>
          <a:xfrm>
            <a:off x="6126480" y="1097280"/>
            <a:ext cx="2560320" cy="2103120"/>
          </a:xfrm>
          <a:prstGeom prst="roundRect">
            <a:avLst>
              <a:gd name="adj" fmla="val 3478"/>
            </a:avLst>
          </a:prstGeom>
          <a:solidFill>
            <a:schemeClr val="bg2"/>
          </a:solidFill>
          <a:ln w="12700">
            <a:solidFill>
              <a:schemeClr val="bg2"/>
            </a:solidFill>
            <a:prstDash val="solid"/>
          </a:ln>
        </p:spPr>
      </p:sp>
      <p:sp>
        <p:nvSpPr>
          <p:cNvPr id="15" name="Badge 3"/>
          <p:cNvSpPr/>
          <p:nvPr/>
        </p:nvSpPr>
        <p:spPr>
          <a:xfrm>
            <a:off x="6309360" y="1280160"/>
            <a:ext cx="384048" cy="384048"/>
          </a:xfrm>
          <a:prstGeom prst="ellipse">
            <a:avLst/>
          </a:prstGeom>
          <a:solidFill>
            <a:schemeClr val="accent3"/>
          </a:solidFill>
          <a:ln w="12700">
            <a:solidFill>
              <a:schemeClr val="accent3"/>
            </a:solidFill>
            <a:prstDash val="solid"/>
          </a:ln>
        </p:spPr>
      </p:sp>
      <p:sp>
        <p:nvSpPr>
          <p:cNvPr id="16" name="Text 13"/>
          <p:cNvSpPr txBox="1"/>
          <p:nvPr/>
        </p:nvSpPr>
        <p:spPr>
          <a:xfrm>
            <a:off x="63093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6812280" y="1252728"/>
            <a:ext cx="17373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Test.php</a:t>
            </a:r>
            <a:endParaRPr lang="en-US" sz="1600" dirty="0"/>
          </a:p>
        </p:txBody>
      </p:sp>
      <p:sp>
        <p:nvSpPr>
          <p:cNvPr id="18" name="Text 15"/>
          <p:cNvSpPr txBox="1"/>
          <p:nvPr/>
        </p:nvSpPr>
        <p:spPr>
          <a:xfrm>
            <a:off x="6309360" y="1828800"/>
            <a:ext cx="2194560" cy="12618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Neue Basisklasse: extends TestCase</a:t>
            </a:r>
            <a:endParaRPr lang="en-US" sz="1400" dirty="0"/>
          </a:p>
        </p:txBody>
      </p:sp>
      <p:sp>
        <p:nvSpPr>
          <p:cNvPr id="19" name="Code Box"/>
          <p:cNvSpPr/>
          <p:nvPr/>
        </p:nvSpPr>
        <p:spPr>
          <a:xfrm>
            <a:off x="457200" y="3520440"/>
            <a:ext cx="8229600" cy="822960"/>
          </a:xfrm>
          <a:prstGeom prst="roundRect">
            <a:avLst>
              <a:gd name="adj" fmla="val 8889"/>
            </a:avLst>
          </a:prstGeom>
          <a:solidFill>
            <a:schemeClr val="tx1"/>
          </a:solidFill>
          <a:ln w="12700">
            <a:solidFill>
              <a:schemeClr val="tx1"/>
            </a:solidFill>
            <a:prstDash val="solid"/>
          </a:ln>
        </p:spPr>
      </p:sp>
      <p:sp>
        <p:nvSpPr>
          <p:cNvPr id="20" name="Code"/>
          <p:cNvSpPr txBox="1"/>
          <p:nvPr/>
        </p:nvSpPr>
        <p:spPr>
          <a:xfrm>
            <a:off x="640080" y="3703320"/>
            <a:ext cx="7863840" cy="5029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php phpunit.phar --testdox Testcases/Test.php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Red, Green, Refactor</a:t>
            </a:r>
            <a:endParaRPr lang="en-US" sz="2800" dirty="0"/>
          </a:p>
        </p:txBody>
      </p:sp>
      <p:sp>
        <p:nvSpPr>
          <p:cNvPr id="4" name="Verbindung"/>
          <p:cNvSpPr/>
          <p:nvPr/>
        </p:nvSpPr>
        <p:spPr>
          <a:xfrm>
            <a:off x="1828800" y="1691640"/>
            <a:ext cx="5486400" cy="0"/>
          </a:xfrm>
          <a:prstGeom prst="line">
            <a:avLst/>
          </a:prstGeom>
          <a:noFill/>
          <a:ln w="38100">
            <a:solidFill>
              <a:schemeClr val="accent6"/>
            </a:solidFill>
            <a:prstDash val="solid"/>
          </a:ln>
        </p:spPr>
      </p:sp>
      <p:sp>
        <p:nvSpPr>
          <p:cNvPr id="5" name="Schritt Red"/>
          <p:cNvSpPr/>
          <p:nvPr/>
        </p:nvSpPr>
        <p:spPr>
          <a:xfrm>
            <a:off x="1508760" y="1371600"/>
            <a:ext cx="640080" cy="640080"/>
          </a:xfrm>
          <a:prstGeom prst="ellipse">
            <a:avLst/>
          </a:prstGeom>
          <a:solidFill>
            <a:schemeClr val="accent2"/>
          </a:solidFill>
          <a:ln w="38100">
            <a:solidFill>
              <a:schemeClr val="bg1"/>
            </a:solidFill>
            <a:prstDash val="solid"/>
          </a:ln>
        </p:spPr>
      </p:sp>
      <p:sp>
        <p:nvSpPr>
          <p:cNvPr id="6" name="Text 3"/>
          <p:cNvSpPr txBox="1"/>
          <p:nvPr/>
        </p:nvSpPr>
        <p:spPr>
          <a:xfrm>
            <a:off x="15087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7" name="Text 4"/>
          <p:cNvSpPr txBox="1"/>
          <p:nvPr/>
        </p:nvSpPr>
        <p:spPr>
          <a:xfrm>
            <a:off x="502920" y="21488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Red</a:t>
            </a:r>
            <a:endParaRPr lang="en-US" sz="1800" dirty="0"/>
          </a:p>
        </p:txBody>
      </p:sp>
      <p:sp>
        <p:nvSpPr>
          <p:cNvPr id="8" name="Text 5"/>
          <p:cNvSpPr txBox="1"/>
          <p:nvPr/>
        </p:nvSpPr>
        <p:spPr>
          <a:xfrm>
            <a:off x="530352" y="2560320"/>
            <a:ext cx="2596896" cy="1737360"/>
          </a:xfrm>
          <a:prstGeom prst="rect">
            <a:avLst/>
          </a:prstGeom>
          <a:noFill/>
          <a:ln/>
        </p:spPr>
        <p:txBody>
          <a:bodyPr wrap="square" lIns="0" tIns="0" rIns="0" bIns="0" rtlCol="0" anchor="t"/>
          <a:lstStyle/>
          <a:p>
            <a:pPr algn="ctr" indent="0" marL="0">
              <a:buNone/>
            </a:pPr>
            <a:r>
              <a:rPr lang="en-US" sz="1500" dirty="0">
                <a:solidFill>
                  <a:schemeClr val="tx1"/>
                </a:solidFill>
              </a:rPr>
              <a:t>3 Tests, 3 Failures</a:t>
            </a:r>
            <a:endParaRPr lang="en-US" sz="1500" dirty="0"/>
          </a:p>
        </p:txBody>
      </p:sp>
      <p:sp>
        <p:nvSpPr>
          <p:cNvPr id="9" name="Schritt Green"/>
          <p:cNvSpPr/>
          <p:nvPr/>
        </p:nvSpPr>
        <p:spPr>
          <a:xfrm>
            <a:off x="4251960" y="1371600"/>
            <a:ext cx="640080" cy="640080"/>
          </a:xfrm>
          <a:prstGeom prst="ellipse">
            <a:avLst/>
          </a:prstGeom>
          <a:solidFill>
            <a:schemeClr val="accent1"/>
          </a:solidFill>
          <a:ln w="38100">
            <a:solidFill>
              <a:schemeClr val="bg1"/>
            </a:solidFill>
            <a:prstDash val="solid"/>
          </a:ln>
        </p:spPr>
      </p:sp>
      <p:sp>
        <p:nvSpPr>
          <p:cNvPr id="10" name="Text 7"/>
          <p:cNvSpPr txBox="1"/>
          <p:nvPr/>
        </p:nvSpPr>
        <p:spPr>
          <a:xfrm>
            <a:off x="42519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Text 8"/>
          <p:cNvSpPr txBox="1"/>
          <p:nvPr/>
        </p:nvSpPr>
        <p:spPr>
          <a:xfrm>
            <a:off x="3246120" y="21488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Green</a:t>
            </a:r>
            <a:endParaRPr lang="en-US" sz="1800" dirty="0"/>
          </a:p>
        </p:txBody>
      </p:sp>
      <p:sp>
        <p:nvSpPr>
          <p:cNvPr id="12" name="Text 9"/>
          <p:cNvSpPr txBox="1"/>
          <p:nvPr/>
        </p:nvSpPr>
        <p:spPr>
          <a:xfrm>
            <a:off x="3273552" y="2560320"/>
            <a:ext cx="2596896" cy="1737360"/>
          </a:xfrm>
          <a:prstGeom prst="rect">
            <a:avLst/>
          </a:prstGeom>
          <a:noFill/>
          <a:ln/>
        </p:spPr>
        <p:txBody>
          <a:bodyPr wrap="square" lIns="0" tIns="0" rIns="0" bIns="0" rtlCol="0" anchor="t"/>
          <a:lstStyle/>
          <a:p>
            <a:pPr algn="ctr" indent="0" marL="0">
              <a:buNone/>
            </a:pPr>
            <a:r>
              <a:rPr lang="en-US" sz="1500" dirty="0">
                <a:solidFill>
                  <a:schemeClr val="tx1"/>
                </a:solidFill>
              </a:rPr>
              <a:t>3 Tests, 27 Assertions OK</a:t>
            </a:r>
            <a:endParaRPr lang="en-US" sz="1500" dirty="0"/>
          </a:p>
        </p:txBody>
      </p:sp>
      <p:sp>
        <p:nvSpPr>
          <p:cNvPr id="13" name="Schritt Refactor"/>
          <p:cNvSpPr/>
          <p:nvPr/>
        </p:nvSpPr>
        <p:spPr>
          <a:xfrm>
            <a:off x="6995160" y="1371600"/>
            <a:ext cx="640080" cy="640080"/>
          </a:xfrm>
          <a:prstGeom prst="ellipse">
            <a:avLst/>
          </a:prstGeom>
          <a:solidFill>
            <a:schemeClr val="accent3"/>
          </a:solidFill>
          <a:ln w="38100">
            <a:solidFill>
              <a:schemeClr val="bg1"/>
            </a:solidFill>
            <a:prstDash val="solid"/>
          </a:ln>
        </p:spPr>
      </p:sp>
      <p:sp>
        <p:nvSpPr>
          <p:cNvPr id="14" name="Text 11"/>
          <p:cNvSpPr txBox="1"/>
          <p:nvPr/>
        </p:nvSpPr>
        <p:spPr>
          <a:xfrm>
            <a:off x="6995160" y="13716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5" name="Text 12"/>
          <p:cNvSpPr txBox="1"/>
          <p:nvPr/>
        </p:nvSpPr>
        <p:spPr>
          <a:xfrm>
            <a:off x="5989320" y="2148840"/>
            <a:ext cx="2651760" cy="411480"/>
          </a:xfrm>
          <a:prstGeom prst="rect">
            <a:avLst/>
          </a:prstGeom>
          <a:noFill/>
          <a:ln/>
        </p:spPr>
        <p:txBody>
          <a:bodyPr wrap="square" lIns="0" tIns="0" rIns="0" bIns="0" rtlCol="0" anchor="t"/>
          <a:lstStyle/>
          <a:p>
            <a:pPr algn="ctr" indent="0" marL="0">
              <a:buNone/>
            </a:pPr>
            <a:r>
              <a:rPr lang="en-US" sz="1800" b="1" dirty="0">
                <a:solidFill>
                  <a:schemeClr val="tx2"/>
                </a:solidFill>
              </a:rPr>
              <a:t>Refactor</a:t>
            </a:r>
            <a:endParaRPr lang="en-US" sz="1800" dirty="0"/>
          </a:p>
        </p:txBody>
      </p:sp>
      <p:sp>
        <p:nvSpPr>
          <p:cNvPr id="16" name="Text 13"/>
          <p:cNvSpPr txBox="1"/>
          <p:nvPr/>
        </p:nvSpPr>
        <p:spPr>
          <a:xfrm>
            <a:off x="6016752" y="2560320"/>
            <a:ext cx="2596896" cy="1737360"/>
          </a:xfrm>
          <a:prstGeom prst="rect">
            <a:avLst/>
          </a:prstGeom>
          <a:noFill/>
          <a:ln/>
        </p:spPr>
        <p:txBody>
          <a:bodyPr wrap="square" lIns="0" tIns="0" rIns="0" bIns="0" rtlCol="0" anchor="t"/>
          <a:lstStyle/>
          <a:p>
            <a:pPr algn="ctr" indent="0" marL="0">
              <a:buNone/>
            </a:pPr>
            <a:r>
              <a:rPr lang="en-US" sz="1500" dirty="0">
                <a:solidFill>
                  <a:schemeClr val="tx1"/>
                </a:solidFill>
              </a:rPr>
              <a:t>Frühe returns, klare Namen</a:t>
            </a:r>
            <a:endParaRPr lang="en-US" sz="1500" dirty="0"/>
          </a:p>
        </p:txBody>
      </p:sp>
      <p:sp>
        <p:nvSpPr>
          <p:cNvPr id="17" name="Text 14"/>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400" i="1" dirty="0">
                <a:solidFill>
                  <a:schemeClr val="accent5"/>
                </a:solidFill>
              </a:rPr>
              <a:t>Zuerst der Test, dann nur so viel Code, bis er grün ist, dann aufräumen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Die drei Methoden</a:t>
            </a:r>
            <a:endParaRPr lang="en-US" sz="2800" dirty="0"/>
          </a:p>
        </p:txBody>
      </p:sp>
      <p:graphicFrame>
        <p:nvGraphicFramePr>
          <p:cNvPr id="5" name="Tabel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91840"/>
                <a:gridCol w="4937760"/>
              </a:tblGrid>
              <a:tr h="45720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Methode</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Was sie macht</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shortString($text, $length, $ending)</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Kürzt auf $length Zeichen inkl. Endung, false wenn Endung zu lang</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calcAverage($values)</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Durchschnitt, leer → 0, keine Zahl → false</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getOpposite($value, $delimiter)</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Array → String (implode), String → Array (explode)</a:t>
                      </a:r>
                      <a:endParaRPr lang="en-US" sz="13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bl>
          </a:graphicData>
        </a:graphic>
      </p:graphicFrame>
      <p:sp>
        <p:nvSpPr>
          <p:cNvPr id="5" name="Kennzahl Tests grün"/>
          <p:cNvSpPr/>
          <p:nvPr/>
        </p:nvSpPr>
        <p:spPr>
          <a:xfrm>
            <a:off x="457200" y="3520440"/>
            <a:ext cx="3977640" cy="1051560"/>
          </a:xfrm>
          <a:prstGeom prst="roundRect">
            <a:avLst>
              <a:gd name="adj" fmla="val 6957"/>
            </a:avLst>
          </a:prstGeom>
          <a:solidFill>
            <a:schemeClr val="bg2"/>
          </a:solidFill>
          <a:ln w="12700">
            <a:solidFill>
              <a:schemeClr val="bg2"/>
            </a:solidFill>
            <a:prstDash val="solid"/>
          </a:ln>
        </p:spPr>
      </p:sp>
      <p:sp>
        <p:nvSpPr>
          <p:cNvPr id="6" name="Text 2"/>
          <p:cNvSpPr txBox="1"/>
          <p:nvPr/>
        </p:nvSpPr>
        <p:spPr>
          <a:xfrm>
            <a:off x="457200" y="3451860"/>
            <a:ext cx="3977640"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3 / 3</a:t>
            </a:r>
            <a:endParaRPr lang="en-US" sz="2600" dirty="0"/>
          </a:p>
        </p:txBody>
      </p:sp>
      <p:sp>
        <p:nvSpPr>
          <p:cNvPr id="7" name="Text 3"/>
          <p:cNvSpPr txBox="1"/>
          <p:nvPr/>
        </p:nvSpPr>
        <p:spPr>
          <a:xfrm>
            <a:off x="548640" y="4229100"/>
            <a:ext cx="3794760" cy="457200"/>
          </a:xfrm>
          <a:prstGeom prst="rect">
            <a:avLst/>
          </a:prstGeom>
          <a:noFill/>
          <a:ln/>
        </p:spPr>
        <p:txBody>
          <a:bodyPr wrap="square" lIns="0" tIns="0" rIns="0" bIns="0" rtlCol="0" anchor="t"/>
          <a:lstStyle/>
          <a:p>
            <a:pPr algn="ctr" indent="0" marL="0">
              <a:buNone/>
            </a:pPr>
            <a:r>
              <a:rPr lang="en-US" sz="1200" dirty="0">
                <a:solidFill>
                  <a:schemeClr val="tx1"/>
                </a:solidFill>
              </a:rPr>
              <a:t>Tests grün</a:t>
            </a:r>
            <a:endParaRPr lang="en-US" sz="1200" dirty="0"/>
          </a:p>
        </p:txBody>
      </p:sp>
      <p:sp>
        <p:nvSpPr>
          <p:cNvPr id="8" name="Kennzahl Assertions erfüllt"/>
          <p:cNvSpPr/>
          <p:nvPr/>
        </p:nvSpPr>
        <p:spPr>
          <a:xfrm>
            <a:off x="4709160" y="3520440"/>
            <a:ext cx="3977640" cy="1051560"/>
          </a:xfrm>
          <a:prstGeom prst="roundRect">
            <a:avLst>
              <a:gd name="adj" fmla="val 6957"/>
            </a:avLst>
          </a:prstGeom>
          <a:solidFill>
            <a:schemeClr val="bg2"/>
          </a:solidFill>
          <a:ln w="12700">
            <a:solidFill>
              <a:schemeClr val="bg2"/>
            </a:solidFill>
            <a:prstDash val="solid"/>
          </a:ln>
        </p:spPr>
      </p:sp>
      <p:sp>
        <p:nvSpPr>
          <p:cNvPr id="9" name="Text 5"/>
          <p:cNvSpPr txBox="1"/>
          <p:nvPr/>
        </p:nvSpPr>
        <p:spPr>
          <a:xfrm>
            <a:off x="4709160" y="3451860"/>
            <a:ext cx="3977640"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27</a:t>
            </a:r>
            <a:endParaRPr lang="en-US" sz="2600" dirty="0"/>
          </a:p>
        </p:txBody>
      </p:sp>
      <p:sp>
        <p:nvSpPr>
          <p:cNvPr id="10" name="Text 6"/>
          <p:cNvSpPr txBox="1"/>
          <p:nvPr/>
        </p:nvSpPr>
        <p:spPr>
          <a:xfrm>
            <a:off x="4800600" y="4229100"/>
            <a:ext cx="3794760" cy="457200"/>
          </a:xfrm>
          <a:prstGeom prst="rect">
            <a:avLst/>
          </a:prstGeom>
          <a:noFill/>
          <a:ln/>
        </p:spPr>
        <p:txBody>
          <a:bodyPr wrap="square" lIns="0" tIns="0" rIns="0" bIns="0" rtlCol="0" anchor="t"/>
          <a:lstStyle/>
          <a:p>
            <a:pPr algn="ctr" indent="0" marL="0">
              <a:buNone/>
            </a:pPr>
            <a:r>
              <a:rPr lang="en-US" sz="1200" dirty="0">
                <a:solidFill>
                  <a:schemeClr val="tx1"/>
                </a:solidFill>
              </a:rPr>
              <a:t>Assertions erfüllt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shortString und die Stolpersteine</a:t>
            </a:r>
            <a:endParaRPr lang="en-US" sz="2800" dirty="0"/>
          </a:p>
        </p:txBody>
      </p:sp>
      <p:sp>
        <p:nvSpPr>
          <p:cNvPr id="4" name="Code Box"/>
          <p:cNvSpPr/>
          <p:nvPr/>
        </p:nvSpPr>
        <p:spPr>
          <a:xfrm>
            <a:off x="457200" y="1097280"/>
            <a:ext cx="4937760" cy="3429000"/>
          </a:xfrm>
          <a:prstGeom prst="roundRect">
            <a:avLst>
              <a:gd name="adj" fmla="val 2133"/>
            </a:avLst>
          </a:prstGeom>
          <a:solidFill>
            <a:schemeClr val="tx1"/>
          </a:solidFill>
          <a:ln w="12700">
            <a:solidFill>
              <a:schemeClr val="tx1"/>
            </a:solidFill>
            <a:prstDash val="solid"/>
          </a:ln>
        </p:spPr>
      </p:sp>
      <p:sp>
        <p:nvSpPr>
          <p:cNvPr id="5" name="Text 2"/>
          <p:cNvSpPr txBox="1"/>
          <p:nvPr/>
        </p:nvSpPr>
        <p:spPr>
          <a:xfrm>
            <a:off x="640080" y="1207008"/>
            <a:ext cx="4572000" cy="274320"/>
          </a:xfrm>
          <a:prstGeom prst="rect">
            <a:avLst/>
          </a:prstGeom>
          <a:noFill/>
          <a:ln/>
        </p:spPr>
        <p:txBody>
          <a:bodyPr wrap="square" lIns="0" tIns="0" rIns="0" bIns="0" rtlCol="0" anchor="ctr"/>
          <a:lstStyle/>
          <a:p>
            <a:pPr indent="0" marL="0">
              <a:buNone/>
            </a:pPr>
            <a:r>
              <a:rPr lang="en-US" sz="1100" b="1" dirty="0">
                <a:solidFill>
                  <a:schemeClr val="accent6"/>
                </a:solidFill>
              </a:rPr>
              <a:t>MyFancyClass.php</a:t>
            </a:r>
            <a:endParaRPr lang="en-US" sz="1100" dirty="0"/>
          </a:p>
        </p:txBody>
      </p:sp>
      <p:sp>
        <p:nvSpPr>
          <p:cNvPr id="6" name="Code"/>
          <p:cNvSpPr txBox="1"/>
          <p:nvPr/>
        </p:nvSpPr>
        <p:spPr>
          <a:xfrm>
            <a:off x="640080" y="1508760"/>
            <a:ext cx="4572000" cy="28803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if (mb_strlen($ending) &gt; $length)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if (mb_strlen($text) &lt;= $length)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$text;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$textLength = $length - mb_strlen($ending);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return mb_substr($text, 0, $textLength)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$ending;</a:t>
            </a:r>
            <a:endParaRPr lang="en-US" sz="1300" dirty="0"/>
          </a:p>
        </p:txBody>
      </p:sp>
      <p:sp>
        <p:nvSpPr>
          <p:cNvPr id="7" name="Karte Umlaute"/>
          <p:cNvSpPr/>
          <p:nvPr/>
        </p:nvSpPr>
        <p:spPr>
          <a:xfrm>
            <a:off x="5669280" y="1097280"/>
            <a:ext cx="3017520" cy="1577340"/>
          </a:xfrm>
          <a:prstGeom prst="roundRect">
            <a:avLst>
              <a:gd name="adj" fmla="val 4638"/>
            </a:avLst>
          </a:prstGeom>
          <a:solidFill>
            <a:schemeClr val="bg2"/>
          </a:solidFill>
          <a:ln w="12700">
            <a:solidFill>
              <a:schemeClr val="bg2"/>
            </a:solidFill>
            <a:prstDash val="solid"/>
          </a:ln>
        </p:spPr>
      </p:sp>
      <p:sp>
        <p:nvSpPr>
          <p:cNvPr id="8" name="Badge !"/>
          <p:cNvSpPr/>
          <p:nvPr/>
        </p:nvSpPr>
        <p:spPr>
          <a:xfrm>
            <a:off x="5852160" y="1280160"/>
            <a:ext cx="384048" cy="384048"/>
          </a:xfrm>
          <a:prstGeom prst="ellipse">
            <a:avLst/>
          </a:prstGeom>
          <a:solidFill>
            <a:schemeClr val="accent4"/>
          </a:solidFill>
          <a:ln w="12700">
            <a:solidFill>
              <a:schemeClr val="accent4"/>
            </a:solidFill>
            <a:prstDash val="solid"/>
          </a:ln>
        </p:spPr>
      </p:sp>
      <p:sp>
        <p:nvSpPr>
          <p:cNvPr id="9" name="Text 6"/>
          <p:cNvSpPr txBox="1"/>
          <p:nvPr/>
        </p:nvSpPr>
        <p:spPr>
          <a:xfrm>
            <a:off x="58521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0" name="Text 7"/>
          <p:cNvSpPr txBox="1"/>
          <p:nvPr/>
        </p:nvSpPr>
        <p:spPr>
          <a:xfrm>
            <a:off x="6355080" y="1252728"/>
            <a:ext cx="21945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Umlaute</a:t>
            </a:r>
            <a:endParaRPr lang="en-US" sz="1600" dirty="0"/>
          </a:p>
        </p:txBody>
      </p:sp>
      <p:sp>
        <p:nvSpPr>
          <p:cNvPr id="11" name="Text 8"/>
          <p:cNvSpPr txBox="1"/>
          <p:nvPr/>
        </p:nvSpPr>
        <p:spPr>
          <a:xfrm>
            <a:off x="5852160" y="1828800"/>
            <a:ext cx="2651760" cy="7360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"Länge": 35 Zeichen, 36 Bytes → mb_strlen</a:t>
            </a:r>
            <a:endParaRPr lang="en-US" sz="1400" dirty="0"/>
          </a:p>
        </p:txBody>
      </p:sp>
      <p:sp>
        <p:nvSpPr>
          <p:cNvPr id="12" name="Karte Reihenfolge"/>
          <p:cNvSpPr/>
          <p:nvPr/>
        </p:nvSpPr>
        <p:spPr>
          <a:xfrm>
            <a:off x="5669280" y="2948940"/>
            <a:ext cx="3017520" cy="1577340"/>
          </a:xfrm>
          <a:prstGeom prst="roundRect">
            <a:avLst>
              <a:gd name="adj" fmla="val 4638"/>
            </a:avLst>
          </a:prstGeom>
          <a:solidFill>
            <a:schemeClr val="bg2"/>
          </a:solidFill>
          <a:ln w="12700">
            <a:solidFill>
              <a:schemeClr val="bg2"/>
            </a:solidFill>
            <a:prstDash val="solid"/>
          </a:ln>
        </p:spPr>
      </p:sp>
      <p:sp>
        <p:nvSpPr>
          <p:cNvPr id="13" name="Badge !"/>
          <p:cNvSpPr/>
          <p:nvPr/>
        </p:nvSpPr>
        <p:spPr>
          <a:xfrm>
            <a:off x="5852160" y="3131820"/>
            <a:ext cx="384048" cy="384048"/>
          </a:xfrm>
          <a:prstGeom prst="ellipse">
            <a:avLst/>
          </a:prstGeom>
          <a:solidFill>
            <a:schemeClr val="accent4"/>
          </a:solidFill>
          <a:ln w="12700">
            <a:solidFill>
              <a:schemeClr val="accent4"/>
            </a:solidFill>
            <a:prstDash val="solid"/>
          </a:ln>
        </p:spPr>
      </p:sp>
      <p:sp>
        <p:nvSpPr>
          <p:cNvPr id="14" name="Text 11"/>
          <p:cNvSpPr txBox="1"/>
          <p:nvPr/>
        </p:nvSpPr>
        <p:spPr>
          <a:xfrm>
            <a:off x="5852160" y="31318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12"/>
          <p:cNvSpPr txBox="1"/>
          <p:nvPr/>
        </p:nvSpPr>
        <p:spPr>
          <a:xfrm>
            <a:off x="6355080" y="3104388"/>
            <a:ext cx="219456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Reihenfolge</a:t>
            </a:r>
            <a:endParaRPr lang="en-US" sz="1600" dirty="0"/>
          </a:p>
        </p:txBody>
      </p:sp>
      <p:sp>
        <p:nvSpPr>
          <p:cNvPr id="16" name="Text 13"/>
          <p:cNvSpPr txBox="1"/>
          <p:nvPr/>
        </p:nvSpPr>
        <p:spPr>
          <a:xfrm>
            <a:off x="5852160" y="3680460"/>
            <a:ext cx="2651760" cy="7360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Zuerst Endung prüfen, dann Textlänge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Aufgabe 3: Vergleich und Reflexion</a:t>
            </a:r>
            <a:endParaRPr lang="en-US" sz="2800" dirty="0"/>
          </a:p>
        </p:txBody>
      </p:sp>
      <p:sp>
        <p:nvSpPr>
          <p:cNvPr id="4" name="Karte Vergleich"/>
          <p:cNvSpPr/>
          <p:nvPr/>
        </p:nvSpPr>
        <p:spPr>
          <a:xfrm>
            <a:off x="457200" y="1097280"/>
            <a:ext cx="3977640" cy="3474720"/>
          </a:xfrm>
          <a:prstGeom prst="roundRect">
            <a:avLst>
              <a:gd name="adj" fmla="val 2105"/>
            </a:avLst>
          </a:prstGeom>
          <a:solidFill>
            <a:schemeClr val="bg2"/>
          </a:solidFill>
          <a:ln w="12700">
            <a:solidFill>
              <a:schemeClr val="bg2"/>
            </a:solidFill>
            <a:prstDash val="solid"/>
          </a:ln>
        </p:spPr>
      </p:sp>
      <p:sp>
        <p:nvSpPr>
          <p:cNvPr id="5" name="Badge 1"/>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Vergleich</a:t>
            </a:r>
            <a:endParaRPr lang="en-US" sz="1600" dirty="0"/>
          </a:p>
        </p:txBody>
      </p:sp>
      <p:sp>
        <p:nvSpPr>
          <p:cNvPr id="8" name="Text 5"/>
          <p:cNvSpPr txBox="1"/>
          <p:nvPr/>
        </p:nvSpPr>
        <p:spPr>
          <a:xfrm>
            <a:off x="640080" y="1828800"/>
            <a:ext cx="3611880" cy="263347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Verhalten fast gleich</a:t>
            </a:r>
            <a:endParaRPr lang="en-US" sz="1400" dirty="0"/>
          </a:p>
          <a:p>
            <a:pPr marL="342900" indent="-342900">
              <a:spcAft>
                <a:spcPts val="400"/>
              </a:spcAft>
              <a:buSzPct val="100000"/>
              <a:buChar char="•"/>
            </a:pPr>
            <a:r>
              <a:rPr lang="en-US" sz="1400" dirty="0">
                <a:solidFill>
                  <a:schemeClr val="tx1"/>
                </a:solidFill>
              </a:rPr>
              <a:t>Unterschiede nur im Stil</a:t>
            </a:r>
            <a:endParaRPr lang="en-US" sz="1400" dirty="0"/>
          </a:p>
          <a:p>
            <a:pPr marL="342900" indent="-342900">
              <a:spcAft>
                <a:spcPts val="400"/>
              </a:spcAft>
              <a:buSzPct val="100000"/>
              <a:buChar char="•"/>
            </a:pPr>
            <a:r>
              <a:rPr lang="en-US" sz="1400" dirty="0">
                <a:solidFill>
                  <a:schemeClr val="tx1"/>
                </a:solidFill>
              </a:rPr>
              <a:t>Nicht getestet = nicht festgelegt</a:t>
            </a:r>
            <a:endParaRPr lang="en-US" sz="1400" dirty="0"/>
          </a:p>
        </p:txBody>
      </p:sp>
      <p:sp>
        <p:nvSpPr>
          <p:cNvPr id="9" name="Karte Reflexion TDD"/>
          <p:cNvSpPr/>
          <p:nvPr/>
        </p:nvSpPr>
        <p:spPr>
          <a:xfrm>
            <a:off x="4709160" y="1097280"/>
            <a:ext cx="3977640" cy="3474720"/>
          </a:xfrm>
          <a:prstGeom prst="roundRect">
            <a:avLst>
              <a:gd name="adj" fmla="val 2105"/>
            </a:avLst>
          </a:prstGeom>
          <a:solidFill>
            <a:schemeClr val="bg2"/>
          </a:solidFill>
          <a:ln w="12700">
            <a:solidFill>
              <a:schemeClr val="bg2"/>
            </a:solidFill>
            <a:prstDash val="solid"/>
          </a:ln>
        </p:spPr>
      </p:sp>
      <p:sp>
        <p:nvSpPr>
          <p:cNvPr id="10" name="Badge ✓"/>
          <p:cNvSpPr/>
          <p:nvPr/>
        </p:nvSpPr>
        <p:spPr>
          <a:xfrm>
            <a:off x="4892040" y="128016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89204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9"/>
          <p:cNvSpPr txBox="1"/>
          <p:nvPr/>
        </p:nvSpPr>
        <p:spPr>
          <a:xfrm>
            <a:off x="5394960" y="1252728"/>
            <a:ext cx="315468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Reflexion TDD</a:t>
            </a:r>
            <a:endParaRPr lang="en-US" sz="1600" dirty="0"/>
          </a:p>
        </p:txBody>
      </p:sp>
      <p:sp>
        <p:nvSpPr>
          <p:cNvPr id="13" name="Text 10"/>
          <p:cNvSpPr txBox="1"/>
          <p:nvPr/>
        </p:nvSpPr>
        <p:spPr>
          <a:xfrm>
            <a:off x="4892040" y="1828800"/>
            <a:ext cx="3611880" cy="263347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Tests sind die Anforderungen</a:t>
            </a:r>
            <a:endParaRPr lang="en-US" sz="1400" dirty="0"/>
          </a:p>
          <a:p>
            <a:pPr marL="342900" indent="-342900">
              <a:spcAft>
                <a:spcPts val="400"/>
              </a:spcAft>
              <a:buSzPct val="100000"/>
              <a:buChar char="•"/>
            </a:pPr>
            <a:r>
              <a:rPr lang="en-US" sz="1400" dirty="0">
                <a:solidFill>
                  <a:schemeClr val="tx1"/>
                </a:solidFill>
              </a:rPr>
              <a:t>Man weiss, wann man fertig ist</a:t>
            </a:r>
            <a:endParaRPr lang="en-US" sz="1400" dirty="0"/>
          </a:p>
          <a:p>
            <a:pPr marL="342900" indent="-342900">
              <a:spcAft>
                <a:spcPts val="400"/>
              </a:spcAft>
              <a:buSzPct val="100000"/>
              <a:buChar char="•"/>
            </a:pPr>
            <a:r>
              <a:rPr lang="en-US" sz="1400" dirty="0">
                <a:solidFill>
                  <a:schemeClr val="tx1"/>
                </a:solidFill>
              </a:rPr>
              <a:t>Tests genau lesen ist wichtig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Fazit</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Erst der Test, dann der Code</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Wenn alles grün ist, ist die Anforderung erfüllt.</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theme/theme1.xml><?xml version="1.0" encoding="utf-8"?>
<a:theme xmlns:a="http://schemas.openxmlformats.org/drawingml/2006/main" name="M450 Testing">
  <a:themeElements>
    <a:clrScheme name="M450 Testing">
      <a:dk1>
        <a:srgbClr val="1B2A2F"/>
      </a:dk1>
      <a:lt1>
        <a:srgbClr val="FFFFFF"/>
      </a:lt1>
      <a:dk2>
        <a:srgbClr val="1F4A40"/>
      </a:dk2>
      <a:lt2>
        <a:srgbClr val="EDF4F1"/>
      </a:lt2>
      <a:accent1>
        <a:srgbClr val="2EA043"/>
      </a:accent1>
      <a:accent2>
        <a:srgbClr val="D73A49"/>
      </a:accent2>
      <a:accent3>
        <a:srgbClr val="0E7C66"/>
      </a:accent3>
      <a:accent4>
        <a:srgbClr val="E3A008"/>
      </a:accent4>
      <a:accent5>
        <a:srgbClr val="5B7B75"/>
      </a:accent5>
      <a:accent6>
        <a:srgbClr val="A8E0CC"/>
      </a:accent6>
      <a:hlink>
        <a:srgbClr val="0E7C66"/>
      </a:hlink>
      <a:folHlink>
        <a:srgbClr val="5B7B75"/>
      </a:folHlink>
    </a:clrScheme>
    <a:fontScheme name="M450 Te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KN08 – Test Driven Development</dc:title>
  <dc:subject>PptxGenJS Presentation</dc:subject>
  <dc:creator>Denis</dc:creator>
  <cp:lastModifiedBy>Denis</cp:lastModifiedBy>
  <cp:revision>1</cp:revision>
  <dcterms:created xsi:type="dcterms:W3CDTF">2026-10-16T09:32:12Z</dcterms:created>
  <dcterms:modified xsi:type="dcterms:W3CDTF">2026-10-16T09:32:12Z</dcterms:modified>
</cp:coreProperties>
</file>